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diagrams/data2.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63" r:id="rId2"/>
    <p:sldId id="265" r:id="rId3"/>
    <p:sldId id="303" r:id="rId4"/>
    <p:sldId id="305" r:id="rId5"/>
    <p:sldId id="275" r:id="rId6"/>
    <p:sldId id="304" r:id="rId7"/>
    <p:sldId id="306" r:id="rId8"/>
    <p:sldId id="297" r:id="rId9"/>
    <p:sldId id="280" r:id="rId10"/>
    <p:sldId id="281" r:id="rId11"/>
    <p:sldId id="307" r:id="rId12"/>
    <p:sldId id="287" r:id="rId13"/>
    <p:sldId id="298" r:id="rId14"/>
    <p:sldId id="308" r:id="rId15"/>
    <p:sldId id="290" r:id="rId16"/>
    <p:sldId id="270" r:id="rId17"/>
    <p:sldId id="299" r:id="rId18"/>
    <p:sldId id="295" r:id="rId19"/>
    <p:sldId id="300" r:id="rId20"/>
    <p:sldId id="293" r:id="rId21"/>
    <p:sldId id="285" r:id="rId22"/>
    <p:sldId id="310" r:id="rId23"/>
    <p:sldId id="301" r:id="rId24"/>
    <p:sldId id="309" r:id="rId25"/>
    <p:sldId id="294" r:id="rId26"/>
    <p:sldId id="311" r:id="rId27"/>
    <p:sldId id="31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908581-00D2-CAAF-F2A3-8FDB9E882996}" name="Sofiia Kornatska" initials="SK" userId="Sofiia Kornatska"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74"/>
    <p:restoredTop sz="95748"/>
  </p:normalViewPr>
  <p:slideViewPr>
    <p:cSldViewPr snapToGrid="0">
      <p:cViewPr varScale="1">
        <p:scale>
          <a:sx n="117" d="100"/>
          <a:sy n="117" d="100"/>
        </p:scale>
        <p:origin x="576"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1" Type="http://schemas.openxmlformats.org/officeDocument/2006/relationships/image" Target="../media/image360.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D77422-ED95-4C82-A587-E65FF7F15911}" type="doc">
      <dgm:prSet loTypeId="urn:microsoft.com/office/officeart/2005/8/layout/chevron1" loCatId="process" qsTypeId="urn:microsoft.com/office/officeart/2005/8/quickstyle/simple1" qsCatId="simple" csTypeId="urn:microsoft.com/office/officeart/2005/8/colors/accent0_3" csCatId="mainScheme" phldr="1"/>
      <dgm:spPr/>
    </dgm:pt>
    <dgm:pt modelId="{CAD8C7E3-DA3F-48BF-887A-A71AA847F35F}">
      <dgm:prSet phldrT="[Text]" custT="1"/>
      <dgm:spPr/>
      <dgm:t>
        <a:bodyPr/>
        <a:lstStyle/>
        <a:p>
          <a:pPr>
            <a:buFont typeface="+mj-lt"/>
            <a:buAutoNum type="arabicPeriod"/>
          </a:pPr>
          <a:r>
            <a:rPr lang="en-GB" sz="2000" dirty="0">
              <a:latin typeface="Microsoft Sans Serif" panose="020B0604020202020204" pitchFamily="34" charset="0"/>
              <a:cs typeface="Microsoft Sans Serif" panose="020B0604020202020204" pitchFamily="34" charset="0"/>
            </a:rPr>
            <a:t>Compute exit vector</a:t>
          </a:r>
        </a:p>
      </dgm:t>
    </dgm:pt>
    <dgm:pt modelId="{A3ED62F6-9357-4105-9ABD-CF5346D2AAFF}" type="parTrans" cxnId="{D59A1606-090A-49DF-B82E-A9B7974036DB}">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2EDB27D9-1669-4DFD-B4C1-35C09889913B}" type="sibTrans" cxnId="{D59A1606-090A-49DF-B82E-A9B7974036DB}">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330B3DB3-2789-4AC1-B501-ADD5AA93B8CE}">
      <dgm:prSet phldrT="[Text]" custT="1"/>
      <dgm:spPr/>
      <dgm:t>
        <a:bodyPr/>
        <a:lstStyle/>
        <a:p>
          <a:pPr>
            <a:buFont typeface="+mj-lt"/>
            <a:buAutoNum type="arabicPeriod" startAt="2"/>
          </a:pPr>
          <a:r>
            <a:rPr lang="en-GB" sz="2000" dirty="0">
              <a:latin typeface="Microsoft Sans Serif" panose="020B0604020202020204" pitchFamily="34" charset="0"/>
              <a:cs typeface="Microsoft Sans Serif" panose="020B0604020202020204" pitchFamily="34" charset="0"/>
            </a:rPr>
            <a:t>Back-propagate through the OS</a:t>
          </a:r>
        </a:p>
      </dgm:t>
    </dgm:pt>
    <dgm:pt modelId="{6163B13E-1326-4CFA-93C0-8EC53E97AFD7}" type="parTrans" cxnId="{36A42B2A-5754-4ACE-81FC-FC452E84958D}">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B9935C65-317D-4AEF-B083-6D664DD5D659}" type="sibTrans" cxnId="{36A42B2A-5754-4ACE-81FC-FC452E84958D}">
      <dgm:prSet/>
      <dgm:spPr/>
      <dgm:t>
        <a:bodyPr/>
        <a:lstStyle/>
        <a:p>
          <a:endParaRPr lang="en-GB" sz="2000">
            <a:latin typeface="Microsoft Sans Serif" panose="020B0604020202020204" pitchFamily="34" charset="0"/>
            <a:cs typeface="Microsoft Sans Serif" panose="020B0604020202020204" pitchFamily="34" charset="0"/>
          </a:endParaRPr>
        </a:p>
      </dgm:t>
    </dgm:pt>
    <mc:AlternateContent xmlns:mc="http://schemas.openxmlformats.org/markup-compatibility/2006" xmlns:a14="http://schemas.microsoft.com/office/drawing/2010/main">
      <mc:Choice Requires="a14">
        <dgm:pt modelId="{8D084F5E-8959-4F78-A096-CD49BF4BE5A8}">
          <dgm:prSet phldrT="[Text]" custT="1"/>
          <dgm:spPr/>
          <dgm:t>
            <a:bodyPr/>
            <a:lstStyle/>
            <a:p>
              <a:pPr>
                <a:buFont typeface="+mj-lt"/>
                <a:buAutoNum type="arabicPeriod" startAt="2"/>
              </a:pPr>
              <a:r>
                <a:rPr lang="en-GB" sz="2000" dirty="0">
                  <a:latin typeface="Microsoft Sans Serif" panose="020B0604020202020204" pitchFamily="34" charset="0"/>
                  <a:cs typeface="Microsoft Sans Serif" panose="020B0604020202020204" pitchFamily="34" charset="0"/>
                </a:rPr>
                <a:t>Normalise all vectors relative to </a:t>
              </a:r>
              <a14:m>
                <m:oMath xmlns:m="http://schemas.openxmlformats.org/officeDocument/2006/math">
                  <m:sSub>
                    <m:sSubPr>
                      <m:ctrlPr>
                        <a:rPr lang="en-US" sz="2000" b="0" i="1" smtClean="0">
                          <a:latin typeface="Cambria Math" panose="02040503050406030204" pitchFamily="18" charset="0"/>
                          <a:cs typeface="Microsoft Sans Serif" panose="020B0604020202020204" pitchFamily="34" charset="0"/>
                        </a:rPr>
                      </m:ctrlPr>
                    </m:sSubPr>
                    <m:e>
                      <m:r>
                        <a:rPr lang="en-US" sz="2000" b="0" i="1" smtClean="0">
                          <a:latin typeface="Cambria Math" panose="02040503050406030204" pitchFamily="18" charset="0"/>
                          <a:cs typeface="Microsoft Sans Serif" panose="020B0604020202020204" pitchFamily="34" charset="0"/>
                        </a:rPr>
                        <m:t>𝑎</m:t>
                      </m:r>
                    </m:e>
                    <m:sub>
                      <m:r>
                        <a:rPr lang="en-US" sz="2000" b="0" i="1" smtClean="0">
                          <a:latin typeface="Cambria Math" panose="02040503050406030204" pitchFamily="18" charset="0"/>
                          <a:cs typeface="Microsoft Sans Serif" panose="020B0604020202020204" pitchFamily="34" charset="0"/>
                        </a:rPr>
                        <m:t>0</m:t>
                      </m:r>
                    </m:sub>
                  </m:sSub>
                </m:oMath>
              </a14:m>
              <a:endParaRPr lang="en-GB" sz="2000" dirty="0">
                <a:latin typeface="Microsoft Sans Serif" panose="020B0604020202020204" pitchFamily="34" charset="0"/>
                <a:cs typeface="Microsoft Sans Serif" panose="020B0604020202020204" pitchFamily="34" charset="0"/>
              </a:endParaRPr>
            </a:p>
          </dgm:t>
        </dgm:pt>
      </mc:Choice>
      <mc:Fallback xmlns="">
        <dgm:pt modelId="{8D084F5E-8959-4F78-A096-CD49BF4BE5A8}">
          <dgm:prSet phldrT="[Text]" custT="1"/>
          <dgm:spPr/>
          <dgm:t>
            <a:bodyPr/>
            <a:lstStyle/>
            <a:p>
              <a:pPr>
                <a:buFont typeface="+mj-lt"/>
                <a:buAutoNum type="arabicPeriod" startAt="2"/>
              </a:pPr>
              <a:r>
                <a:rPr lang="en-GB" sz="2000" dirty="0">
                  <a:latin typeface="Microsoft Sans Serif" panose="020B0604020202020204" pitchFamily="34" charset="0"/>
                  <a:cs typeface="Microsoft Sans Serif" panose="020B0604020202020204" pitchFamily="34" charset="0"/>
                </a:rPr>
                <a:t>Normalise all vectors relative to </a:t>
              </a:r>
              <a:r>
                <a:rPr lang="en-US" sz="2000" b="0" i="0">
                  <a:latin typeface="Cambria Math" panose="02040503050406030204" pitchFamily="18" charset="0"/>
                  <a:cs typeface="Microsoft Sans Serif" panose="020B0604020202020204" pitchFamily="34" charset="0"/>
                </a:rPr>
                <a:t>𝑎_0</a:t>
              </a:r>
              <a:endParaRPr lang="en-GB" sz="2000" dirty="0">
                <a:latin typeface="Microsoft Sans Serif" panose="020B0604020202020204" pitchFamily="34" charset="0"/>
                <a:cs typeface="Microsoft Sans Serif" panose="020B0604020202020204" pitchFamily="34" charset="0"/>
              </a:endParaRPr>
            </a:p>
          </dgm:t>
        </dgm:pt>
      </mc:Fallback>
    </mc:AlternateContent>
    <dgm:pt modelId="{C72DFB26-9EEA-41AF-A781-4FCD01948A5F}" type="parTrans" cxnId="{D9DD610B-E6B5-47F2-99A7-8B9A3C22991F}">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45776F4E-2103-459C-8744-A22F07D841A8}" type="sibTrans" cxnId="{D9DD610B-E6B5-47F2-99A7-8B9A3C22991F}">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04FD7CFC-3DED-430D-AE63-29E711C1C6EE}">
      <dgm:prSet phldrT="[Text]" custT="1"/>
      <dgm:spPr/>
      <dgm:t>
        <a:bodyPr/>
        <a:lstStyle/>
        <a:p>
          <a:pPr>
            <a:buFont typeface="+mj-lt"/>
            <a:buAutoNum type="arabicPeriod" startAt="2"/>
          </a:pPr>
          <a:r>
            <a:rPr lang="en-GB" sz="2000" dirty="0">
              <a:latin typeface="Microsoft Sans Serif" panose="020B0604020202020204" pitchFamily="34" charset="0"/>
              <a:cs typeface="Microsoft Sans Serif" panose="020B0604020202020204" pitchFamily="34" charset="0"/>
            </a:rPr>
            <a:t>Apply spectral and temporal modulation (FT)</a:t>
          </a:r>
        </a:p>
      </dgm:t>
    </dgm:pt>
    <dgm:pt modelId="{00FF1DE4-9A86-4321-9446-A4CA97731B30}" type="parTrans" cxnId="{9B3C8D92-AC5F-44DB-8835-A6C6535BC5D6}">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F28FA1CD-F392-46A5-8711-C72E5D074DAD}" type="sibTrans" cxnId="{9B3C8D92-AC5F-44DB-8835-A6C6535BC5D6}">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A71DE1AF-F7F2-426B-87C5-ADCC34BA4A28}" type="pres">
      <dgm:prSet presAssocID="{9AD77422-ED95-4C82-A587-E65FF7F15911}" presName="Name0" presStyleCnt="0">
        <dgm:presLayoutVars>
          <dgm:dir/>
          <dgm:animLvl val="lvl"/>
          <dgm:resizeHandles val="exact"/>
        </dgm:presLayoutVars>
      </dgm:prSet>
      <dgm:spPr/>
    </dgm:pt>
    <dgm:pt modelId="{E843532A-2AE0-45AB-9DBC-700D6CAA5C83}" type="pres">
      <dgm:prSet presAssocID="{CAD8C7E3-DA3F-48BF-887A-A71AA847F35F}" presName="parTxOnly" presStyleLbl="node1" presStyleIdx="0" presStyleCnt="4" custScaleX="130518" custScaleY="135645">
        <dgm:presLayoutVars>
          <dgm:chMax val="0"/>
          <dgm:chPref val="0"/>
          <dgm:bulletEnabled val="1"/>
        </dgm:presLayoutVars>
      </dgm:prSet>
      <dgm:spPr/>
    </dgm:pt>
    <dgm:pt modelId="{31B9BA12-25F8-4BF6-A229-807A3C8A926A}" type="pres">
      <dgm:prSet presAssocID="{2EDB27D9-1669-4DFD-B4C1-35C09889913B}" presName="parTxOnlySpace" presStyleCnt="0"/>
      <dgm:spPr/>
    </dgm:pt>
    <dgm:pt modelId="{2BAF7858-4DB1-45C3-9DAD-BB548C40ED47}" type="pres">
      <dgm:prSet presAssocID="{330B3DB3-2789-4AC1-B501-ADD5AA93B8CE}" presName="parTxOnly" presStyleLbl="node1" presStyleIdx="1" presStyleCnt="4" custScaleX="135639" custScaleY="126979">
        <dgm:presLayoutVars>
          <dgm:chMax val="0"/>
          <dgm:chPref val="0"/>
          <dgm:bulletEnabled val="1"/>
        </dgm:presLayoutVars>
      </dgm:prSet>
      <dgm:spPr/>
    </dgm:pt>
    <dgm:pt modelId="{05ED138F-0A1D-4B41-BE61-3F34CF548979}" type="pres">
      <dgm:prSet presAssocID="{B9935C65-317D-4AEF-B083-6D664DD5D659}" presName="parTxOnlySpace" presStyleCnt="0"/>
      <dgm:spPr/>
    </dgm:pt>
    <dgm:pt modelId="{DFEE0344-3C5A-4877-AB21-3E7730BA6714}" type="pres">
      <dgm:prSet presAssocID="{8D084F5E-8959-4F78-A096-CD49BF4BE5A8}" presName="parTxOnly" presStyleLbl="node1" presStyleIdx="2" presStyleCnt="4" custScaleX="138501" custScaleY="130885">
        <dgm:presLayoutVars>
          <dgm:chMax val="0"/>
          <dgm:chPref val="0"/>
          <dgm:bulletEnabled val="1"/>
        </dgm:presLayoutVars>
      </dgm:prSet>
      <dgm:spPr/>
    </dgm:pt>
    <dgm:pt modelId="{64066430-100C-4A4B-9E9D-B110E6E94577}" type="pres">
      <dgm:prSet presAssocID="{45776F4E-2103-459C-8744-A22F07D841A8}" presName="parTxOnlySpace" presStyleCnt="0"/>
      <dgm:spPr/>
    </dgm:pt>
    <dgm:pt modelId="{C561033B-F30B-4EA8-8E44-8691394D0758}" type="pres">
      <dgm:prSet presAssocID="{04FD7CFC-3DED-430D-AE63-29E711C1C6EE}" presName="parTxOnly" presStyleLbl="node1" presStyleIdx="3" presStyleCnt="4" custScaleX="140559" custScaleY="124817">
        <dgm:presLayoutVars>
          <dgm:chMax val="0"/>
          <dgm:chPref val="0"/>
          <dgm:bulletEnabled val="1"/>
        </dgm:presLayoutVars>
      </dgm:prSet>
      <dgm:spPr/>
    </dgm:pt>
  </dgm:ptLst>
  <dgm:cxnLst>
    <dgm:cxn modelId="{D59A1606-090A-49DF-B82E-A9B7974036DB}" srcId="{9AD77422-ED95-4C82-A587-E65FF7F15911}" destId="{CAD8C7E3-DA3F-48BF-887A-A71AA847F35F}" srcOrd="0" destOrd="0" parTransId="{A3ED62F6-9357-4105-9ABD-CF5346D2AAFF}" sibTransId="{2EDB27D9-1669-4DFD-B4C1-35C09889913B}"/>
    <dgm:cxn modelId="{D9DD610B-E6B5-47F2-99A7-8B9A3C22991F}" srcId="{9AD77422-ED95-4C82-A587-E65FF7F15911}" destId="{8D084F5E-8959-4F78-A096-CD49BF4BE5A8}" srcOrd="2" destOrd="0" parTransId="{C72DFB26-9EEA-41AF-A781-4FCD01948A5F}" sibTransId="{45776F4E-2103-459C-8744-A22F07D841A8}"/>
    <dgm:cxn modelId="{36A42B2A-5754-4ACE-81FC-FC452E84958D}" srcId="{9AD77422-ED95-4C82-A587-E65FF7F15911}" destId="{330B3DB3-2789-4AC1-B501-ADD5AA93B8CE}" srcOrd="1" destOrd="0" parTransId="{6163B13E-1326-4CFA-93C0-8EC53E97AFD7}" sibTransId="{B9935C65-317D-4AEF-B083-6D664DD5D659}"/>
    <dgm:cxn modelId="{89EE7D4F-F1BF-4957-8B42-4A2DD4241D6F}" type="presOf" srcId="{04FD7CFC-3DED-430D-AE63-29E711C1C6EE}" destId="{C561033B-F30B-4EA8-8E44-8691394D0758}" srcOrd="0" destOrd="0" presId="urn:microsoft.com/office/officeart/2005/8/layout/chevron1"/>
    <dgm:cxn modelId="{2BD2B370-5B28-4D57-840B-DB92C56B6D70}" type="presOf" srcId="{330B3DB3-2789-4AC1-B501-ADD5AA93B8CE}" destId="{2BAF7858-4DB1-45C3-9DAD-BB548C40ED47}" srcOrd="0" destOrd="0" presId="urn:microsoft.com/office/officeart/2005/8/layout/chevron1"/>
    <dgm:cxn modelId="{410FD47C-B537-4133-9D7B-A094669E0A89}" type="presOf" srcId="{CAD8C7E3-DA3F-48BF-887A-A71AA847F35F}" destId="{E843532A-2AE0-45AB-9DBC-700D6CAA5C83}" srcOrd="0" destOrd="0" presId="urn:microsoft.com/office/officeart/2005/8/layout/chevron1"/>
    <dgm:cxn modelId="{9B3C8D92-AC5F-44DB-8835-A6C6535BC5D6}" srcId="{9AD77422-ED95-4C82-A587-E65FF7F15911}" destId="{04FD7CFC-3DED-430D-AE63-29E711C1C6EE}" srcOrd="3" destOrd="0" parTransId="{00FF1DE4-9A86-4321-9446-A4CA97731B30}" sibTransId="{F28FA1CD-F392-46A5-8711-C72E5D074DAD}"/>
    <dgm:cxn modelId="{DD1C42DC-65F3-4357-8AE8-C6EFA4E0D530}" type="presOf" srcId="{9AD77422-ED95-4C82-A587-E65FF7F15911}" destId="{A71DE1AF-F7F2-426B-87C5-ADCC34BA4A28}" srcOrd="0" destOrd="0" presId="urn:microsoft.com/office/officeart/2005/8/layout/chevron1"/>
    <dgm:cxn modelId="{8BC8CDFB-A0DC-4F8A-8C43-D5B937F84356}" type="presOf" srcId="{8D084F5E-8959-4F78-A096-CD49BF4BE5A8}" destId="{DFEE0344-3C5A-4877-AB21-3E7730BA6714}" srcOrd="0" destOrd="0" presId="urn:microsoft.com/office/officeart/2005/8/layout/chevron1"/>
    <dgm:cxn modelId="{D907C5C8-AAF8-4974-A7CD-AE1DCAE84A30}" type="presParOf" srcId="{A71DE1AF-F7F2-426B-87C5-ADCC34BA4A28}" destId="{E843532A-2AE0-45AB-9DBC-700D6CAA5C83}" srcOrd="0" destOrd="0" presId="urn:microsoft.com/office/officeart/2005/8/layout/chevron1"/>
    <dgm:cxn modelId="{68E2FDED-B76F-4AC8-9E0B-D951128622E9}" type="presParOf" srcId="{A71DE1AF-F7F2-426B-87C5-ADCC34BA4A28}" destId="{31B9BA12-25F8-4BF6-A229-807A3C8A926A}" srcOrd="1" destOrd="0" presId="urn:microsoft.com/office/officeart/2005/8/layout/chevron1"/>
    <dgm:cxn modelId="{1AD9F3CA-0D00-47A4-B941-4AA6C5C24964}" type="presParOf" srcId="{A71DE1AF-F7F2-426B-87C5-ADCC34BA4A28}" destId="{2BAF7858-4DB1-45C3-9DAD-BB548C40ED47}" srcOrd="2" destOrd="0" presId="urn:microsoft.com/office/officeart/2005/8/layout/chevron1"/>
    <dgm:cxn modelId="{0650EA67-966C-4E06-8A61-C7BC0E72D237}" type="presParOf" srcId="{A71DE1AF-F7F2-426B-87C5-ADCC34BA4A28}" destId="{05ED138F-0A1D-4B41-BE61-3F34CF548979}" srcOrd="3" destOrd="0" presId="urn:microsoft.com/office/officeart/2005/8/layout/chevron1"/>
    <dgm:cxn modelId="{4C584678-612C-4573-A76F-BBC4E9B5C4B5}" type="presParOf" srcId="{A71DE1AF-F7F2-426B-87C5-ADCC34BA4A28}" destId="{DFEE0344-3C5A-4877-AB21-3E7730BA6714}" srcOrd="4" destOrd="0" presId="urn:microsoft.com/office/officeart/2005/8/layout/chevron1"/>
    <dgm:cxn modelId="{C51474C5-A03B-4AC0-9BB1-DC700EFA0879}" type="presParOf" srcId="{A71DE1AF-F7F2-426B-87C5-ADCC34BA4A28}" destId="{64066430-100C-4A4B-9E9D-B110E6E94577}" srcOrd="5" destOrd="0" presId="urn:microsoft.com/office/officeart/2005/8/layout/chevron1"/>
    <dgm:cxn modelId="{895EF117-A56C-4DAC-AB2F-39C613A4D4AD}" type="presParOf" srcId="{A71DE1AF-F7F2-426B-87C5-ADCC34BA4A28}" destId="{C561033B-F30B-4EA8-8E44-8691394D0758}" srcOrd="6"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D77422-ED95-4C82-A587-E65FF7F15911}" type="doc">
      <dgm:prSet loTypeId="urn:microsoft.com/office/officeart/2005/8/layout/chevron1" loCatId="process" qsTypeId="urn:microsoft.com/office/officeart/2005/8/quickstyle/simple1" qsCatId="simple" csTypeId="urn:microsoft.com/office/officeart/2005/8/colors/accent0_3" csCatId="mainScheme" phldr="1"/>
      <dgm:spPr/>
    </dgm:pt>
    <dgm:pt modelId="{CAD8C7E3-DA3F-48BF-887A-A71AA847F35F}">
      <dgm:prSet phldrT="[Text]" custT="1"/>
      <dgm:spPr/>
      <dgm:t>
        <a:bodyPr/>
        <a:lstStyle/>
        <a:p>
          <a:pPr>
            <a:buFont typeface="+mj-lt"/>
            <a:buAutoNum type="arabicPeriod"/>
          </a:pPr>
          <a:r>
            <a:rPr lang="en-GB" sz="2000" dirty="0">
              <a:latin typeface="Microsoft Sans Serif" panose="020B0604020202020204" pitchFamily="34" charset="0"/>
              <a:cs typeface="Microsoft Sans Serif" panose="020B0604020202020204" pitchFamily="34" charset="0"/>
            </a:rPr>
            <a:t>Compute exit vector</a:t>
          </a:r>
        </a:p>
      </dgm:t>
    </dgm:pt>
    <dgm:pt modelId="{A3ED62F6-9357-4105-9ABD-CF5346D2AAFF}" type="parTrans" cxnId="{D59A1606-090A-49DF-B82E-A9B7974036DB}">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2EDB27D9-1669-4DFD-B4C1-35C09889913B}" type="sibTrans" cxnId="{D59A1606-090A-49DF-B82E-A9B7974036DB}">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330B3DB3-2789-4AC1-B501-ADD5AA93B8CE}">
      <dgm:prSet phldrT="[Text]" custT="1"/>
      <dgm:spPr/>
      <dgm:t>
        <a:bodyPr/>
        <a:lstStyle/>
        <a:p>
          <a:pPr>
            <a:buFont typeface="+mj-lt"/>
            <a:buAutoNum type="arabicPeriod" startAt="2"/>
          </a:pPr>
          <a:r>
            <a:rPr lang="en-GB" sz="2000" dirty="0">
              <a:latin typeface="Microsoft Sans Serif" panose="020B0604020202020204" pitchFamily="34" charset="0"/>
              <a:cs typeface="Microsoft Sans Serif" panose="020B0604020202020204" pitchFamily="34" charset="0"/>
            </a:rPr>
            <a:t>Back-propagate through the OS</a:t>
          </a:r>
        </a:p>
      </dgm:t>
    </dgm:pt>
    <dgm:pt modelId="{6163B13E-1326-4CFA-93C0-8EC53E97AFD7}" type="parTrans" cxnId="{36A42B2A-5754-4ACE-81FC-FC452E84958D}">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B9935C65-317D-4AEF-B083-6D664DD5D659}" type="sibTrans" cxnId="{36A42B2A-5754-4ACE-81FC-FC452E84958D}">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8D084F5E-8959-4F78-A096-CD49BF4BE5A8}">
      <dgm:prSet phldrT="[Text]" custT="1"/>
      <dgm:spPr>
        <a:blipFill>
          <a:blip xmlns:r="http://schemas.openxmlformats.org/officeDocument/2006/relationships" r:embed="rId1"/>
          <a:stretch>
            <a:fillRect/>
          </a:stretch>
        </a:blipFill>
      </dgm:spPr>
      <dgm:t>
        <a:bodyPr/>
        <a:lstStyle/>
        <a:p>
          <a:r>
            <a:rPr lang="en-US">
              <a:noFill/>
            </a:rPr>
            <a:t> </a:t>
          </a:r>
        </a:p>
      </dgm:t>
    </dgm:pt>
    <dgm:pt modelId="{C72DFB26-9EEA-41AF-A781-4FCD01948A5F}" type="parTrans" cxnId="{D9DD610B-E6B5-47F2-99A7-8B9A3C22991F}">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45776F4E-2103-459C-8744-A22F07D841A8}" type="sibTrans" cxnId="{D9DD610B-E6B5-47F2-99A7-8B9A3C22991F}">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04FD7CFC-3DED-430D-AE63-29E711C1C6EE}">
      <dgm:prSet phldrT="[Text]" custT="1"/>
      <dgm:spPr/>
      <dgm:t>
        <a:bodyPr/>
        <a:lstStyle/>
        <a:p>
          <a:pPr>
            <a:buFont typeface="+mj-lt"/>
            <a:buAutoNum type="arabicPeriod" startAt="2"/>
          </a:pPr>
          <a:r>
            <a:rPr lang="en-GB" sz="2000" dirty="0">
              <a:latin typeface="Microsoft Sans Serif" panose="020B0604020202020204" pitchFamily="34" charset="0"/>
              <a:cs typeface="Microsoft Sans Serif" panose="020B0604020202020204" pitchFamily="34" charset="0"/>
            </a:rPr>
            <a:t>Apply spectral and temporal modulation (FT)</a:t>
          </a:r>
        </a:p>
      </dgm:t>
    </dgm:pt>
    <dgm:pt modelId="{00FF1DE4-9A86-4321-9446-A4CA97731B30}" type="parTrans" cxnId="{9B3C8D92-AC5F-44DB-8835-A6C6535BC5D6}">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F28FA1CD-F392-46A5-8711-C72E5D074DAD}" type="sibTrans" cxnId="{9B3C8D92-AC5F-44DB-8835-A6C6535BC5D6}">
      <dgm:prSet/>
      <dgm:spPr/>
      <dgm:t>
        <a:bodyPr/>
        <a:lstStyle/>
        <a:p>
          <a:endParaRPr lang="en-GB" sz="2000">
            <a:latin typeface="Microsoft Sans Serif" panose="020B0604020202020204" pitchFamily="34" charset="0"/>
            <a:cs typeface="Microsoft Sans Serif" panose="020B0604020202020204" pitchFamily="34" charset="0"/>
          </a:endParaRPr>
        </a:p>
      </dgm:t>
    </dgm:pt>
    <dgm:pt modelId="{A71DE1AF-F7F2-426B-87C5-ADCC34BA4A28}" type="pres">
      <dgm:prSet presAssocID="{9AD77422-ED95-4C82-A587-E65FF7F15911}" presName="Name0" presStyleCnt="0">
        <dgm:presLayoutVars>
          <dgm:dir/>
          <dgm:animLvl val="lvl"/>
          <dgm:resizeHandles val="exact"/>
        </dgm:presLayoutVars>
      </dgm:prSet>
      <dgm:spPr/>
    </dgm:pt>
    <dgm:pt modelId="{E843532A-2AE0-45AB-9DBC-700D6CAA5C83}" type="pres">
      <dgm:prSet presAssocID="{CAD8C7E3-DA3F-48BF-887A-A71AA847F35F}" presName="parTxOnly" presStyleLbl="node1" presStyleIdx="0" presStyleCnt="4" custScaleX="130518" custScaleY="135645">
        <dgm:presLayoutVars>
          <dgm:chMax val="0"/>
          <dgm:chPref val="0"/>
          <dgm:bulletEnabled val="1"/>
        </dgm:presLayoutVars>
      </dgm:prSet>
      <dgm:spPr/>
    </dgm:pt>
    <dgm:pt modelId="{31B9BA12-25F8-4BF6-A229-807A3C8A926A}" type="pres">
      <dgm:prSet presAssocID="{2EDB27D9-1669-4DFD-B4C1-35C09889913B}" presName="parTxOnlySpace" presStyleCnt="0"/>
      <dgm:spPr/>
    </dgm:pt>
    <dgm:pt modelId="{2BAF7858-4DB1-45C3-9DAD-BB548C40ED47}" type="pres">
      <dgm:prSet presAssocID="{330B3DB3-2789-4AC1-B501-ADD5AA93B8CE}" presName="parTxOnly" presStyleLbl="node1" presStyleIdx="1" presStyleCnt="4" custScaleX="135639" custScaleY="126979">
        <dgm:presLayoutVars>
          <dgm:chMax val="0"/>
          <dgm:chPref val="0"/>
          <dgm:bulletEnabled val="1"/>
        </dgm:presLayoutVars>
      </dgm:prSet>
      <dgm:spPr/>
    </dgm:pt>
    <dgm:pt modelId="{05ED138F-0A1D-4B41-BE61-3F34CF548979}" type="pres">
      <dgm:prSet presAssocID="{B9935C65-317D-4AEF-B083-6D664DD5D659}" presName="parTxOnlySpace" presStyleCnt="0"/>
      <dgm:spPr/>
    </dgm:pt>
    <dgm:pt modelId="{DFEE0344-3C5A-4877-AB21-3E7730BA6714}" type="pres">
      <dgm:prSet presAssocID="{8D084F5E-8959-4F78-A096-CD49BF4BE5A8}" presName="parTxOnly" presStyleLbl="node1" presStyleIdx="2" presStyleCnt="4" custScaleX="138501" custScaleY="130885">
        <dgm:presLayoutVars>
          <dgm:chMax val="0"/>
          <dgm:chPref val="0"/>
          <dgm:bulletEnabled val="1"/>
        </dgm:presLayoutVars>
      </dgm:prSet>
      <dgm:spPr/>
    </dgm:pt>
    <dgm:pt modelId="{64066430-100C-4A4B-9E9D-B110E6E94577}" type="pres">
      <dgm:prSet presAssocID="{45776F4E-2103-459C-8744-A22F07D841A8}" presName="parTxOnlySpace" presStyleCnt="0"/>
      <dgm:spPr/>
    </dgm:pt>
    <dgm:pt modelId="{C561033B-F30B-4EA8-8E44-8691394D0758}" type="pres">
      <dgm:prSet presAssocID="{04FD7CFC-3DED-430D-AE63-29E711C1C6EE}" presName="parTxOnly" presStyleLbl="node1" presStyleIdx="3" presStyleCnt="4" custScaleX="140559" custScaleY="124817">
        <dgm:presLayoutVars>
          <dgm:chMax val="0"/>
          <dgm:chPref val="0"/>
          <dgm:bulletEnabled val="1"/>
        </dgm:presLayoutVars>
      </dgm:prSet>
      <dgm:spPr/>
    </dgm:pt>
  </dgm:ptLst>
  <dgm:cxnLst>
    <dgm:cxn modelId="{D59A1606-090A-49DF-B82E-A9B7974036DB}" srcId="{9AD77422-ED95-4C82-A587-E65FF7F15911}" destId="{CAD8C7E3-DA3F-48BF-887A-A71AA847F35F}" srcOrd="0" destOrd="0" parTransId="{A3ED62F6-9357-4105-9ABD-CF5346D2AAFF}" sibTransId="{2EDB27D9-1669-4DFD-B4C1-35C09889913B}"/>
    <dgm:cxn modelId="{D9DD610B-E6B5-47F2-99A7-8B9A3C22991F}" srcId="{9AD77422-ED95-4C82-A587-E65FF7F15911}" destId="{8D084F5E-8959-4F78-A096-CD49BF4BE5A8}" srcOrd="2" destOrd="0" parTransId="{C72DFB26-9EEA-41AF-A781-4FCD01948A5F}" sibTransId="{45776F4E-2103-459C-8744-A22F07D841A8}"/>
    <dgm:cxn modelId="{36A42B2A-5754-4ACE-81FC-FC452E84958D}" srcId="{9AD77422-ED95-4C82-A587-E65FF7F15911}" destId="{330B3DB3-2789-4AC1-B501-ADD5AA93B8CE}" srcOrd="1" destOrd="0" parTransId="{6163B13E-1326-4CFA-93C0-8EC53E97AFD7}" sibTransId="{B9935C65-317D-4AEF-B083-6D664DD5D659}"/>
    <dgm:cxn modelId="{89EE7D4F-F1BF-4957-8B42-4A2DD4241D6F}" type="presOf" srcId="{04FD7CFC-3DED-430D-AE63-29E711C1C6EE}" destId="{C561033B-F30B-4EA8-8E44-8691394D0758}" srcOrd="0" destOrd="0" presId="urn:microsoft.com/office/officeart/2005/8/layout/chevron1"/>
    <dgm:cxn modelId="{2BD2B370-5B28-4D57-840B-DB92C56B6D70}" type="presOf" srcId="{330B3DB3-2789-4AC1-B501-ADD5AA93B8CE}" destId="{2BAF7858-4DB1-45C3-9DAD-BB548C40ED47}" srcOrd="0" destOrd="0" presId="urn:microsoft.com/office/officeart/2005/8/layout/chevron1"/>
    <dgm:cxn modelId="{410FD47C-B537-4133-9D7B-A094669E0A89}" type="presOf" srcId="{CAD8C7E3-DA3F-48BF-887A-A71AA847F35F}" destId="{E843532A-2AE0-45AB-9DBC-700D6CAA5C83}" srcOrd="0" destOrd="0" presId="urn:microsoft.com/office/officeart/2005/8/layout/chevron1"/>
    <dgm:cxn modelId="{9B3C8D92-AC5F-44DB-8835-A6C6535BC5D6}" srcId="{9AD77422-ED95-4C82-A587-E65FF7F15911}" destId="{04FD7CFC-3DED-430D-AE63-29E711C1C6EE}" srcOrd="3" destOrd="0" parTransId="{00FF1DE4-9A86-4321-9446-A4CA97731B30}" sibTransId="{F28FA1CD-F392-46A5-8711-C72E5D074DAD}"/>
    <dgm:cxn modelId="{DD1C42DC-65F3-4357-8AE8-C6EFA4E0D530}" type="presOf" srcId="{9AD77422-ED95-4C82-A587-E65FF7F15911}" destId="{A71DE1AF-F7F2-426B-87C5-ADCC34BA4A28}" srcOrd="0" destOrd="0" presId="urn:microsoft.com/office/officeart/2005/8/layout/chevron1"/>
    <dgm:cxn modelId="{8BC8CDFB-A0DC-4F8A-8C43-D5B937F84356}" type="presOf" srcId="{8D084F5E-8959-4F78-A096-CD49BF4BE5A8}" destId="{DFEE0344-3C5A-4877-AB21-3E7730BA6714}" srcOrd="0" destOrd="0" presId="urn:microsoft.com/office/officeart/2005/8/layout/chevron1"/>
    <dgm:cxn modelId="{D907C5C8-AAF8-4974-A7CD-AE1DCAE84A30}" type="presParOf" srcId="{A71DE1AF-F7F2-426B-87C5-ADCC34BA4A28}" destId="{E843532A-2AE0-45AB-9DBC-700D6CAA5C83}" srcOrd="0" destOrd="0" presId="urn:microsoft.com/office/officeart/2005/8/layout/chevron1"/>
    <dgm:cxn modelId="{68E2FDED-B76F-4AC8-9E0B-D951128622E9}" type="presParOf" srcId="{A71DE1AF-F7F2-426B-87C5-ADCC34BA4A28}" destId="{31B9BA12-25F8-4BF6-A229-807A3C8A926A}" srcOrd="1" destOrd="0" presId="urn:microsoft.com/office/officeart/2005/8/layout/chevron1"/>
    <dgm:cxn modelId="{1AD9F3CA-0D00-47A4-B941-4AA6C5C24964}" type="presParOf" srcId="{A71DE1AF-F7F2-426B-87C5-ADCC34BA4A28}" destId="{2BAF7858-4DB1-45C3-9DAD-BB548C40ED47}" srcOrd="2" destOrd="0" presId="urn:microsoft.com/office/officeart/2005/8/layout/chevron1"/>
    <dgm:cxn modelId="{0650EA67-966C-4E06-8A61-C7BC0E72D237}" type="presParOf" srcId="{A71DE1AF-F7F2-426B-87C5-ADCC34BA4A28}" destId="{05ED138F-0A1D-4B41-BE61-3F34CF548979}" srcOrd="3" destOrd="0" presId="urn:microsoft.com/office/officeart/2005/8/layout/chevron1"/>
    <dgm:cxn modelId="{4C584678-612C-4573-A76F-BBC4E9B5C4B5}" type="presParOf" srcId="{A71DE1AF-F7F2-426B-87C5-ADCC34BA4A28}" destId="{DFEE0344-3C5A-4877-AB21-3E7730BA6714}" srcOrd="4" destOrd="0" presId="urn:microsoft.com/office/officeart/2005/8/layout/chevron1"/>
    <dgm:cxn modelId="{C51474C5-A03B-4AC0-9BB1-DC700EFA0879}" type="presParOf" srcId="{A71DE1AF-F7F2-426B-87C5-ADCC34BA4A28}" destId="{64066430-100C-4A4B-9E9D-B110E6E94577}" srcOrd="5" destOrd="0" presId="urn:microsoft.com/office/officeart/2005/8/layout/chevron1"/>
    <dgm:cxn modelId="{895EF117-A56C-4DAC-AB2F-39C613A4D4AD}" type="presParOf" srcId="{A71DE1AF-F7F2-426B-87C5-ADCC34BA4A28}" destId="{C561033B-F30B-4EA8-8E44-8691394D0758}" srcOrd="6"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43532A-2AE0-45AB-9DBC-700D6CAA5C83}">
      <dsp:nvSpPr>
        <dsp:cNvPr id="0" name=""/>
        <dsp:cNvSpPr/>
      </dsp:nvSpPr>
      <dsp:spPr>
        <a:xfrm>
          <a:off x="34" y="267276"/>
          <a:ext cx="2860152" cy="1189002"/>
        </a:xfrm>
        <a:prstGeom prst="chevron">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Font typeface="+mj-lt"/>
            <a:buNone/>
          </a:pPr>
          <a:r>
            <a:rPr lang="en-GB" sz="2000" kern="1200" dirty="0">
              <a:latin typeface="Microsoft Sans Serif" panose="020B0604020202020204" pitchFamily="34" charset="0"/>
              <a:cs typeface="Microsoft Sans Serif" panose="020B0604020202020204" pitchFamily="34" charset="0"/>
            </a:rPr>
            <a:t>Compute exit vector</a:t>
          </a:r>
        </a:p>
      </dsp:txBody>
      <dsp:txXfrm>
        <a:off x="594535" y="267276"/>
        <a:ext cx="1671150" cy="1189002"/>
      </dsp:txXfrm>
    </dsp:sp>
    <dsp:sp modelId="{2BAF7858-4DB1-45C3-9DAD-BB548C40ED47}">
      <dsp:nvSpPr>
        <dsp:cNvPr id="0" name=""/>
        <dsp:cNvSpPr/>
      </dsp:nvSpPr>
      <dsp:spPr>
        <a:xfrm>
          <a:off x="2641048" y="305258"/>
          <a:ext cx="2972373" cy="1113039"/>
        </a:xfrm>
        <a:prstGeom prst="chevron">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Font typeface="+mj-lt"/>
            <a:buNone/>
          </a:pPr>
          <a:r>
            <a:rPr lang="en-GB" sz="2000" kern="1200" dirty="0">
              <a:latin typeface="Microsoft Sans Serif" panose="020B0604020202020204" pitchFamily="34" charset="0"/>
              <a:cs typeface="Microsoft Sans Serif" panose="020B0604020202020204" pitchFamily="34" charset="0"/>
            </a:rPr>
            <a:t>Back-propagate through the OS</a:t>
          </a:r>
        </a:p>
      </dsp:txBody>
      <dsp:txXfrm>
        <a:off x="3197568" y="305258"/>
        <a:ext cx="1859334" cy="1113039"/>
      </dsp:txXfrm>
    </dsp:sp>
    <dsp:sp modelId="{DFEE0344-3C5A-4877-AB21-3E7730BA6714}">
      <dsp:nvSpPr>
        <dsp:cNvPr id="0" name=""/>
        <dsp:cNvSpPr/>
      </dsp:nvSpPr>
      <dsp:spPr>
        <a:xfrm>
          <a:off x="5394283" y="288138"/>
          <a:ext cx="3035091" cy="1147278"/>
        </a:xfrm>
        <a:prstGeom prst="chevron">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Font typeface="+mj-lt"/>
            <a:buNone/>
          </a:pPr>
          <a:r>
            <a:rPr lang="en-GB" sz="2000" kern="1200" dirty="0">
              <a:latin typeface="Microsoft Sans Serif" panose="020B0604020202020204" pitchFamily="34" charset="0"/>
              <a:cs typeface="Microsoft Sans Serif" panose="020B0604020202020204" pitchFamily="34" charset="0"/>
            </a:rPr>
            <a:t>Normalise all vectors relative to </a:t>
          </a:r>
          <a14:m xmlns:a14="http://schemas.microsoft.com/office/drawing/2010/main">
            <m:oMath xmlns:m="http://schemas.openxmlformats.org/officeDocument/2006/math">
              <m:sSub>
                <m:sSubPr>
                  <m:ctrlPr>
                    <a:rPr lang="en-US" sz="2000" b="0" i="1" kern="1200" smtClean="0">
                      <a:latin typeface="Cambria Math" panose="02040503050406030204" pitchFamily="18" charset="0"/>
                      <a:cs typeface="Microsoft Sans Serif" panose="020B0604020202020204" pitchFamily="34" charset="0"/>
                    </a:rPr>
                  </m:ctrlPr>
                </m:sSubPr>
                <m:e>
                  <m:r>
                    <a:rPr lang="en-US" sz="2000" b="0" i="1" kern="1200" smtClean="0">
                      <a:latin typeface="Cambria Math" panose="02040503050406030204" pitchFamily="18" charset="0"/>
                      <a:cs typeface="Microsoft Sans Serif" panose="020B0604020202020204" pitchFamily="34" charset="0"/>
                    </a:rPr>
                    <m:t>𝑎</m:t>
                  </m:r>
                </m:e>
                <m:sub>
                  <m:r>
                    <a:rPr lang="en-US" sz="2000" b="0" i="1" kern="1200" smtClean="0">
                      <a:latin typeface="Cambria Math" panose="02040503050406030204" pitchFamily="18" charset="0"/>
                      <a:cs typeface="Microsoft Sans Serif" panose="020B0604020202020204" pitchFamily="34" charset="0"/>
                    </a:rPr>
                    <m:t>0</m:t>
                  </m:r>
                </m:sub>
              </m:sSub>
            </m:oMath>
          </a14:m>
          <a:endParaRPr lang="en-GB" sz="2000" kern="1200" dirty="0">
            <a:latin typeface="Microsoft Sans Serif" panose="020B0604020202020204" pitchFamily="34" charset="0"/>
            <a:cs typeface="Microsoft Sans Serif" panose="020B0604020202020204" pitchFamily="34" charset="0"/>
          </a:endParaRPr>
        </a:p>
      </dsp:txBody>
      <dsp:txXfrm>
        <a:off x="5967922" y="288138"/>
        <a:ext cx="1887813" cy="1147278"/>
      </dsp:txXfrm>
    </dsp:sp>
    <dsp:sp modelId="{C561033B-F30B-4EA8-8E44-8691394D0758}">
      <dsp:nvSpPr>
        <dsp:cNvPr id="0" name=""/>
        <dsp:cNvSpPr/>
      </dsp:nvSpPr>
      <dsp:spPr>
        <a:xfrm>
          <a:off x="8210235" y="314733"/>
          <a:ext cx="3080189" cy="1094088"/>
        </a:xfrm>
        <a:prstGeom prst="chevron">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Font typeface="+mj-lt"/>
            <a:buNone/>
          </a:pPr>
          <a:r>
            <a:rPr lang="en-GB" sz="2000" kern="1200" dirty="0">
              <a:latin typeface="Microsoft Sans Serif" panose="020B0604020202020204" pitchFamily="34" charset="0"/>
              <a:cs typeface="Microsoft Sans Serif" panose="020B0604020202020204" pitchFamily="34" charset="0"/>
            </a:rPr>
            <a:t>Apply spectral and temporal modulation (FT)</a:t>
          </a:r>
        </a:p>
      </dsp:txBody>
      <dsp:txXfrm>
        <a:off x="8757279" y="314733"/>
        <a:ext cx="1986101" cy="1094088"/>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E1489B-2101-0B42-8413-4B4D616C4F35}" type="datetimeFigureOut">
              <a:rPr lang="en-US" smtClean="0"/>
              <a:t>4/22/24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BD3181-2793-C349-A7AD-B1B8DE6091DD}" type="slidenum">
              <a:rPr lang="en-US" smtClean="0"/>
              <a:t>‹#›</a:t>
            </a:fld>
            <a:endParaRPr lang="en-US"/>
          </a:p>
        </p:txBody>
      </p:sp>
    </p:spTree>
    <p:extLst>
      <p:ext uri="{BB962C8B-B14F-4D97-AF65-F5344CB8AC3E}">
        <p14:creationId xmlns:p14="http://schemas.microsoft.com/office/powerpoint/2010/main" val="2700461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Good morning, everybody, it’s great to see you all here today. I am Mateo Guzman Subiria and I am here to present my project on visualising the Abraham-Minkowski Light Field Momentum.</a:t>
            </a:r>
          </a:p>
        </p:txBody>
      </p:sp>
      <p:sp>
        <p:nvSpPr>
          <p:cNvPr id="4" name="Slide Number Placeholder 3"/>
          <p:cNvSpPr>
            <a:spLocks noGrp="1"/>
          </p:cNvSpPr>
          <p:nvPr>
            <p:ph type="sldNum" sz="quarter" idx="5"/>
          </p:nvPr>
        </p:nvSpPr>
        <p:spPr/>
        <p:txBody>
          <a:bodyPr/>
          <a:lstStyle/>
          <a:p>
            <a:fld id="{17BD3181-2793-C349-A7AD-B1B8DE6091DD}" type="slidenum">
              <a:rPr lang="en-US" smtClean="0"/>
              <a:t>1</a:t>
            </a:fld>
            <a:endParaRPr lang="en-US"/>
          </a:p>
        </p:txBody>
      </p:sp>
    </p:spTree>
    <p:extLst>
      <p:ext uri="{BB962C8B-B14F-4D97-AF65-F5344CB8AC3E}">
        <p14:creationId xmlns:p14="http://schemas.microsoft.com/office/powerpoint/2010/main" val="3393407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As you all know, light carries momentum. An excellent example of this is the working principle behind solar sails. In vacuum, the electromagnetic momentum density takes the following form. However, in dielectric media, its form has been a matter of debate for more than a century. The two main formulations pertain to Abraham and Minkowski which relate the EM momentum density to the medium refractive index in the following ways.</a:t>
            </a:r>
          </a:p>
        </p:txBody>
      </p:sp>
      <p:sp>
        <p:nvSpPr>
          <p:cNvPr id="4" name="Slide Number Placeholder 3"/>
          <p:cNvSpPr>
            <a:spLocks noGrp="1"/>
          </p:cNvSpPr>
          <p:nvPr>
            <p:ph type="sldNum" sz="quarter" idx="5"/>
          </p:nvPr>
        </p:nvSpPr>
        <p:spPr/>
        <p:txBody>
          <a:bodyPr/>
          <a:lstStyle/>
          <a:p>
            <a:fld id="{17BD3181-2793-C349-A7AD-B1B8DE6091DD}" type="slidenum">
              <a:rPr lang="en-US" smtClean="0"/>
              <a:t>2</a:t>
            </a:fld>
            <a:endParaRPr lang="en-US"/>
          </a:p>
        </p:txBody>
      </p:sp>
    </p:spTree>
    <p:extLst>
      <p:ext uri="{BB962C8B-B14F-4D97-AF65-F5344CB8AC3E}">
        <p14:creationId xmlns:p14="http://schemas.microsoft.com/office/powerpoint/2010/main" val="1026036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goal of my project is to visualise EM fields and their momenta in linear dielectrics paying special attention to behaviours predicted by Abraham or Minkowski.</a:t>
            </a: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implementation consists of simulating light pulses propagating through photonic crystal systems of varying indices of refraction and measuring their intensities and their momenta through the Maxwell Stress Tensor, and the Lorentz force, and then compute the impulse accumulated in sections of the optical systems.</a:t>
            </a:r>
          </a:p>
        </p:txBody>
      </p:sp>
      <p:sp>
        <p:nvSpPr>
          <p:cNvPr id="4" name="Slide Number Placeholder 3"/>
          <p:cNvSpPr>
            <a:spLocks noGrp="1"/>
          </p:cNvSpPr>
          <p:nvPr>
            <p:ph type="sldNum" sz="quarter" idx="5"/>
          </p:nvPr>
        </p:nvSpPr>
        <p:spPr/>
        <p:txBody>
          <a:bodyPr/>
          <a:lstStyle/>
          <a:p>
            <a:fld id="{17BD3181-2793-C349-A7AD-B1B8DE6091DD}" type="slidenum">
              <a:rPr lang="en-US" smtClean="0"/>
              <a:t>3</a:t>
            </a:fld>
            <a:endParaRPr lang="en-US"/>
          </a:p>
        </p:txBody>
      </p:sp>
    </p:spTree>
    <p:extLst>
      <p:ext uri="{BB962C8B-B14F-4D97-AF65-F5344CB8AC3E}">
        <p14:creationId xmlns:p14="http://schemas.microsoft.com/office/powerpoint/2010/main" val="1759259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Let’s start by defining and explaining some key ideas.</a:t>
            </a:r>
          </a:p>
        </p:txBody>
      </p:sp>
      <p:sp>
        <p:nvSpPr>
          <p:cNvPr id="4" name="Slide Number Placeholder 3"/>
          <p:cNvSpPr>
            <a:spLocks noGrp="1"/>
          </p:cNvSpPr>
          <p:nvPr>
            <p:ph type="sldNum" sz="quarter" idx="5"/>
          </p:nvPr>
        </p:nvSpPr>
        <p:spPr/>
        <p:txBody>
          <a:bodyPr/>
          <a:lstStyle/>
          <a:p>
            <a:fld id="{17BD3181-2793-C349-A7AD-B1B8DE6091DD}" type="slidenum">
              <a:rPr lang="en-US" smtClean="0"/>
              <a:t>4</a:t>
            </a:fld>
            <a:endParaRPr lang="en-US"/>
          </a:p>
        </p:txBody>
      </p:sp>
    </p:spTree>
    <p:extLst>
      <p:ext uri="{BB962C8B-B14F-4D97-AF65-F5344CB8AC3E}">
        <p14:creationId xmlns:p14="http://schemas.microsoft.com/office/powerpoint/2010/main" val="108368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Photonic crystals are highly ordered materials with periodically modulated dielectric constants. When the periodicity of the crystals is much smaller than the wavelength of the light, we can treat the macroscopic optical properties of the crystal as effective homogeneous media in a process called homogenisation. In this project, we do the reverse: we dehomogenise dielectric media and represent them as photonic crystals.</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5</a:t>
            </a:fld>
            <a:endParaRPr lang="en-US"/>
          </a:p>
        </p:txBody>
      </p:sp>
    </p:spTree>
    <p:extLst>
      <p:ext uri="{BB962C8B-B14F-4D97-AF65-F5344CB8AC3E}">
        <p14:creationId xmlns:p14="http://schemas.microsoft.com/office/powerpoint/2010/main" val="3933083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We employ EM plane waves exploiting their </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orthogonality to use them as Fourier components in the decomposition of a light pulse. The use of plane waves allows us to apply</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the transfer matrix method which is a formalism for analysing the propagation of waves through systems with spatially varying properties.</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plane waves are represented by the complex amplitudes </a:t>
            </a:r>
            <a:r>
              <a:rPr lang="en-GB" sz="1800" i="0" kern="100" dirty="0">
                <a:effectLst/>
                <a:latin typeface="Cambria Math" panose="02040503050406030204" pitchFamily="18" charset="0"/>
                <a:ea typeface="Aptos" panose="020B0004020202020204" pitchFamily="34" charset="0"/>
                <a:cs typeface="Times New Roman" panose="02020603050405020304" pitchFamily="18" charset="0"/>
              </a:rPr>
              <a:t>𝑎</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1800" i="0" kern="100" dirty="0">
                <a:effectLst/>
                <a:latin typeface="Cambria Math" panose="02040503050406030204" pitchFamily="18" charset="0"/>
                <a:ea typeface="Aptos" panose="020B0004020202020204" pitchFamily="34" charset="0"/>
                <a:cs typeface="Times New Roman" panose="02020603050405020304" pitchFamily="18" charset="0"/>
              </a:rPr>
              <a:t>𝑏</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which correspond to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forward and backward propagating components. These amplitudes encapsulate plane wave amplitudes and phases.</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optical properties of elements (layers &amp; interfaces) are represented as matrices which act on ab-vectors. The scattering (S) matrices relate the input states </a:t>
            </a:r>
            <a:r>
              <a:rPr lang="en-GB" sz="1800" i="0" kern="100" dirty="0">
                <a:effectLst/>
                <a:latin typeface="Cambria Math" panose="02040503050406030204" pitchFamily="18" charset="0"/>
                <a:ea typeface="Aptos" panose="020B0004020202020204" pitchFamily="34" charset="0"/>
                <a:cs typeface="Times New Roman" panose="02020603050405020304" pitchFamily="18" charset="0"/>
              </a:rPr>
              <a:t>𝑎_𝑖</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and </a:t>
            </a:r>
            <a:r>
              <a:rPr lang="en-GB" sz="1800" i="0" kern="100" dirty="0">
                <a:effectLst/>
                <a:latin typeface="Cambria Math" panose="02040503050406030204" pitchFamily="18" charset="0"/>
                <a:ea typeface="Times New Roman" panose="02020603050405020304" pitchFamily="18" charset="0"/>
                <a:cs typeface="Times New Roman" panose="02020603050405020304" pitchFamily="18" charset="0"/>
              </a:rPr>
              <a:t>𝑏_𝑗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and output states </a:t>
            </a:r>
            <a:r>
              <a:rPr lang="en-GB" sz="1800" i="0" kern="100" dirty="0">
                <a:effectLst/>
                <a:latin typeface="Cambria Math" panose="02040503050406030204" pitchFamily="18" charset="0"/>
                <a:ea typeface="Times New Roman" panose="02020603050405020304" pitchFamily="18" charset="0"/>
                <a:cs typeface="Times New Roman" panose="02020603050405020304" pitchFamily="18" charset="0"/>
              </a:rPr>
              <a:t>𝑎_𝑗</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and </a:t>
            </a:r>
            <a:r>
              <a:rPr lang="en-GB" sz="1800" i="0" kern="100" dirty="0">
                <a:effectLst/>
                <a:latin typeface="Cambria Math" panose="02040503050406030204" pitchFamily="18" charset="0"/>
                <a:ea typeface="Times New Roman" panose="02020603050405020304" pitchFamily="18" charset="0"/>
                <a:cs typeface="Times New Roman" panose="02020603050405020304" pitchFamily="18" charset="0"/>
              </a:rPr>
              <a:t>𝑏_𝑖</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of a scattering process</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Meanwhile, the</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transfer (M) matrices relate the wave values on one side of an element to those on the other</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7BD3181-2793-C349-A7AD-B1B8DE6091DD}" type="slidenum">
              <a:rPr lang="en-US" smtClean="0"/>
              <a:t>6</a:t>
            </a:fld>
            <a:endParaRPr lang="en-US"/>
          </a:p>
        </p:txBody>
      </p:sp>
    </p:spTree>
    <p:extLst>
      <p:ext uri="{BB962C8B-B14F-4D97-AF65-F5344CB8AC3E}">
        <p14:creationId xmlns:p14="http://schemas.microsoft.com/office/powerpoint/2010/main" val="170287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Now, we move on to creating the simulation.</a:t>
            </a:r>
          </a:p>
        </p:txBody>
      </p:sp>
      <p:sp>
        <p:nvSpPr>
          <p:cNvPr id="4" name="Slide Number Placeholder 3"/>
          <p:cNvSpPr>
            <a:spLocks noGrp="1"/>
          </p:cNvSpPr>
          <p:nvPr>
            <p:ph type="sldNum" sz="quarter" idx="5"/>
          </p:nvPr>
        </p:nvSpPr>
        <p:spPr/>
        <p:txBody>
          <a:bodyPr/>
          <a:lstStyle/>
          <a:p>
            <a:fld id="{17BD3181-2793-C349-A7AD-B1B8DE6091DD}" type="slidenum">
              <a:rPr lang="en-US" smtClean="0"/>
              <a:t>7</a:t>
            </a:fld>
            <a:endParaRPr lang="en-US"/>
          </a:p>
        </p:txBody>
      </p:sp>
    </p:spTree>
    <p:extLst>
      <p:ext uri="{BB962C8B-B14F-4D97-AF65-F5344CB8AC3E}">
        <p14:creationId xmlns:p14="http://schemas.microsoft.com/office/powerpoint/2010/main" val="839471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In our project, the plane waves are s-polarised and enter the optical systems at normal incidence </a:t>
            </a:r>
            <a:r>
              <a:rPr lang="el-GR" sz="1800" i="0" kern="100" dirty="0">
                <a:effectLst/>
                <a:latin typeface="Cambria Math" panose="02040503050406030204" pitchFamily="18" charset="0"/>
                <a:ea typeface="Aptos" panose="020B0004020202020204" pitchFamily="34" charset="0"/>
                <a:cs typeface="Times New Roman" panose="02020603050405020304" pitchFamily="18" charset="0"/>
              </a:rPr>
              <a:t>𝜃=0</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With our refraction plane parallel to the x-z plane, this means the electric fields point parallel to the y axis, the magnetic fields point parallel to the x axis,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and z gives the propagation direction.</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pulse is composed of many plane waves with different wavenumbers. The optical system each plane wave “sees” depends on its wavevector as the reflection and transmission coefficients depend the angle of incidence and the propagation phase shift depends on the wavenumber. Thus, the chain of matrices representing an optical system needs to be reproduced for each wavenumber.</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7BD3181-2793-C349-A7AD-B1B8DE6091DD}" type="slidenum">
              <a:rPr lang="en-US" smtClean="0"/>
              <a:t>8</a:t>
            </a:fld>
            <a:endParaRPr lang="en-US"/>
          </a:p>
        </p:txBody>
      </p:sp>
    </p:spTree>
    <p:extLst>
      <p:ext uri="{BB962C8B-B14F-4D97-AF65-F5344CB8AC3E}">
        <p14:creationId xmlns:p14="http://schemas.microsoft.com/office/powerpoint/2010/main" val="2879870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Each photonic crystal is composed of periods which all have 5 composite elements: a vacuum portion, an interface, a medium portion, an interface, and a vacuum portion. The periods are characterised by their width </a:t>
            </a:r>
            <a:r>
              <a:rPr lang="en-GB" sz="1800" i="0" kern="100" dirty="0" err="1">
                <a:effectLst/>
                <a:latin typeface="Cambria Math" panose="02040503050406030204" pitchFamily="18" charset="0"/>
                <a:ea typeface="Aptos" panose="020B0004020202020204" pitchFamily="34" charset="0"/>
                <a:cs typeface="Times New Roman" panose="02020603050405020304" pitchFamily="18" charset="0"/>
              </a:rPr>
              <a:t>ℎ</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(which must be smaller than the light wavelengths), the fraction of the vacuum portion </a:t>
            </a:r>
            <a:r>
              <a:rPr lang="en-GB" sz="1800" i="0" kern="100" dirty="0">
                <a:effectLst/>
                <a:latin typeface="Cambria Math" panose="02040503050406030204" pitchFamily="18" charset="0"/>
                <a:ea typeface="Times New Roman" panose="02020603050405020304" pitchFamily="18" charset="0"/>
                <a:cs typeface="Times New Roman" panose="02020603050405020304" pitchFamily="18" charset="0"/>
              </a:rPr>
              <a:t>𝑟</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and the refractive index of the medium portion </a:t>
            </a:r>
            <a:r>
              <a:rPr lang="en-GB" sz="1800" i="0" kern="100" dirty="0">
                <a:effectLst/>
                <a:latin typeface="Cambria Math" panose="02040503050406030204" pitchFamily="18" charset="0"/>
                <a:ea typeface="Times New Roman" panose="02020603050405020304" pitchFamily="18" charset="0"/>
                <a:cs typeface="Times New Roman" panose="02020603050405020304" pitchFamily="18" charset="0"/>
              </a:rPr>
              <a:t>𝑛_𝑚</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Each crystal is uniquely defined by these values and</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the number of periods in the crystal.</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The effective index of refraction of a crystal </a:t>
            </a:r>
            <a:r>
              <a:rPr lang="en-GB" sz="1800" i="0" kern="100" dirty="0">
                <a:effectLst/>
                <a:latin typeface="Cambria Math" panose="02040503050406030204" pitchFamily="18" charset="0"/>
                <a:ea typeface="Aptos" panose="020B0004020202020204" pitchFamily="34" charset="0"/>
                <a:cs typeface="Cambria Math" panose="02040503050406030204" pitchFamily="18" charset="0"/>
              </a:rPr>
              <a:t>𝑛_𝑒𝑓𝑓</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is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calculated from the eigenvalue of a period which is treated as a phase shift induced on a plane wave. That way, a period is treated as an effective medium through which light propagates.</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9</a:t>
            </a:fld>
            <a:endParaRPr lang="en-US"/>
          </a:p>
        </p:txBody>
      </p:sp>
    </p:spTree>
    <p:extLst>
      <p:ext uri="{BB962C8B-B14F-4D97-AF65-F5344CB8AC3E}">
        <p14:creationId xmlns:p14="http://schemas.microsoft.com/office/powerpoint/2010/main" val="2356715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For one of our optical systems, we incorporate a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DBR structure. This consists of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periodic </a:t>
            </a:r>
            <a:r>
              <a:rPr lang="en-GB" sz="1800" b="1" kern="100" dirty="0">
                <a:effectLst/>
                <a:latin typeface="Aptos" panose="020B0004020202020204" pitchFamily="34" charset="0"/>
                <a:ea typeface="Aptos" panose="020B0004020202020204" pitchFamily="34" charset="0"/>
                <a:cs typeface="Times New Roman" panose="02020603050405020304" pitchFamily="18" charset="0"/>
              </a:rPr>
              <a:t>quarter-wavelength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stacks of high and low refractive index materials. This structure produces destructive interference periodically attenuating transmission so that the pulse is reflected. We ensure that the properties of the DBR, its width, its index of refraction and its number of periods, produce a photonic band gap in our wavenumber range. We test this through the eigenvalues of the DBR periods. For transmission, these should be smaller than 1 so that over a few periods the pulse exponentially decays. </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10</a:t>
            </a:fld>
            <a:endParaRPr lang="en-US"/>
          </a:p>
        </p:txBody>
      </p:sp>
    </p:spTree>
    <p:extLst>
      <p:ext uri="{BB962C8B-B14F-4D97-AF65-F5344CB8AC3E}">
        <p14:creationId xmlns:p14="http://schemas.microsoft.com/office/powerpoint/2010/main" val="1622407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sequence for propagating the pulse through the systems is as follows.</a:t>
            </a: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We first compute the exit vector, that at the RHS of the system, which should be the eigenvector of the last period. In the case with the DBR at the end, we pick the attenuating forward-propagating eigenvector. In the case with no DBR, we place a vacuum crystal and pick the forward-propagating eigenvector which assumes that this crystal prolongs itself to infinity so that the pulse is not reflected at any other interface.</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Then, we back-propagate this vector through the optical system by inverting the M matrices, cascading them, and operating them to obtain the ab-vectors at each position.</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These are all normalised relative to the forward-propagating vector at the LHS </a:t>
            </a:r>
            <a:r>
              <a:rPr lang="en-US" sz="1800" i="0" kern="100" dirty="0">
                <a:effectLst/>
                <a:latin typeface="Cambria Math" panose="02040503050406030204" pitchFamily="18" charset="0"/>
                <a:ea typeface="Aptos" panose="020B0004020202020204" pitchFamily="34" charset="0"/>
                <a:cs typeface="Times New Roman" panose="02020603050405020304" pitchFamily="18" charset="0"/>
              </a:rPr>
              <a:t>𝑎</a:t>
            </a:r>
            <a:r>
              <a:rPr lang="en-GB" sz="1800" i="0" kern="100" dirty="0">
                <a:effectLst/>
                <a:latin typeface="Cambria Math" panose="02040503050406030204" pitchFamily="18" charset="0"/>
                <a:ea typeface="Aptos" panose="020B0004020202020204" pitchFamily="34" charset="0"/>
                <a:cs typeface="Times New Roman" panose="02020603050405020304" pitchFamily="18" charset="0"/>
              </a:rPr>
              <a:t>_</a:t>
            </a:r>
            <a:r>
              <a:rPr lang="en-US" sz="1800" i="0" kern="100" dirty="0">
                <a:effectLst/>
                <a:latin typeface="Cambria Math" panose="02040503050406030204" pitchFamily="18" charset="0"/>
                <a:ea typeface="Aptos" panose="020B0004020202020204" pitchFamily="34" charset="0"/>
                <a:cs typeface="Times New Roman" panose="02020603050405020304" pitchFamily="18" charset="0"/>
              </a:rPr>
              <a:t>0</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so that the initial phase and amplitude are 0 and 1 respectively.</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This process must be repeated for each wavenumber.</a:t>
            </a: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Finally, we apply spectral and temporal modulations to these vectors corresponding to Fourier transform of a pulse in position space.</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total fields are given by superpositions of all these spectral components for a time and position.</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11</a:t>
            </a:fld>
            <a:endParaRPr lang="en-US"/>
          </a:p>
        </p:txBody>
      </p:sp>
    </p:spTree>
    <p:extLst>
      <p:ext uri="{BB962C8B-B14F-4D97-AF65-F5344CB8AC3E}">
        <p14:creationId xmlns:p14="http://schemas.microsoft.com/office/powerpoint/2010/main" val="3179316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two systems that we work with have a vacuum crystal, a crystal with </a:t>
            </a:r>
            <a:r>
              <a:rPr lang="en-GB" sz="1800" i="0" kern="100" dirty="0">
                <a:effectLst/>
                <a:latin typeface="Cambria Math" panose="02040503050406030204" pitchFamily="18" charset="0"/>
                <a:ea typeface="Aptos" panose="020B0004020202020204" pitchFamily="34" charset="0"/>
                <a:cs typeface="Times New Roman" panose="02020603050405020304" pitchFamily="18" charset="0"/>
              </a:rPr>
              <a:t>𝑛_𝑒𝑓𝑓=1.5</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another crystal with </a:t>
            </a:r>
            <a:r>
              <a:rPr lang="en-GB" sz="1800" i="0" kern="100" dirty="0">
                <a:effectLst/>
                <a:latin typeface="Cambria Math" panose="02040503050406030204" pitchFamily="18" charset="0"/>
                <a:ea typeface="Times New Roman" panose="02020603050405020304" pitchFamily="18" charset="0"/>
                <a:cs typeface="Times New Roman" panose="02020603050405020304" pitchFamily="18" charset="0"/>
              </a:rPr>
              <a:t>𝑛_𝑒𝑓𝑓=2.5</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and then a DBR or yet another vacuum crystal.</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12</a:t>
            </a:fld>
            <a:endParaRPr lang="en-US"/>
          </a:p>
        </p:txBody>
      </p:sp>
    </p:spTree>
    <p:extLst>
      <p:ext uri="{BB962C8B-B14F-4D97-AF65-F5344CB8AC3E}">
        <p14:creationId xmlns:p14="http://schemas.microsoft.com/office/powerpoint/2010/main" val="3255966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Here you can see the pulses propagating in time and space for both our systems. The first system results in a full reflection of the pulse at the DBR while the second one partially transmits the pulse into the final vacuum crystal. In both cases, we see partial reflections at the boundaries between sections.</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13</a:t>
            </a:fld>
            <a:endParaRPr lang="en-US"/>
          </a:p>
        </p:txBody>
      </p:sp>
    </p:spTree>
    <p:extLst>
      <p:ext uri="{BB962C8B-B14F-4D97-AF65-F5344CB8AC3E}">
        <p14:creationId xmlns:p14="http://schemas.microsoft.com/office/powerpoint/2010/main" val="4090381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So now that we have visualised the pulse as it propagates, let’s move on to measuring its intensity and momentum.</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14</a:t>
            </a:fld>
            <a:endParaRPr lang="en-US"/>
          </a:p>
        </p:txBody>
      </p:sp>
    </p:spTree>
    <p:extLst>
      <p:ext uri="{BB962C8B-B14F-4D97-AF65-F5344CB8AC3E}">
        <p14:creationId xmlns:p14="http://schemas.microsoft.com/office/powerpoint/2010/main" val="4227133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Focusing on the intensities, we note that both systems should have identical propagations before interacting with the last crystal which is why this crystal is not shown here. The total field intensity in green is attenuated in crystals with increasing </a:t>
            </a:r>
            <a:r>
              <a:rPr lang="en-GB" sz="1800" i="0" kern="100" dirty="0">
                <a:effectLst/>
                <a:latin typeface="Cambria Math" panose="02040503050406030204" pitchFamily="18" charset="0"/>
                <a:ea typeface="Aptos" panose="020B0004020202020204" pitchFamily="34" charset="0"/>
                <a:cs typeface="Times New Roman" panose="02020603050405020304" pitchFamily="18" charset="0"/>
              </a:rPr>
              <a:t>𝑛</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effective.</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In dielectric media, we see reflections as the pulse propagates through the periods. The EM momentum density points parallel to the propagation so these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reflections counteract the forward momentum. This is in accordance with Abraham’s prediction that the momentum should be reduced with refractive index. However, we did not measure the expected </a:t>
            </a:r>
            <a:r>
              <a:rPr lang="en-GB" sz="1800" i="0" kern="100" dirty="0">
                <a:effectLst/>
                <a:latin typeface="Cambria Math" panose="02040503050406030204" pitchFamily="18" charset="0"/>
                <a:ea typeface="Aptos" panose="020B0004020202020204" pitchFamily="34" charset="0"/>
                <a:cs typeface="Cambria Math" panose="02040503050406030204" pitchFamily="18" charset="0"/>
              </a:rPr>
              <a:t>∝</a:t>
            </a:r>
            <a:r>
              <a:rPr lang="en-GB" sz="1800" i="0" kern="100" dirty="0">
                <a:effectLst/>
                <a:latin typeface="Cambria Math" panose="02040503050406030204" pitchFamily="18" charset="0"/>
                <a:ea typeface="Aptos" panose="020B0004020202020204" pitchFamily="34" charset="0"/>
                <a:cs typeface="Times New Roman" panose="02020603050405020304" pitchFamily="18" charset="0"/>
              </a:rPr>
              <a:t>1/</a:t>
            </a:r>
            <a:r>
              <a:rPr lang="en-GB" sz="1800" i="0" kern="100" dirty="0">
                <a:effectLst/>
                <a:latin typeface="Cambria Math" panose="02040503050406030204" pitchFamily="18" charset="0"/>
                <a:ea typeface="Aptos" panose="020B0004020202020204" pitchFamily="34" charset="0"/>
                <a:cs typeface="Cambria Math" panose="02040503050406030204" pitchFamily="18" charset="0"/>
              </a:rPr>
              <a:t>𝑛_𝑒𝑓𝑓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dependence.</a:t>
            </a:r>
          </a:p>
        </p:txBody>
      </p:sp>
      <p:sp>
        <p:nvSpPr>
          <p:cNvPr id="4" name="Slide Number Placeholder 3"/>
          <p:cNvSpPr>
            <a:spLocks noGrp="1"/>
          </p:cNvSpPr>
          <p:nvPr>
            <p:ph type="sldNum" sz="quarter" idx="5"/>
          </p:nvPr>
        </p:nvSpPr>
        <p:spPr/>
        <p:txBody>
          <a:bodyPr/>
          <a:lstStyle/>
          <a:p>
            <a:fld id="{17BD3181-2793-C349-A7AD-B1B8DE6091DD}" type="slidenum">
              <a:rPr lang="en-US" smtClean="0"/>
              <a:t>15</a:t>
            </a:fld>
            <a:endParaRPr lang="en-US"/>
          </a:p>
        </p:txBody>
      </p:sp>
    </p:spTree>
    <p:extLst>
      <p:ext uri="{BB962C8B-B14F-4D97-AF65-F5344CB8AC3E}">
        <p14:creationId xmlns:p14="http://schemas.microsoft.com/office/powerpoint/2010/main" val="3183362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To measure momentum more directly we introduce the Maxwell stress tensor. This is a second order tensor that describes the distribution of EM forces per unit area acting on a surface. In vacuum, it takes this form. It is related to momentum through the Momentum Continuity equation where </a:t>
            </a:r>
            <a:r>
              <a:rPr lang="en-GB" sz="1800" b="1" i="0" kern="100" dirty="0">
                <a:effectLst/>
                <a:latin typeface="Cambria Math" panose="02040503050406030204" pitchFamily="18" charset="0"/>
                <a:ea typeface="Aptos" panose="020B0004020202020204" pitchFamily="34" charset="0"/>
                <a:cs typeface="Times New Roman" panose="02020603050405020304" pitchFamily="18" charset="0"/>
              </a:rPr>
              <a:t>𝐟</a:t>
            </a:r>
            <a:r>
              <a:rPr lang="en-GB" sz="1800" b="1" kern="100" dirty="0">
                <a:effectLst/>
                <a:latin typeface="Aptos" panose="020B0004020202020204" pitchFamily="34" charset="0"/>
                <a:ea typeface="Times New Roman" panose="02020603050405020304" pitchFamily="18" charset="0"/>
                <a:cs typeface="Times New Roman" panose="02020603050405020304" pitchFamily="18" charset="0"/>
              </a:rPr>
              <a:t> </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gives the transfer of mechanical momentum density (so a force density) and </a:t>
            </a:r>
            <a:r>
              <a:rPr lang="en-GB" sz="1800" b="1" i="0" kern="100" dirty="0">
                <a:effectLst/>
                <a:latin typeface="Cambria Math" panose="02040503050406030204" pitchFamily="18" charset="0"/>
                <a:ea typeface="Times New Roman" panose="02020603050405020304" pitchFamily="18" charset="0"/>
                <a:cs typeface="Times New Roman" panose="02020603050405020304" pitchFamily="18" charset="0"/>
              </a:rPr>
              <a:t>𝐒 </a:t>
            </a:r>
            <a:r>
              <a:rPr lang="en-GB" sz="1800" b="0" i="0" kern="100" dirty="0">
                <a:effectLst/>
                <a:latin typeface="Cambria Math" panose="02040503050406030204" pitchFamily="18" charset="0"/>
                <a:ea typeface="Times New Roman" panose="02020603050405020304" pitchFamily="18" charset="0"/>
                <a:cs typeface="Times New Roman" panose="02020603050405020304" pitchFamily="18" charset="0"/>
              </a:rPr>
              <a:t>is</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the Poynting vector. Note that in vacuum, the EM momentum density </a:t>
            </a:r>
            <a:r>
              <a:rPr lang="en-GB" sz="1800" b="1" i="0" kern="100" dirty="0">
                <a:effectLst/>
                <a:latin typeface="Cambria Math" panose="02040503050406030204" pitchFamily="18" charset="0"/>
                <a:ea typeface="Times New Roman" panose="02020603050405020304" pitchFamily="18" charset="0"/>
                <a:cs typeface="Times New Roman" panose="02020603050405020304" pitchFamily="18" charset="0"/>
              </a:rPr>
              <a:t>𝐠</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is related to </a:t>
            </a:r>
            <a:r>
              <a:rPr lang="en-GB" sz="1800" b="1" i="0" kern="100" dirty="0">
                <a:effectLst/>
                <a:latin typeface="Cambria Math" panose="02040503050406030204" pitchFamily="18" charset="0"/>
                <a:ea typeface="Times New Roman" panose="02020603050405020304" pitchFamily="18" charset="0"/>
                <a:cs typeface="Times New Roman" panose="02020603050405020304" pitchFamily="18" charset="0"/>
              </a:rPr>
              <a:t>𝐒</a:t>
            </a:r>
            <a:r>
              <a:rPr lang="en-GB" sz="1800" kern="100" dirty="0">
                <a:effectLst/>
                <a:latin typeface="Aptos" panose="020B0004020202020204" pitchFamily="34" charset="0"/>
                <a:ea typeface="Times New Roman" panose="02020603050405020304" pitchFamily="18" charset="0"/>
                <a:cs typeface="Times New Roman" panose="02020603050405020304" pitchFamily="18" charset="0"/>
              </a:rPr>
              <a:t> through this relation.</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There are different proposed forms of the MST in linear dielectrics, but they all converge to the expression above in vacuum.</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16</a:t>
            </a:fld>
            <a:endParaRPr lang="en-US"/>
          </a:p>
        </p:txBody>
      </p:sp>
    </p:spTree>
    <p:extLst>
      <p:ext uri="{BB962C8B-B14F-4D97-AF65-F5344CB8AC3E}">
        <p14:creationId xmlns:p14="http://schemas.microsoft.com/office/powerpoint/2010/main" val="39399143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Performing a volume integral on the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Momentum Continuity Equation and applying the divergence theorem reveals that doing a closed surface integral on the MST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centred</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each period delivers the momentum flow rate into the periods. </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Placing the integration surface at the period edges, which are vacuum, we can employ the unambiguous version of the MST in vacuum. This is why our photonic crystals have small vacuum portions at the edges.</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Since this is a 1D problem at normal incidence, the surface integral becomes a simple projection along the z direction.</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17</a:t>
            </a:fld>
            <a:endParaRPr lang="en-US"/>
          </a:p>
        </p:txBody>
      </p:sp>
    </p:spTree>
    <p:extLst>
      <p:ext uri="{BB962C8B-B14F-4D97-AF65-F5344CB8AC3E}">
        <p14:creationId xmlns:p14="http://schemas.microsoft.com/office/powerpoint/2010/main" val="36651895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Again, both systems are identical prior to interacting with the last crystal, so here I show snapshots of the momentum fluxes for one of the optical systems. There is a sharpening of momentum flux peaks with </a:t>
            </a:r>
            <a:r>
              <a:rPr lang="en-US" sz="1800" i="0" kern="100" dirty="0">
                <a:effectLst/>
                <a:latin typeface="Cambria Math" panose="02040503050406030204" pitchFamily="18" charset="0"/>
                <a:ea typeface="Aptos" panose="020B0004020202020204" pitchFamily="34" charset="0"/>
                <a:cs typeface="Times New Roman" panose="02020603050405020304" pitchFamily="18" charset="0"/>
              </a:rPr>
              <a:t>𝑛</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effective, which corresponds to the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Minkowski prediction of enhanced momentum in dielectrics. However, the expected </a:t>
            </a:r>
            <a:r>
              <a:rPr lang="en-US" sz="1800" i="0" kern="100" dirty="0">
                <a:effectLst/>
                <a:latin typeface="Cambria Math" panose="02040503050406030204" pitchFamily="18" charset="0"/>
                <a:ea typeface="Aptos" panose="020B0004020202020204" pitchFamily="34" charset="0"/>
                <a:cs typeface="Times New Roman" panose="02020603050405020304" pitchFamily="18" charset="0"/>
              </a:rPr>
              <a:t>∝</a:t>
            </a:r>
            <a:r>
              <a:rPr lang="en-GB" sz="1800" i="0" kern="100" dirty="0">
                <a:effectLst/>
                <a:latin typeface="Cambria Math" panose="02040503050406030204" pitchFamily="18" charset="0"/>
                <a:ea typeface="Aptos" panose="020B0004020202020204" pitchFamily="34" charset="0"/>
                <a:cs typeface="Times New Roman" panose="02020603050405020304" pitchFamily="18" charset="0"/>
              </a:rPr>
              <a:t>𝑛_𝑒𝑓𝑓</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dependence was not detected.</a:t>
            </a:r>
          </a:p>
        </p:txBody>
      </p:sp>
      <p:sp>
        <p:nvSpPr>
          <p:cNvPr id="4" name="Slide Number Placeholder 3"/>
          <p:cNvSpPr>
            <a:spLocks noGrp="1"/>
          </p:cNvSpPr>
          <p:nvPr>
            <p:ph type="sldNum" sz="quarter" idx="5"/>
          </p:nvPr>
        </p:nvSpPr>
        <p:spPr/>
        <p:txBody>
          <a:bodyPr/>
          <a:lstStyle/>
          <a:p>
            <a:fld id="{17BD3181-2793-C349-A7AD-B1B8DE6091DD}" type="slidenum">
              <a:rPr lang="en-US" smtClean="0"/>
              <a:t>18</a:t>
            </a:fld>
            <a:endParaRPr lang="en-US"/>
          </a:p>
        </p:txBody>
      </p:sp>
    </p:spTree>
    <p:extLst>
      <p:ext uri="{BB962C8B-B14F-4D97-AF65-F5344CB8AC3E}">
        <p14:creationId xmlns:p14="http://schemas.microsoft.com/office/powerpoint/2010/main" val="30645949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On the other hand, we have the Lorentz force law, which delivers the EM force acting on a charge distribution. We employ a particular formulation of this law for the total force of radiation acting on a solid object. As we employ non-magnetisable media, the constitutive relation for electric fields simplifies the expression for the force density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Finally, we integrate over the medium layer widths to produce the force surface density on the medium layer. This has the same dimensions as the momentum flux which permits a comparison with the MST values.</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19</a:t>
            </a:fld>
            <a:endParaRPr lang="en-US"/>
          </a:p>
        </p:txBody>
      </p:sp>
    </p:spTree>
    <p:extLst>
      <p:ext uri="{BB962C8B-B14F-4D97-AF65-F5344CB8AC3E}">
        <p14:creationId xmlns:p14="http://schemas.microsoft.com/office/powerpoint/2010/main" val="16466166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Once more, both systems are identical prior to interacting with the last crystal. There is a sharpening of force surface density peaks with </a:t>
            </a:r>
            <a:r>
              <a:rPr lang="en-US" sz="1800" i="0" kern="100" dirty="0">
                <a:effectLst/>
                <a:latin typeface="Cambria Math" panose="02040503050406030204" pitchFamily="18" charset="0"/>
                <a:ea typeface="Aptos" panose="020B0004020202020204" pitchFamily="34" charset="0"/>
                <a:cs typeface="Times New Roman" panose="02020603050405020304" pitchFamily="18" charset="0"/>
              </a:rPr>
              <a:t>𝑛</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effective, which corresponds to the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Minkowski prediction of enhanced momentum in dielectrics. However, the expected </a:t>
            </a:r>
            <a:r>
              <a:rPr lang="en-US" sz="1800" i="0" kern="100" dirty="0">
                <a:effectLst/>
                <a:latin typeface="Cambria Math" panose="02040503050406030204" pitchFamily="18" charset="0"/>
                <a:ea typeface="Aptos" panose="020B0004020202020204" pitchFamily="34" charset="0"/>
                <a:cs typeface="Times New Roman" panose="02020603050405020304" pitchFamily="18" charset="0"/>
              </a:rPr>
              <a:t>∝</a:t>
            </a:r>
            <a:r>
              <a:rPr lang="en-GB" sz="1800" i="0" kern="100" dirty="0">
                <a:effectLst/>
                <a:latin typeface="Cambria Math" panose="02040503050406030204" pitchFamily="18" charset="0"/>
                <a:ea typeface="Aptos" panose="020B0004020202020204" pitchFamily="34" charset="0"/>
                <a:cs typeface="Times New Roman" panose="02020603050405020304" pitchFamily="18" charset="0"/>
              </a:rPr>
              <a:t>𝑛_𝑒𝑓𝑓</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dependence was not detected. Note that there is correctly no force in vacuum as it is not polarisable.</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20</a:t>
            </a:fld>
            <a:endParaRPr lang="en-US"/>
          </a:p>
        </p:txBody>
      </p:sp>
    </p:spTree>
    <p:extLst>
      <p:ext uri="{BB962C8B-B14F-4D97-AF65-F5344CB8AC3E}">
        <p14:creationId xmlns:p14="http://schemas.microsoft.com/office/powerpoint/2010/main" val="2572518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Lastly, we compute the accumulated impulse surface density by numerically integrating the forces and fluxes over time. Moreover, we integrate over the periods of a section of the optical system to determine the total impulse surface density imparted to that section. The impulses are normalised with respect to the initial momentum of the pulse to check that momentum is conserved. Comparing the MST and Lorentz values we are effectively computing both sides of the Momentum Continuity equation minus the Poynting vector term, which when computed has a very minor contribution.</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21</a:t>
            </a:fld>
            <a:endParaRPr lang="en-US"/>
          </a:p>
        </p:txBody>
      </p:sp>
    </p:spTree>
    <p:extLst>
      <p:ext uri="{BB962C8B-B14F-4D97-AF65-F5344CB8AC3E}">
        <p14:creationId xmlns:p14="http://schemas.microsoft.com/office/powerpoint/2010/main" val="1209487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Here we see the accumulated z-impulses as a function of time in crystals 1 and 2 for both optical systems and momentum flux calculation methods. The bands mark times of major boundary interactions. It is notable that both Lorentz and the MST methods deliver the same final impulse surface densities even if there are transient disagreements in the short term.</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22</a:t>
            </a:fld>
            <a:endParaRPr lang="en-US"/>
          </a:p>
        </p:txBody>
      </p:sp>
    </p:spTree>
    <p:extLst>
      <p:ext uri="{BB962C8B-B14F-4D97-AF65-F5344CB8AC3E}">
        <p14:creationId xmlns:p14="http://schemas.microsoft.com/office/powerpoint/2010/main" val="9146454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Here we see the accumulated z-impulses again but in the DBR, in the case of OS1, or in the final vacuum crystal, in the case of OS2, and in the whole system. The vacuum crystal accumulates no total impulse and the DBR accumulates more than twice the initial momentum surface density. This is due to the reflections at the boundaries between crystals which result in fractional pulses reaching the DBR after the main pulse. Notably, the Lorentz and the MST methods do not deliver the same final impulse surface densities for the DBR, which affects the final total impulse surface density in the whole system. The OS2 case does converge, revealing that there is a peculiarity with the DBR structure. At the current moment, this issue has not been resolved but would be the focus of work if more time was available.</a:t>
            </a: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23</a:t>
            </a:fld>
            <a:endParaRPr lang="en-US"/>
          </a:p>
        </p:txBody>
      </p:sp>
    </p:spTree>
    <p:extLst>
      <p:ext uri="{BB962C8B-B14F-4D97-AF65-F5344CB8AC3E}">
        <p14:creationId xmlns:p14="http://schemas.microsoft.com/office/powerpoint/2010/main" val="30591676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difference in the transient behaviour can be explained by the non-uniqueness of the MST. We could add a </a:t>
            </a:r>
            <a:r>
              <a:rPr lang="en-GB" sz="1800" kern="100" dirty="0" err="1">
                <a:effectLst/>
                <a:latin typeface="Aptos" panose="020B0004020202020204" pitchFamily="34" charset="0"/>
                <a:ea typeface="Aptos" panose="020B0004020202020204" pitchFamily="34" charset="0"/>
                <a:cs typeface="Times New Roman" panose="02020603050405020304" pitchFamily="18" charset="0"/>
              </a:rPr>
              <a:t>divergenceless</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term with no effect for the momentum continuity equation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or a term such as this one that vanishes when we integrate over time to obtain the impulse.</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Looking at how much momentum is imparted in OS1, we conclude that our simulation correctly conserves momentum, at least for the MST calculation, as it gains twice as much as the initial momentum.</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It is worth mentioning that in a real experiment, since the speed of light is much faster than the mechanical waves in a solid, it would only be this final total impulse which could be measured rather than the transient phenomena.</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7BD3181-2793-C349-A7AD-B1B8DE6091DD}" type="slidenum">
              <a:rPr lang="en-US" smtClean="0"/>
              <a:t>24</a:t>
            </a:fld>
            <a:endParaRPr lang="en-US"/>
          </a:p>
        </p:txBody>
      </p:sp>
    </p:spTree>
    <p:extLst>
      <p:ext uri="{BB962C8B-B14F-4D97-AF65-F5344CB8AC3E}">
        <p14:creationId xmlns:p14="http://schemas.microsoft.com/office/powerpoint/2010/main" val="221287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I will conclude by saying that we indeed managed to visualise EM fields and their momenta as they propagate through linear dielectrics, and produced tools that allow the creation and testing of a variety of media through the input of a few simple variables.</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Thank you very much for your attention.</a:t>
            </a:r>
          </a:p>
        </p:txBody>
      </p:sp>
      <p:sp>
        <p:nvSpPr>
          <p:cNvPr id="4" name="Slide Number Placeholder 3"/>
          <p:cNvSpPr>
            <a:spLocks noGrp="1"/>
          </p:cNvSpPr>
          <p:nvPr>
            <p:ph type="sldNum" sz="quarter" idx="5"/>
          </p:nvPr>
        </p:nvSpPr>
        <p:spPr/>
        <p:txBody>
          <a:bodyPr/>
          <a:lstStyle/>
          <a:p>
            <a:fld id="{17BD3181-2793-C349-A7AD-B1B8DE6091DD}" type="slidenum">
              <a:rPr lang="en-US" smtClean="0"/>
              <a:t>25</a:t>
            </a:fld>
            <a:endParaRPr lang="en-US"/>
          </a:p>
        </p:txBody>
      </p:sp>
    </p:spTree>
    <p:extLst>
      <p:ext uri="{BB962C8B-B14F-4D97-AF65-F5344CB8AC3E}">
        <p14:creationId xmlns:p14="http://schemas.microsoft.com/office/powerpoint/2010/main" val="16969996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I will conclude by saying that we indeed managed to visualise EM fields and their momenta as they propagate through linear dielectrics, and produced tools that allow the creation and testing of a variety of media through the input of a few simple variables.</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Thank you very much for your attention.</a:t>
            </a:r>
          </a:p>
        </p:txBody>
      </p:sp>
      <p:sp>
        <p:nvSpPr>
          <p:cNvPr id="4" name="Slide Number Placeholder 3"/>
          <p:cNvSpPr>
            <a:spLocks noGrp="1"/>
          </p:cNvSpPr>
          <p:nvPr>
            <p:ph type="sldNum" sz="quarter" idx="5"/>
          </p:nvPr>
        </p:nvSpPr>
        <p:spPr/>
        <p:txBody>
          <a:bodyPr/>
          <a:lstStyle/>
          <a:p>
            <a:fld id="{17BD3181-2793-C349-A7AD-B1B8DE6091DD}" type="slidenum">
              <a:rPr lang="en-US" smtClean="0"/>
              <a:t>26</a:t>
            </a:fld>
            <a:endParaRPr lang="en-US"/>
          </a:p>
        </p:txBody>
      </p:sp>
    </p:spTree>
    <p:extLst>
      <p:ext uri="{BB962C8B-B14F-4D97-AF65-F5344CB8AC3E}">
        <p14:creationId xmlns:p14="http://schemas.microsoft.com/office/powerpoint/2010/main" val="31661418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I will conclude by saying that we indeed managed to visualise EM fields and their momenta as they propagate through linear dielectrics, and produced tools that allow the creation and testing of a variety of media through the input of a few simple variables.</a:t>
            </a:r>
          </a:p>
          <a:p>
            <a:pPr algn="just">
              <a:spcAft>
                <a:spcPts val="12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12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Thank you very much for your attention.</a:t>
            </a:r>
          </a:p>
        </p:txBody>
      </p:sp>
      <p:sp>
        <p:nvSpPr>
          <p:cNvPr id="4" name="Slide Number Placeholder 3"/>
          <p:cNvSpPr>
            <a:spLocks noGrp="1"/>
          </p:cNvSpPr>
          <p:nvPr>
            <p:ph type="sldNum" sz="quarter" idx="5"/>
          </p:nvPr>
        </p:nvSpPr>
        <p:spPr/>
        <p:txBody>
          <a:bodyPr/>
          <a:lstStyle/>
          <a:p>
            <a:fld id="{17BD3181-2793-C349-A7AD-B1B8DE6091DD}" type="slidenum">
              <a:rPr lang="en-US" smtClean="0"/>
              <a:t>27</a:t>
            </a:fld>
            <a:endParaRPr lang="en-US"/>
          </a:p>
        </p:txBody>
      </p:sp>
    </p:spTree>
    <p:extLst>
      <p:ext uri="{BB962C8B-B14F-4D97-AF65-F5344CB8AC3E}">
        <p14:creationId xmlns:p14="http://schemas.microsoft.com/office/powerpoint/2010/main" val="3681857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A29C74F-9F99-4048-A985-E249AB728706}" type="datetimeFigureOut">
              <a:rPr lang="en-US" smtClean="0"/>
              <a:t>4/22/24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3528683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A29C74F-9F99-4048-A985-E249AB728706}" type="datetimeFigureOut">
              <a:rPr lang="en-US" smtClean="0"/>
              <a:t>4/22/24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2584150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A29C74F-9F99-4048-A985-E249AB728706}" type="datetimeFigureOut">
              <a:rPr lang="en-US" smtClean="0"/>
              <a:t>4/22/24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188721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A29C74F-9F99-4048-A985-E249AB728706}" type="datetimeFigureOut">
              <a:rPr lang="en-US" smtClean="0"/>
              <a:t>4/22/24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1445085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A29C74F-9F99-4048-A985-E249AB728706}" type="datetimeFigureOut">
              <a:rPr lang="en-US" smtClean="0"/>
              <a:t>4/22/24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3483462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A29C74F-9F99-4048-A985-E249AB728706}" type="datetimeFigureOut">
              <a:rPr lang="en-US" smtClean="0"/>
              <a:t>4/22/24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2913818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29C74F-9F99-4048-A985-E249AB728706}" type="datetimeFigureOut">
              <a:rPr lang="en-US" smtClean="0"/>
              <a:t>4/22/24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36928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A29C74F-9F99-4048-A985-E249AB728706}" type="datetimeFigureOut">
              <a:rPr lang="en-US" smtClean="0"/>
              <a:t>4/22/24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2061279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A29C74F-9F99-4048-A985-E249AB728706}" type="datetimeFigureOut">
              <a:rPr lang="en-US" smtClean="0"/>
              <a:t>4/22/24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190470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A29C74F-9F99-4048-A985-E249AB728706}" type="datetimeFigureOut">
              <a:rPr lang="en-US" smtClean="0"/>
              <a:t>4/22/24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1260781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A29C74F-9F99-4048-A985-E249AB728706}" type="datetimeFigureOut">
              <a:rPr lang="en-US" smtClean="0"/>
              <a:t>4/22/24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49E352-9605-454D-8060-F44648BEA6BE}" type="slidenum">
              <a:rPr lang="en-US" smtClean="0"/>
              <a:t>‹#›</a:t>
            </a:fld>
            <a:endParaRPr lang="en-US"/>
          </a:p>
        </p:txBody>
      </p:sp>
    </p:spTree>
    <p:extLst>
      <p:ext uri="{BB962C8B-B14F-4D97-AF65-F5344CB8AC3E}">
        <p14:creationId xmlns:p14="http://schemas.microsoft.com/office/powerpoint/2010/main" val="3659062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5A29C74F-9F99-4048-A985-E249AB728706}" type="datetimeFigureOut">
              <a:rPr lang="en-US" smtClean="0"/>
              <a:t>4/22/24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BC49E352-9605-454D-8060-F44648BEA6BE}" type="slidenum">
              <a:rPr lang="en-US" smtClean="0"/>
              <a:t>‹#›</a:t>
            </a:fld>
            <a:endParaRPr lang="en-US"/>
          </a:p>
        </p:txBody>
      </p:sp>
    </p:spTree>
    <p:extLst>
      <p:ext uri="{BB962C8B-B14F-4D97-AF65-F5344CB8AC3E}">
        <p14:creationId xmlns:p14="http://schemas.microsoft.com/office/powerpoint/2010/main" val="10852459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emf"/><Relationship Id="rId7"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7.png"/><Relationship Id="rId12"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22.png"/><Relationship Id="rId7" Type="http://schemas.openxmlformats.org/officeDocument/2006/relationships/image" Target="../media/image55.png"/><Relationship Id="rId12"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3.png"/><Relationship Id="rId5" Type="http://schemas.openxmlformats.org/officeDocument/2006/relationships/image" Target="../media/image23.png"/><Relationship Id="rId10" Type="http://schemas.openxmlformats.org/officeDocument/2006/relationships/image" Target="../media/image58.png"/><Relationship Id="rId4" Type="http://schemas.openxmlformats.org/officeDocument/2006/relationships/image" Target="../media/image20.png"/><Relationship Id="rId9" Type="http://schemas.openxmlformats.org/officeDocument/2006/relationships/image" Target="../media/image57.png"/></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1.xml"/><Relationship Id="rId3" Type="http://schemas.openxmlformats.org/officeDocument/2006/relationships/image" Target="../media/image34.png"/><Relationship Id="rId7" Type="http://schemas.openxmlformats.org/officeDocument/2006/relationships/diagramQuickStyle" Target="../diagrams/quickStyle1.xml"/><Relationship Id="rId12" Type="http://schemas.openxmlformats.org/officeDocument/2006/relationships/diagramQuickStyle" Target="../diagrams/quickStyle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diagramData" Target="../diagrams/data2.xml"/><Relationship Id="rId4" Type="http://schemas.openxmlformats.org/officeDocument/2006/relationships/image" Target="../media/image4.emf"/><Relationship Id="rId9" Type="http://schemas.microsoft.com/office/2007/relationships/diagramDrawing" Target="../diagrams/drawing1.xml"/></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35.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37.png"/><Relationship Id="rId10" Type="http://schemas.openxmlformats.org/officeDocument/2006/relationships/image" Target="../media/image48.png"/><Relationship Id="rId4" Type="http://schemas.openxmlformats.org/officeDocument/2006/relationships/image" Target="../media/image36.png"/><Relationship Id="rId9" Type="http://schemas.openxmlformats.org/officeDocument/2006/relationships/image" Target="../media/image47.png"/><Relationship Id="rId14" Type="http://schemas.openxmlformats.org/officeDocument/2006/relationships/image" Target="../media/image4.emf"/></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4.emf"/><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38.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0.sv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emf"/><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4.e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4.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0.png"/><Relationship Id="rId7" Type="http://schemas.openxmlformats.org/officeDocument/2006/relationships/image" Target="../media/image6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19.png"/><Relationship Id="rId4" Type="http://schemas.openxmlformats.org/officeDocument/2006/relationships/image" Target="../media/image62.png"/><Relationship Id="rId9" Type="http://schemas.openxmlformats.org/officeDocument/2006/relationships/image" Target="../media/image63.png"/></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65.png"/></Relationships>
</file>

<file path=ppt/slides/_rels/slide19.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67.png"/><Relationship Id="rId7" Type="http://schemas.openxmlformats.org/officeDocument/2006/relationships/image" Target="../media/image7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10" Type="http://schemas.openxmlformats.org/officeDocument/2006/relationships/image" Target="../media/image69.png"/><Relationship Id="rId4" Type="http://schemas.openxmlformats.org/officeDocument/2006/relationships/image" Target="../media/image71.png"/><Relationship Id="rId9"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70.png"/></Relationships>
</file>

<file path=ppt/slides/_rels/slide2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76.png"/></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2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4.emf"/></Relationships>
</file>

<file path=ppt/slides/_rels/slide2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immeasurably.art/"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www.flexcompute.com/tidy3d/examples/notebooks/DistributedBraggReflectorCavity/" TargetMode="External"/><Relationship Id="rId4" Type="http://schemas.openxmlformats.org/officeDocument/2006/relationships/hyperlink" Target="https://immeasurably.art/projects/k4qQNz"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a flow of water&#10;&#10;Description automatically generated with medium confidence">
            <a:extLst>
              <a:ext uri="{FF2B5EF4-FFF2-40B4-BE49-F238E27FC236}">
                <a16:creationId xmlns:a16="http://schemas.microsoft.com/office/drawing/2014/main" id="{F9BB07DA-0255-5F40-8775-3F4ADEC43C76}"/>
              </a:ext>
            </a:extLst>
          </p:cNvPr>
          <p:cNvPicPr>
            <a:picLocks noChangeAspect="1"/>
          </p:cNvPicPr>
          <p:nvPr/>
        </p:nvPicPr>
        <p:blipFill rotWithShape="1">
          <a:blip r:embed="rId3"/>
          <a:srcRect l="10900" t="5349" r="1" b="6547"/>
          <a:stretch/>
        </p:blipFill>
        <p:spPr>
          <a:xfrm>
            <a:off x="-1" y="10"/>
            <a:ext cx="8615637" cy="6857990"/>
          </a:xfrm>
          <a:prstGeom prst="rect">
            <a:avLst/>
          </a:prstGeom>
        </p:spPr>
      </p:pic>
      <p:sp>
        <p:nvSpPr>
          <p:cNvPr id="20" name="Rectangle 19">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DD3AAB-E191-5866-A090-AC53A50C5661}"/>
              </a:ext>
            </a:extLst>
          </p:cNvPr>
          <p:cNvSpPr>
            <a:spLocks noGrp="1"/>
          </p:cNvSpPr>
          <p:nvPr>
            <p:ph type="ctrTitle"/>
          </p:nvPr>
        </p:nvSpPr>
        <p:spPr>
          <a:xfrm>
            <a:off x="8135430" y="1749287"/>
            <a:ext cx="3980372" cy="2349483"/>
          </a:xfrm>
          <a:noFill/>
        </p:spPr>
        <p:txBody>
          <a:bodyPr>
            <a:noAutofit/>
          </a:bodyPr>
          <a:lstStyle/>
          <a:p>
            <a:pPr algn="l"/>
            <a:r>
              <a:rPr lang="en-GB" sz="4000" dirty="0">
                <a:latin typeface="DIN Alternate" panose="020B0500000000000000" pitchFamily="34" charset="77"/>
                <a:cs typeface="Segoe UI Semibold" panose="020B0702040204020203" pitchFamily="34" charset="0"/>
              </a:rPr>
              <a:t>Visualising the Abraham-Minkowski Light Field Momentum</a:t>
            </a:r>
            <a:endParaRPr lang="en-US" sz="4000" dirty="0">
              <a:latin typeface="DIN Alternate" panose="020B0500000000000000" pitchFamily="34" charset="77"/>
            </a:endParaRPr>
          </a:p>
        </p:txBody>
      </p:sp>
      <p:sp>
        <p:nvSpPr>
          <p:cNvPr id="3" name="Subtitle 2">
            <a:extLst>
              <a:ext uri="{FF2B5EF4-FFF2-40B4-BE49-F238E27FC236}">
                <a16:creationId xmlns:a16="http://schemas.microsoft.com/office/drawing/2014/main" id="{DBBF6B7E-ABB3-EF30-E691-04460DD6D48D}"/>
              </a:ext>
            </a:extLst>
          </p:cNvPr>
          <p:cNvSpPr>
            <a:spLocks noGrp="1"/>
          </p:cNvSpPr>
          <p:nvPr>
            <p:ph type="subTitle" idx="1"/>
          </p:nvPr>
        </p:nvSpPr>
        <p:spPr>
          <a:xfrm>
            <a:off x="8135430" y="4946754"/>
            <a:ext cx="3708910" cy="843232"/>
          </a:xfrm>
          <a:noFill/>
        </p:spPr>
        <p:txBody>
          <a:bodyPr>
            <a:normAutofit/>
          </a:bodyPr>
          <a:lstStyle/>
          <a:p>
            <a:pPr algn="r"/>
            <a:r>
              <a:rPr lang="en-US" sz="2000" dirty="0">
                <a:latin typeface="DIN Alternate" panose="020B0500000000000000" pitchFamily="34" charset="77"/>
              </a:rPr>
              <a:t>By Mateo Guzmán Subiría</a:t>
            </a:r>
          </a:p>
          <a:p>
            <a:pPr algn="r"/>
            <a:r>
              <a:rPr lang="en-US" sz="2000" dirty="0">
                <a:latin typeface="DIN Alternate" panose="020B0500000000000000" pitchFamily="34" charset="77"/>
              </a:rPr>
              <a:t>Supervised by Dr Michael </a:t>
            </a:r>
            <a:r>
              <a:rPr lang="en-US" sz="2000" dirty="0" err="1">
                <a:latin typeface="DIN Alternate" panose="020B0500000000000000" pitchFamily="34" charset="77"/>
              </a:rPr>
              <a:t>Mazilu</a:t>
            </a:r>
            <a:endParaRPr lang="en-US" sz="2000" dirty="0">
              <a:latin typeface="DIN Alternate" panose="020B0500000000000000" pitchFamily="34" charset="77"/>
            </a:endParaRPr>
          </a:p>
          <a:p>
            <a:pPr algn="r"/>
            <a:endParaRPr lang="en-US" sz="2000" dirty="0">
              <a:latin typeface="DIN Alternate" panose="020B0500000000000000" pitchFamily="34" charset="77"/>
            </a:endParaRPr>
          </a:p>
        </p:txBody>
      </p:sp>
      <p:sp>
        <p:nvSpPr>
          <p:cNvPr id="5" name="TextBox 4">
            <a:extLst>
              <a:ext uri="{FF2B5EF4-FFF2-40B4-BE49-F238E27FC236}">
                <a16:creationId xmlns:a16="http://schemas.microsoft.com/office/drawing/2014/main" id="{F006961B-7B54-6F73-E37A-F37326778493}"/>
              </a:ext>
            </a:extLst>
          </p:cNvPr>
          <p:cNvSpPr txBox="1"/>
          <p:nvPr/>
        </p:nvSpPr>
        <p:spPr>
          <a:xfrm>
            <a:off x="0" y="6488668"/>
            <a:ext cx="3500846" cy="369332"/>
          </a:xfrm>
          <a:prstGeom prst="rect">
            <a:avLst/>
          </a:prstGeom>
          <a:noFill/>
        </p:spPr>
        <p:txBody>
          <a:bodyPr wrap="square">
            <a:spAutoFit/>
          </a:bodyPr>
          <a:lstStyle/>
          <a:p>
            <a:r>
              <a:rPr lang="en-GB" dirty="0">
                <a:solidFill>
                  <a:schemeClr val="tx2">
                    <a:lumMod val="50000"/>
                  </a:schemeClr>
                </a:solidFill>
                <a:latin typeface="Quicksand"/>
              </a:rPr>
              <a:t>Image c</a:t>
            </a:r>
            <a:r>
              <a:rPr lang="en-GB" b="0" i="0" dirty="0">
                <a:solidFill>
                  <a:schemeClr val="tx2">
                    <a:lumMod val="50000"/>
                  </a:schemeClr>
                </a:solidFill>
                <a:effectLst/>
                <a:latin typeface="Quicksand"/>
              </a:rPr>
              <a:t>redit: Zhang, et al. </a:t>
            </a:r>
            <a:r>
              <a:rPr lang="en-GB" dirty="0">
                <a:solidFill>
                  <a:schemeClr val="tx2">
                    <a:lumMod val="50000"/>
                  </a:schemeClr>
                </a:solidFill>
                <a:latin typeface="Quicksand"/>
              </a:rPr>
              <a:t>(</a:t>
            </a:r>
            <a:r>
              <a:rPr lang="en-GB" b="0" i="0" dirty="0">
                <a:solidFill>
                  <a:schemeClr val="tx2">
                    <a:lumMod val="50000"/>
                  </a:schemeClr>
                </a:solidFill>
                <a:effectLst/>
                <a:latin typeface="Quicksand"/>
              </a:rPr>
              <a:t>2015).</a:t>
            </a:r>
          </a:p>
        </p:txBody>
      </p:sp>
      <p:pic>
        <p:nvPicPr>
          <p:cNvPr id="7" name="Picture 6">
            <a:extLst>
              <a:ext uri="{FF2B5EF4-FFF2-40B4-BE49-F238E27FC236}">
                <a16:creationId xmlns:a16="http://schemas.microsoft.com/office/drawing/2014/main" id="{39C18639-C37F-7FEF-DBB8-1C1283C075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44190" y="-199543"/>
            <a:ext cx="1744789" cy="2159234"/>
          </a:xfrm>
          <a:prstGeom prst="rect">
            <a:avLst/>
          </a:prstGeom>
        </p:spPr>
      </p:pic>
    </p:spTree>
    <p:extLst>
      <p:ext uri="{BB962C8B-B14F-4D97-AF65-F5344CB8AC3E}">
        <p14:creationId xmlns:p14="http://schemas.microsoft.com/office/powerpoint/2010/main" val="2926320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lang="en-US" dirty="0">
                <a:latin typeface="DIN Alternate" panose="020B0500000000000000" pitchFamily="34" charset="77"/>
              </a:rPr>
              <a:t>Introduction</a:t>
            </a:r>
          </a:p>
        </p:txBody>
      </p:sp>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200" y="1351051"/>
            <a:ext cx="5618356" cy="1811249"/>
          </a:xfrm>
        </p:spPr>
        <p:txBody>
          <a:bodyPr anchor="ctr">
            <a:normAutofit/>
          </a:bodyPr>
          <a:lstStyle/>
          <a:p>
            <a:pPr>
              <a:spcBef>
                <a:spcPts val="800"/>
              </a:spcBef>
              <a:spcAft>
                <a:spcPts val="800"/>
              </a:spcAft>
            </a:pPr>
            <a:r>
              <a:rPr lang="en-GB" sz="2000" dirty="0">
                <a:latin typeface="Microsoft Sans Serif" panose="020B0604020202020204" pitchFamily="34" charset="0"/>
                <a:cs typeface="Microsoft Sans Serif" panose="020B0604020202020204" pitchFamily="34" charset="0"/>
              </a:rPr>
              <a:t>Light carries momentum	</a:t>
            </a:r>
            <a:endParaRPr lang="en-US" sz="2000" dirty="0">
              <a:latin typeface="Microsoft Sans Serif" panose="020B0604020202020204" pitchFamily="34" charset="0"/>
              <a:cs typeface="Microsoft Sans Serif" panose="020B0604020202020204" pitchFamily="34" charset="0"/>
            </a:endParaRPr>
          </a:p>
        </p:txBody>
      </p:sp>
      <p:pic>
        <p:nvPicPr>
          <p:cNvPr id="18" name="Picture 17" descr="A satellite in space with stars&#10;&#10;Description automatically generated">
            <a:extLst>
              <a:ext uri="{FF2B5EF4-FFF2-40B4-BE49-F238E27FC236}">
                <a16:creationId xmlns:a16="http://schemas.microsoft.com/office/drawing/2014/main" id="{CE21CD8E-B17E-254A-D03E-48E462D4E592}"/>
              </a:ext>
            </a:extLst>
          </p:cNvPr>
          <p:cNvPicPr>
            <a:picLocks noChangeAspect="1"/>
          </p:cNvPicPr>
          <p:nvPr/>
        </p:nvPicPr>
        <p:blipFill rotWithShape="1">
          <a:blip r:embed="rId3"/>
          <a:srcRect l="28746" r="28932"/>
          <a:stretch/>
        </p:blipFill>
        <p:spPr>
          <a:xfrm>
            <a:off x="7032170" y="0"/>
            <a:ext cx="5159830" cy="6858000"/>
          </a:xfrm>
          <a:prstGeom prst="rect">
            <a:avLst/>
          </a:prstGeom>
        </p:spPr>
      </p:pic>
      <p:sp>
        <p:nvSpPr>
          <p:cNvPr id="19" name="TextBox 18">
            <a:extLst>
              <a:ext uri="{FF2B5EF4-FFF2-40B4-BE49-F238E27FC236}">
                <a16:creationId xmlns:a16="http://schemas.microsoft.com/office/drawing/2014/main" id="{A56A11A0-FA6D-F022-999A-7FBD21AF367B}"/>
              </a:ext>
            </a:extLst>
          </p:cNvPr>
          <p:cNvSpPr txBox="1"/>
          <p:nvPr/>
        </p:nvSpPr>
        <p:spPr>
          <a:xfrm>
            <a:off x="7032169" y="6269862"/>
            <a:ext cx="3543065" cy="584775"/>
          </a:xfrm>
          <a:prstGeom prst="rect">
            <a:avLst/>
          </a:prstGeom>
          <a:noFill/>
        </p:spPr>
        <p:txBody>
          <a:bodyPr wrap="square">
            <a:spAutoFit/>
          </a:bodyPr>
          <a:lstStyle/>
          <a:p>
            <a:pPr>
              <a:spcAft>
                <a:spcPts val="600"/>
              </a:spcAft>
            </a:pPr>
            <a:r>
              <a:rPr lang="en-GB" sz="1600" dirty="0">
                <a:solidFill>
                  <a:srgbClr val="EEEEEE"/>
                </a:solidFill>
                <a:latin typeface="Quicksand"/>
              </a:rPr>
              <a:t>Fig. 1: Artistic impression of a solar sail in space. Image by </a:t>
            </a:r>
            <a:r>
              <a:rPr lang="en-GB" sz="1600" b="0" i="0" dirty="0">
                <a:solidFill>
                  <a:srgbClr val="EEEEEE"/>
                </a:solidFill>
                <a:effectLst/>
                <a:latin typeface="Quicksand"/>
              </a:rPr>
              <a:t>Bert Willemsen.</a:t>
            </a:r>
          </a:p>
        </p:txBody>
      </p:sp>
      <p:grpSp>
        <p:nvGrpSpPr>
          <p:cNvPr id="9" name="Group 8">
            <a:extLst>
              <a:ext uri="{FF2B5EF4-FFF2-40B4-BE49-F238E27FC236}">
                <a16:creationId xmlns:a16="http://schemas.microsoft.com/office/drawing/2014/main" id="{A453CA71-D582-1C31-3214-365B3AB26ED8}"/>
              </a:ext>
            </a:extLst>
          </p:cNvPr>
          <p:cNvGrpSpPr/>
          <p:nvPr/>
        </p:nvGrpSpPr>
        <p:grpSpPr>
          <a:xfrm>
            <a:off x="-1" y="5806572"/>
            <a:ext cx="1102141" cy="1052444"/>
            <a:chOff x="-1" y="5806572"/>
            <a:chExt cx="1102141" cy="1052444"/>
          </a:xfrm>
        </p:grpSpPr>
        <p:pic>
          <p:nvPicPr>
            <p:cNvPr id="8" name="Picture 7">
              <a:extLst>
                <a:ext uri="{FF2B5EF4-FFF2-40B4-BE49-F238E27FC236}">
                  <a16:creationId xmlns:a16="http://schemas.microsoft.com/office/drawing/2014/main" id="{470521FE-6779-4903-DD03-99A84FFD3E6B}"/>
                </a:ext>
              </a:extLst>
            </p:cNvPr>
            <p:cNvPicPr>
              <a:picLocks noChangeAspect="1"/>
            </p:cNvPicPr>
            <p:nvPr/>
          </p:nvPicPr>
          <p:blipFill rotWithShape="1">
            <a:blip r:embed="rId4"/>
            <a:srcRect l="49545" b="51820"/>
            <a:stretch/>
          </p:blipFill>
          <p:spPr>
            <a:xfrm>
              <a:off x="-1" y="5806572"/>
              <a:ext cx="1102141" cy="1052444"/>
            </a:xfrm>
            <a:prstGeom prst="rect">
              <a:avLst/>
            </a:prstGeom>
          </p:spPr>
        </p:pic>
        <p:sp>
          <p:nvSpPr>
            <p:cNvPr id="6" name="Title 1">
              <a:extLst>
                <a:ext uri="{FF2B5EF4-FFF2-40B4-BE49-F238E27FC236}">
                  <a16:creationId xmlns:a16="http://schemas.microsoft.com/office/drawing/2014/main" id="{3E9C6662-215E-D64E-DD33-EC8EDC20F027}"/>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2</a:t>
              </a:r>
            </a:p>
          </p:txBody>
        </p:sp>
      </p:grpSp>
      <mc:AlternateContent xmlns:mc="http://schemas.openxmlformats.org/markup-compatibility/2006" xmlns:a14="http://schemas.microsoft.com/office/drawing/2010/main">
        <mc:Choice Requires="a14">
          <p:graphicFrame>
            <p:nvGraphicFramePr>
              <p:cNvPr id="4" name="Table 6">
                <a:extLst>
                  <a:ext uri="{FF2B5EF4-FFF2-40B4-BE49-F238E27FC236}">
                    <a16:creationId xmlns:a16="http://schemas.microsoft.com/office/drawing/2014/main" id="{EC40C707-B07A-03F0-3856-D77312A7FCBC}"/>
                  </a:ext>
                </a:extLst>
              </p:cNvPr>
              <p:cNvGraphicFramePr>
                <a:graphicFrameLocks noGrp="1"/>
              </p:cNvGraphicFramePr>
              <p:nvPr>
                <p:extLst>
                  <p:ext uri="{D42A27DB-BD31-4B8C-83A1-F6EECF244321}">
                    <p14:modId xmlns:p14="http://schemas.microsoft.com/office/powerpoint/2010/main" val="2893068568"/>
                  </p:ext>
                </p:extLst>
              </p:nvPr>
            </p:nvGraphicFramePr>
            <p:xfrm>
              <a:off x="1234378" y="2893421"/>
              <a:ext cx="4825999" cy="1986471"/>
            </p:xfrm>
            <a:graphic>
              <a:graphicData uri="http://schemas.openxmlformats.org/drawingml/2006/table">
                <a:tbl>
                  <a:tblPr firstRow="1" bandRow="1">
                    <a:tableStyleId>{073A0DAA-6AF3-43AB-8588-CEC1D06C72B9}</a:tableStyleId>
                  </a:tblPr>
                  <a:tblGrid>
                    <a:gridCol w="2418701">
                      <a:extLst>
                        <a:ext uri="{9D8B030D-6E8A-4147-A177-3AD203B41FA5}">
                          <a16:colId xmlns:a16="http://schemas.microsoft.com/office/drawing/2014/main" val="880377988"/>
                        </a:ext>
                      </a:extLst>
                    </a:gridCol>
                    <a:gridCol w="2407298">
                      <a:extLst>
                        <a:ext uri="{9D8B030D-6E8A-4147-A177-3AD203B41FA5}">
                          <a16:colId xmlns:a16="http://schemas.microsoft.com/office/drawing/2014/main" val="225732227"/>
                        </a:ext>
                      </a:extLst>
                    </a:gridCol>
                  </a:tblGrid>
                  <a:tr h="370840">
                    <a:tc>
                      <a:txBody>
                        <a:bodyPr/>
                        <a:lstStyle/>
                        <a:p>
                          <a:pPr algn="ctr"/>
                          <a:r>
                            <a:rPr lang="en-US" sz="2000" dirty="0">
                              <a:solidFill>
                                <a:schemeClr val="tx1"/>
                              </a:solidFill>
                              <a:latin typeface="Microsoft Sans Serif" panose="020B0604020202020204" pitchFamily="34" charset="0"/>
                              <a:cs typeface="Microsoft Sans Serif" panose="020B0604020202020204" pitchFamily="34" charset="0"/>
                            </a:rPr>
                            <a:t>Vacuum</a:t>
                          </a:r>
                          <a:endParaRPr lang="en-GB" sz="2000" dirty="0">
                            <a:solidFill>
                              <a:schemeClr val="tx1"/>
                            </a:solidFill>
                            <a:latin typeface="Microsoft Sans Serif" panose="020B0604020202020204" pitchFamily="34" charset="0"/>
                            <a:cs typeface="Microsoft Sans Serif" panose="020B0604020202020204"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Microsoft Sans Serif" panose="020B0604020202020204" pitchFamily="34" charset="0"/>
                              <a:cs typeface="Microsoft Sans Serif" panose="020B0604020202020204" pitchFamily="34" charset="0"/>
                            </a:rPr>
                            <a:t>Dielectric media[1]</a:t>
                          </a:r>
                          <a:endParaRPr lang="en-GB" sz="2000" dirty="0">
                            <a:solidFill>
                              <a:schemeClr val="tx1"/>
                            </a:solidFill>
                            <a:latin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2585779"/>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dirty="0">
                              <a:solidFill>
                                <a:schemeClr val="tx1"/>
                              </a:solidFill>
                              <a:latin typeface="Microsoft Sans Serif" panose="020B0604020202020204" pitchFamily="34" charset="0"/>
                              <a:cs typeface="Microsoft Sans Serif" panose="020B0604020202020204" pitchFamily="34" charset="0"/>
                            </a:rPr>
                            <a:t> </a:t>
                          </a:r>
                          <a14:m>
                            <m:oMath xmlns:m="http://schemas.openxmlformats.org/officeDocument/2006/math">
                              <m:sSub>
                                <m:sSubPr>
                                  <m:ctrlPr>
                                    <a:rPr lang="en-US" sz="2000" b="1" i="1" kern="100" smtClean="0">
                                      <a:solidFill>
                                        <a:schemeClr val="tx1"/>
                                      </a:solidFill>
                                      <a:effectLst/>
                                      <a:latin typeface="Cambria Math" panose="02040503050406030204" pitchFamily="18" charset="0"/>
                                    </a:rPr>
                                  </m:ctrlPr>
                                </m:sSubPr>
                                <m:e>
                                  <m:r>
                                    <a:rPr lang="en-US" sz="2000" b="1" kern="100" smtClean="0">
                                      <a:solidFill>
                                        <a:schemeClr val="tx1"/>
                                      </a:solidFill>
                                      <a:effectLst/>
                                      <a:latin typeface="Cambria Math" panose="02040503050406030204" pitchFamily="18" charset="0"/>
                                    </a:rPr>
                                    <m:t>𝐠</m:t>
                                  </m:r>
                                </m:e>
                                <m:sub>
                                  <m:r>
                                    <a:rPr lang="en-US" sz="2000" b="1" kern="100" smtClean="0">
                                      <a:solidFill>
                                        <a:schemeClr val="tx1"/>
                                      </a:solidFill>
                                      <a:effectLst/>
                                      <a:latin typeface="Cambria Math" panose="02040503050406030204" pitchFamily="18" charset="0"/>
                                    </a:rPr>
                                    <m:t>𝐯𝐚𝐜</m:t>
                                  </m:r>
                                </m:sub>
                              </m:sSub>
                              <m:r>
                                <a:rPr lang="en-US" sz="2000" b="0" kern="100" smtClean="0">
                                  <a:solidFill>
                                    <a:schemeClr val="tx1"/>
                                  </a:solidFill>
                                  <a:effectLst/>
                                  <a:latin typeface="Cambria Math" panose="02040503050406030204" pitchFamily="18" charset="0"/>
                                </a:rPr>
                                <m:t>=</m:t>
                              </m:r>
                              <m:sSub>
                                <m:sSubPr>
                                  <m:ctrlPr>
                                    <a:rPr lang="en-US" sz="2000" i="1" kern="100" smtClean="0">
                                      <a:solidFill>
                                        <a:schemeClr val="tx1"/>
                                      </a:solidFill>
                                      <a:effectLst/>
                                      <a:latin typeface="Cambria Math" panose="02040503050406030204" pitchFamily="18" charset="0"/>
                                    </a:rPr>
                                  </m:ctrlPr>
                                </m:sSubPr>
                                <m:e>
                                  <m:r>
                                    <a:rPr lang="en-US" sz="2000" b="0" kern="100" smtClean="0">
                                      <a:solidFill>
                                        <a:schemeClr val="tx1"/>
                                      </a:solidFill>
                                      <a:effectLst/>
                                      <a:latin typeface="Cambria Math" panose="02040503050406030204" pitchFamily="18" charset="0"/>
                                    </a:rPr>
                                    <m:t>𝜀</m:t>
                                  </m:r>
                                </m:e>
                                <m:sub>
                                  <m:r>
                                    <a:rPr lang="en-US" sz="2000" b="0" kern="100" smtClean="0">
                                      <a:solidFill>
                                        <a:schemeClr val="tx1"/>
                                      </a:solidFill>
                                      <a:effectLst/>
                                      <a:latin typeface="Cambria Math" panose="02040503050406030204" pitchFamily="18" charset="0"/>
                                    </a:rPr>
                                    <m:t>0</m:t>
                                  </m:r>
                                </m:sub>
                              </m:sSub>
                              <m:r>
                                <a:rPr lang="en-US" sz="2000" b="1" kern="100">
                                  <a:solidFill>
                                    <a:schemeClr val="tx1"/>
                                  </a:solidFill>
                                  <a:latin typeface="Cambria Math" panose="02040503050406030204" pitchFamily="18" charset="0"/>
                                </a:rPr>
                                <m:t>𝐄</m:t>
                              </m:r>
                              <m:r>
                                <a:rPr lang="en-US" sz="2000" b="1" kern="100">
                                  <a:solidFill>
                                    <a:schemeClr val="tx1"/>
                                  </a:solidFill>
                                  <a:latin typeface="Cambria Math" panose="02040503050406030204" pitchFamily="18" charset="0"/>
                                </a:rPr>
                                <m:t>×</m:t>
                              </m:r>
                              <m:r>
                                <a:rPr lang="en-US" sz="2000" b="1" kern="100">
                                  <a:solidFill>
                                    <a:schemeClr val="tx1"/>
                                  </a:solidFill>
                                  <a:latin typeface="Cambria Math" panose="02040503050406030204" pitchFamily="18" charset="0"/>
                                </a:rPr>
                                <m:t>𝐁</m:t>
                              </m:r>
                            </m:oMath>
                          </a14:m>
                          <a:endParaRPr lang="en-GB" sz="2000" dirty="0">
                            <a:solidFill>
                              <a:schemeClr val="tx1"/>
                            </a:solidFill>
                            <a:latin typeface="Microsoft Sans Serif" panose="020B0604020202020204" pitchFamily="34" charset="0"/>
                            <a:cs typeface="Microsoft Sans Serif" panose="020B0604020202020204" pitchFamily="34" charset="0"/>
                          </a:endParaRPr>
                        </a:p>
                        <a:p>
                          <a:pPr algn="ctr"/>
                          <a:endParaRPr lang="en-GB" sz="2000" dirty="0">
                            <a:solidFill>
                              <a:schemeClr val="tx1"/>
                            </a:solidFill>
                            <a:latin typeface="Microsoft Sans Serif" panose="020B0604020202020204" pitchFamily="34" charset="0"/>
                            <a:cs typeface="Microsoft Sans Serif" panose="020B0604020202020204" pitchFamily="34"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dirty="0">
                              <a:solidFill>
                                <a:schemeClr val="tx1"/>
                              </a:solidFill>
                              <a:latin typeface="Microsoft Sans Serif" panose="020B0604020202020204" pitchFamily="34" charset="0"/>
                              <a:cs typeface="Microsoft Sans Serif" panose="020B0604020202020204" pitchFamily="34" charset="0"/>
                            </a:rPr>
                            <a:t>Abraham </a:t>
                          </a:r>
                          <a14:m>
                            <m:oMath xmlns:m="http://schemas.openxmlformats.org/officeDocument/2006/math">
                              <m:r>
                                <a:rPr lang="en-US" sz="2000" b="1" smtClean="0">
                                  <a:solidFill>
                                    <a:schemeClr val="tx1"/>
                                  </a:solidFill>
                                  <a:latin typeface="Cambria Math" panose="02040503050406030204" pitchFamily="18" charset="0"/>
                                </a:rPr>
                                <m:t>𝐠</m:t>
                              </m:r>
                              <m:r>
                                <a:rPr lang="en-GB" sz="2000" smtClean="0">
                                  <a:solidFill>
                                    <a:schemeClr val="tx1"/>
                                  </a:solidFill>
                                  <a:latin typeface="Cambria Math" panose="02040503050406030204" pitchFamily="18" charset="0"/>
                                </a:rPr>
                                <m:t>∝</m:t>
                              </m:r>
                              <m:f>
                                <m:fPr>
                                  <m:ctrlPr>
                                    <a:rPr lang="en-US" sz="2000" b="0" i="1" smtClean="0">
                                      <a:solidFill>
                                        <a:schemeClr val="tx1"/>
                                      </a:solidFill>
                                      <a:latin typeface="Cambria Math" panose="02040503050406030204" pitchFamily="18" charset="0"/>
                                    </a:rPr>
                                  </m:ctrlPr>
                                </m:fPr>
                                <m:num>
                                  <m:r>
                                    <a:rPr lang="en-US" sz="2000" b="0" smtClean="0">
                                      <a:solidFill>
                                        <a:schemeClr val="tx1"/>
                                      </a:solidFill>
                                      <a:latin typeface="Cambria Math" panose="02040503050406030204" pitchFamily="18" charset="0"/>
                                    </a:rPr>
                                    <m:t>1</m:t>
                                  </m:r>
                                </m:num>
                                <m:den>
                                  <m:r>
                                    <a:rPr lang="en-US" sz="2000" b="0" smtClean="0">
                                      <a:solidFill>
                                        <a:schemeClr val="tx1"/>
                                      </a:solidFill>
                                      <a:latin typeface="Cambria Math" panose="02040503050406030204" pitchFamily="18" charset="0"/>
                                    </a:rPr>
                                    <m:t>𝑛</m:t>
                                  </m:r>
                                </m:den>
                              </m:f>
                            </m:oMath>
                          </a14:m>
                          <a:endParaRPr lang="en-GB" sz="2000" dirty="0">
                            <a:solidFill>
                              <a:schemeClr val="tx1"/>
                            </a:solidFill>
                            <a:latin typeface="Microsoft Sans Serif" panose="020B0604020202020204" pitchFamily="34" charset="0"/>
                            <a:cs typeface="Microsoft Sans Serif" panose="020B0604020202020204" pitchFamily="34" charset="0"/>
                          </a:endParaRPr>
                        </a:p>
                        <a:p>
                          <a:pPr algn="ctr">
                            <a:spcBef>
                              <a:spcPts val="1200"/>
                            </a:spcBef>
                          </a:pPr>
                          <a:r>
                            <a:rPr lang="en-GB" sz="2000" dirty="0">
                              <a:solidFill>
                                <a:schemeClr val="tx1"/>
                              </a:solidFill>
                              <a:latin typeface="Microsoft Sans Serif" panose="020B0604020202020204" pitchFamily="34" charset="0"/>
                              <a:cs typeface="Microsoft Sans Serif" panose="020B0604020202020204" pitchFamily="34" charset="0"/>
                            </a:rPr>
                            <a:t>vs</a:t>
                          </a:r>
                        </a:p>
                        <a:p>
                          <a:pPr algn="ctr"/>
                          <a:endParaRPr lang="en-GB" sz="2000" dirty="0">
                            <a:solidFill>
                              <a:schemeClr val="tx1"/>
                            </a:solidFill>
                            <a:latin typeface="Microsoft Sans Serif" panose="020B0604020202020204" pitchFamily="34" charset="0"/>
                            <a:cs typeface="Microsoft Sans Serif" panose="020B0604020202020204" pitchFamily="34" charset="0"/>
                          </a:endParaRPr>
                        </a:p>
                        <a:p>
                          <a:pPr algn="ctr"/>
                          <a:r>
                            <a:rPr lang="en-GB" sz="2000" dirty="0">
                              <a:solidFill>
                                <a:schemeClr val="tx1"/>
                              </a:solidFill>
                              <a:latin typeface="Microsoft Sans Serif" panose="020B0604020202020204" pitchFamily="34" charset="0"/>
                              <a:cs typeface="Microsoft Sans Serif" panose="020B0604020202020204" pitchFamily="34" charset="0"/>
                            </a:rPr>
                            <a:t>Minkowski </a:t>
                          </a:r>
                          <a14:m>
                            <m:oMath xmlns:m="http://schemas.openxmlformats.org/officeDocument/2006/math">
                              <m:r>
                                <a:rPr lang="en-US" sz="2000" b="1" smtClean="0">
                                  <a:solidFill>
                                    <a:schemeClr val="tx1"/>
                                  </a:solidFill>
                                  <a:latin typeface="Cambria Math" panose="02040503050406030204" pitchFamily="18" charset="0"/>
                                </a:rPr>
                                <m:t>𝐠</m:t>
                              </m:r>
                              <m:r>
                                <a:rPr lang="en-GB" sz="2000">
                                  <a:solidFill>
                                    <a:schemeClr val="tx1"/>
                                  </a:solidFill>
                                  <a:latin typeface="Cambria Math" panose="02040503050406030204" pitchFamily="18" charset="0"/>
                                </a:rPr>
                                <m:t>∝</m:t>
                              </m:r>
                              <m:r>
                                <a:rPr lang="en-US" sz="2000" b="0" smtClean="0">
                                  <a:solidFill>
                                    <a:schemeClr val="tx1"/>
                                  </a:solidFill>
                                  <a:latin typeface="Cambria Math" panose="02040503050406030204" pitchFamily="18" charset="0"/>
                                </a:rPr>
                                <m:t>𝑛</m:t>
                              </m:r>
                            </m:oMath>
                          </a14:m>
                          <a:endParaRPr lang="en-GB" sz="2000" dirty="0">
                            <a:solidFill>
                              <a:schemeClr val="tx1"/>
                            </a:solidFill>
                            <a:latin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7999662"/>
                      </a:ext>
                    </a:extLst>
                  </a:tr>
                </a:tbl>
              </a:graphicData>
            </a:graphic>
          </p:graphicFrame>
        </mc:Choice>
        <mc:Fallback xmlns="">
          <p:graphicFrame>
            <p:nvGraphicFramePr>
              <p:cNvPr id="4" name="Table 6">
                <a:extLst>
                  <a:ext uri="{FF2B5EF4-FFF2-40B4-BE49-F238E27FC236}">
                    <a16:creationId xmlns:a16="http://schemas.microsoft.com/office/drawing/2014/main" id="{EC40C707-B07A-03F0-3856-D77312A7FCBC}"/>
                  </a:ext>
                </a:extLst>
              </p:cNvPr>
              <p:cNvGraphicFramePr>
                <a:graphicFrameLocks noGrp="1"/>
              </p:cNvGraphicFramePr>
              <p:nvPr>
                <p:extLst>
                  <p:ext uri="{D42A27DB-BD31-4B8C-83A1-F6EECF244321}">
                    <p14:modId xmlns:p14="http://schemas.microsoft.com/office/powerpoint/2010/main" val="2893068568"/>
                  </p:ext>
                </p:extLst>
              </p:nvPr>
            </p:nvGraphicFramePr>
            <p:xfrm>
              <a:off x="1234378" y="2893421"/>
              <a:ext cx="4825999" cy="1986471"/>
            </p:xfrm>
            <a:graphic>
              <a:graphicData uri="http://schemas.openxmlformats.org/drawingml/2006/table">
                <a:tbl>
                  <a:tblPr firstRow="1" bandRow="1">
                    <a:tableStyleId>{073A0DAA-6AF3-43AB-8588-CEC1D06C72B9}</a:tableStyleId>
                  </a:tblPr>
                  <a:tblGrid>
                    <a:gridCol w="2418701">
                      <a:extLst>
                        <a:ext uri="{9D8B030D-6E8A-4147-A177-3AD203B41FA5}">
                          <a16:colId xmlns:a16="http://schemas.microsoft.com/office/drawing/2014/main" val="880377988"/>
                        </a:ext>
                      </a:extLst>
                    </a:gridCol>
                    <a:gridCol w="2407298">
                      <a:extLst>
                        <a:ext uri="{9D8B030D-6E8A-4147-A177-3AD203B41FA5}">
                          <a16:colId xmlns:a16="http://schemas.microsoft.com/office/drawing/2014/main" val="225732227"/>
                        </a:ext>
                      </a:extLst>
                    </a:gridCol>
                  </a:tblGrid>
                  <a:tr h="396240">
                    <a:tc>
                      <a:txBody>
                        <a:bodyPr/>
                        <a:lstStyle/>
                        <a:p>
                          <a:pPr algn="ctr"/>
                          <a:r>
                            <a:rPr lang="en-US" sz="2000" dirty="0">
                              <a:solidFill>
                                <a:schemeClr val="tx1"/>
                              </a:solidFill>
                              <a:latin typeface="Microsoft Sans Serif" panose="020B0604020202020204" pitchFamily="34" charset="0"/>
                              <a:cs typeface="Microsoft Sans Serif" panose="020B0604020202020204" pitchFamily="34" charset="0"/>
                            </a:rPr>
                            <a:t>Vacuum</a:t>
                          </a:r>
                          <a:endParaRPr lang="en-GB" sz="2000" dirty="0">
                            <a:solidFill>
                              <a:schemeClr val="tx1"/>
                            </a:solidFill>
                            <a:latin typeface="Microsoft Sans Serif" panose="020B0604020202020204" pitchFamily="34" charset="0"/>
                            <a:cs typeface="Microsoft Sans Serif" panose="020B0604020202020204"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Microsoft Sans Serif" panose="020B0604020202020204" pitchFamily="34" charset="0"/>
                              <a:cs typeface="Microsoft Sans Serif" panose="020B0604020202020204" pitchFamily="34" charset="0"/>
                            </a:rPr>
                            <a:t>Dielectric media[1]</a:t>
                          </a:r>
                          <a:endParaRPr lang="en-GB" sz="2000" dirty="0">
                            <a:solidFill>
                              <a:schemeClr val="tx1"/>
                            </a:solidFill>
                            <a:latin typeface="Microsoft Sans Serif" panose="020B0604020202020204" pitchFamily="34" charset="0"/>
                            <a:cs typeface="Microsoft Sans Serif" panose="020B0604020202020204"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2585779"/>
                      </a:ext>
                    </a:extLst>
                  </a:tr>
                  <a:tr h="1590231">
                    <a:tc>
                      <a:txBody>
                        <a:bodyPr/>
                        <a:lstStyle/>
                        <a:p>
                          <a:endParaRPr lang="en-US"/>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5"/>
                          <a:stretch>
                            <a:fillRect l="-524" t="-26984" r="-100000" b="-634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5"/>
                          <a:stretch>
                            <a:fillRect l="-101053" t="-26984" r="-526" b="-6349"/>
                          </a:stretch>
                        </a:blipFill>
                      </a:tcPr>
                    </a:tc>
                    <a:extLst>
                      <a:ext uri="{0D108BD9-81ED-4DB2-BD59-A6C34878D82A}">
                        <a16:rowId xmlns:a16="http://schemas.microsoft.com/office/drawing/2014/main" val="1457999662"/>
                      </a:ext>
                    </a:extLst>
                  </a:tr>
                </a:tbl>
              </a:graphicData>
            </a:graphic>
          </p:graphicFrame>
        </mc:Fallback>
      </mc:AlternateContent>
      <p:sp>
        <p:nvSpPr>
          <p:cNvPr id="5" name="TextBox 4">
            <a:extLst>
              <a:ext uri="{FF2B5EF4-FFF2-40B4-BE49-F238E27FC236}">
                <a16:creationId xmlns:a16="http://schemas.microsoft.com/office/drawing/2014/main" id="{07BBA871-8C8E-AF14-9145-492DAD6D4F8D}"/>
              </a:ext>
            </a:extLst>
          </p:cNvPr>
          <p:cNvSpPr txBox="1"/>
          <p:nvPr/>
        </p:nvSpPr>
        <p:spPr>
          <a:xfrm>
            <a:off x="1234378" y="6422262"/>
            <a:ext cx="2509292" cy="338554"/>
          </a:xfrm>
          <a:prstGeom prst="rect">
            <a:avLst/>
          </a:prstGeom>
          <a:noFill/>
        </p:spPr>
        <p:txBody>
          <a:bodyPr wrap="square">
            <a:spAutoFit/>
          </a:bodyPr>
          <a:lstStyle/>
          <a:p>
            <a:pPr>
              <a:spcAft>
                <a:spcPts val="600"/>
              </a:spcAft>
            </a:pPr>
            <a:r>
              <a:rPr lang="en-GB" sz="1600" b="0" i="0" dirty="0">
                <a:effectLst/>
                <a:latin typeface="Archivo"/>
              </a:rPr>
              <a:t>[1] Boyd and </a:t>
            </a:r>
            <a:r>
              <a:rPr lang="en-GB" sz="1600" b="0" i="0" dirty="0" err="1">
                <a:effectLst/>
                <a:latin typeface="Archivo"/>
              </a:rPr>
              <a:t>Milonni</a:t>
            </a:r>
            <a:r>
              <a:rPr lang="en-GB" sz="1600" b="0" i="0" dirty="0">
                <a:effectLst/>
                <a:latin typeface="Archivo"/>
              </a:rPr>
              <a:t>, 2010.</a:t>
            </a:r>
            <a:endParaRPr lang="en-GB" sz="1600" b="0" i="0" dirty="0">
              <a:effectLst/>
              <a:latin typeface="Quicksand"/>
            </a:endParaRPr>
          </a:p>
        </p:txBody>
      </p:sp>
    </p:spTree>
    <p:extLst>
      <p:ext uri="{BB962C8B-B14F-4D97-AF65-F5344CB8AC3E}">
        <p14:creationId xmlns:p14="http://schemas.microsoft.com/office/powerpoint/2010/main" val="1684327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lang="en-US" dirty="0">
                <a:latin typeface="DIN Alternate" panose="020B0500000000000000" pitchFamily="34" charset="77"/>
              </a:rPr>
              <a:t>Project Outline</a:t>
            </a:r>
          </a:p>
        </p:txBody>
      </p:sp>
      <p:grpSp>
        <p:nvGrpSpPr>
          <p:cNvPr id="9" name="Group 8">
            <a:extLst>
              <a:ext uri="{FF2B5EF4-FFF2-40B4-BE49-F238E27FC236}">
                <a16:creationId xmlns:a16="http://schemas.microsoft.com/office/drawing/2014/main" id="{A453CA71-D582-1C31-3214-365B3AB26ED8}"/>
              </a:ext>
            </a:extLst>
          </p:cNvPr>
          <p:cNvGrpSpPr/>
          <p:nvPr/>
        </p:nvGrpSpPr>
        <p:grpSpPr>
          <a:xfrm>
            <a:off x="-1" y="5806572"/>
            <a:ext cx="1102141" cy="1052444"/>
            <a:chOff x="-1" y="5806572"/>
            <a:chExt cx="1102141" cy="1052444"/>
          </a:xfrm>
        </p:grpSpPr>
        <p:pic>
          <p:nvPicPr>
            <p:cNvPr id="8" name="Picture 7">
              <a:extLst>
                <a:ext uri="{FF2B5EF4-FFF2-40B4-BE49-F238E27FC236}">
                  <a16:creationId xmlns:a16="http://schemas.microsoft.com/office/drawing/2014/main" id="{470521FE-6779-4903-DD03-99A84FFD3E6B}"/>
                </a:ext>
              </a:extLst>
            </p:cNvPr>
            <p:cNvPicPr>
              <a:picLocks noChangeAspect="1"/>
            </p:cNvPicPr>
            <p:nvPr/>
          </p:nvPicPr>
          <p:blipFill rotWithShape="1">
            <a:blip r:embed="rId3"/>
            <a:srcRect l="49545" b="51820"/>
            <a:stretch/>
          </p:blipFill>
          <p:spPr>
            <a:xfrm>
              <a:off x="-1" y="5806572"/>
              <a:ext cx="1102141" cy="1052444"/>
            </a:xfrm>
            <a:prstGeom prst="rect">
              <a:avLst/>
            </a:prstGeom>
          </p:spPr>
        </p:pic>
        <p:sp>
          <p:nvSpPr>
            <p:cNvPr id="6" name="Title 1">
              <a:extLst>
                <a:ext uri="{FF2B5EF4-FFF2-40B4-BE49-F238E27FC236}">
                  <a16:creationId xmlns:a16="http://schemas.microsoft.com/office/drawing/2014/main" id="{3E9C6662-215E-D64E-DD33-EC8EDC20F027}"/>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3</a:t>
              </a:r>
            </a:p>
          </p:txBody>
        </p:sp>
      </p:grpSp>
      <p:graphicFrame>
        <p:nvGraphicFramePr>
          <p:cNvPr id="7" name="Table 6">
            <a:extLst>
              <a:ext uri="{FF2B5EF4-FFF2-40B4-BE49-F238E27FC236}">
                <a16:creationId xmlns:a16="http://schemas.microsoft.com/office/drawing/2014/main" id="{12E97594-BEB8-D9D8-AF31-C8984A5E79BA}"/>
              </a:ext>
            </a:extLst>
          </p:cNvPr>
          <p:cNvGraphicFramePr>
            <a:graphicFrameLocks noGrp="1"/>
          </p:cNvGraphicFramePr>
          <p:nvPr>
            <p:extLst>
              <p:ext uri="{D42A27DB-BD31-4B8C-83A1-F6EECF244321}">
                <p14:modId xmlns:p14="http://schemas.microsoft.com/office/powerpoint/2010/main" val="1783491656"/>
              </p:ext>
            </p:extLst>
          </p:nvPr>
        </p:nvGraphicFramePr>
        <p:xfrm>
          <a:off x="1016979" y="2604781"/>
          <a:ext cx="10158042" cy="3027811"/>
        </p:xfrm>
        <a:graphic>
          <a:graphicData uri="http://schemas.openxmlformats.org/drawingml/2006/table">
            <a:tbl>
              <a:tblPr firstRow="1" bandRow="1">
                <a:tableStyleId>{5C22544A-7EE6-4342-B048-85BDC9FD1C3A}</a:tableStyleId>
              </a:tblPr>
              <a:tblGrid>
                <a:gridCol w="3386014">
                  <a:extLst>
                    <a:ext uri="{9D8B030D-6E8A-4147-A177-3AD203B41FA5}">
                      <a16:colId xmlns:a16="http://schemas.microsoft.com/office/drawing/2014/main" val="541596699"/>
                    </a:ext>
                  </a:extLst>
                </a:gridCol>
                <a:gridCol w="3386014">
                  <a:extLst>
                    <a:ext uri="{9D8B030D-6E8A-4147-A177-3AD203B41FA5}">
                      <a16:colId xmlns:a16="http://schemas.microsoft.com/office/drawing/2014/main" val="1352845770"/>
                    </a:ext>
                  </a:extLst>
                </a:gridCol>
                <a:gridCol w="3386014">
                  <a:extLst>
                    <a:ext uri="{9D8B030D-6E8A-4147-A177-3AD203B41FA5}">
                      <a16:colId xmlns:a16="http://schemas.microsoft.com/office/drawing/2014/main" val="1544730274"/>
                    </a:ext>
                  </a:extLst>
                </a:gridCol>
              </a:tblGrid>
              <a:tr h="802771">
                <a:tc>
                  <a:txBody>
                    <a:bodyPr/>
                    <a:lstStyle/>
                    <a:p>
                      <a:pPr algn="ctr"/>
                      <a:r>
                        <a:rPr lang="en-US" sz="2800" dirty="0">
                          <a:solidFill>
                            <a:schemeClr val="tx1"/>
                          </a:solidFill>
                        </a:rPr>
                        <a:t>Goal</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rPr>
                        <a:t>Implementation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rPr>
                        <a:t>Measurements</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65998"/>
                  </a:ext>
                </a:extLst>
              </a:tr>
              <a:tr h="2123309">
                <a:tc>
                  <a:txBody>
                    <a:bodyPr/>
                    <a:lstStyle/>
                    <a:p>
                      <a:pPr marL="401638" marR="0" lvl="0" indent="-2095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000" dirty="0">
                          <a:solidFill>
                            <a:schemeClr val="tx1"/>
                          </a:solidFill>
                          <a:latin typeface="Microsoft Sans Serif" panose="020B0604020202020204" pitchFamily="34" charset="0"/>
                          <a:cs typeface="Microsoft Sans Serif" panose="020B0604020202020204" pitchFamily="34" charset="0"/>
                        </a:rPr>
                        <a:t>To visualise EM fields and their momenta in linear dielectrics</a:t>
                      </a: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368300" marR="0" lvl="0" indent="-2238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000" dirty="0">
                          <a:solidFill>
                            <a:schemeClr val="tx1"/>
                          </a:solidFill>
                          <a:latin typeface="Microsoft Sans Serif" panose="020B0604020202020204" pitchFamily="34" charset="0"/>
                          <a:cs typeface="Microsoft Sans Serif" panose="020B0604020202020204" pitchFamily="34" charset="0"/>
                        </a:rPr>
                        <a:t>Simulations of pulses propagating through photonic crystal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401638" marR="0" lvl="0" indent="-2571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000" dirty="0">
                          <a:solidFill>
                            <a:schemeClr val="tx1"/>
                          </a:solidFill>
                          <a:latin typeface="Microsoft Sans Serif" panose="020B0604020202020204" pitchFamily="34" charset="0"/>
                          <a:cs typeface="Microsoft Sans Serif" panose="020B0604020202020204" pitchFamily="34" charset="0"/>
                        </a:rPr>
                        <a:t>Field intensities</a:t>
                      </a:r>
                    </a:p>
                    <a:p>
                      <a:pPr marL="401638" marR="0" lvl="0" indent="-2571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000" dirty="0">
                          <a:solidFill>
                            <a:schemeClr val="tx1"/>
                          </a:solidFill>
                          <a:latin typeface="Microsoft Sans Serif" panose="020B0604020202020204" pitchFamily="34" charset="0"/>
                          <a:cs typeface="Microsoft Sans Serif" panose="020B0604020202020204" pitchFamily="34" charset="0"/>
                        </a:rPr>
                        <a:t>The Maxwell           Stress Tensor</a:t>
                      </a:r>
                    </a:p>
                    <a:p>
                      <a:pPr marL="401638" marR="0" lvl="0" indent="-2571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chemeClr val="tx1"/>
                          </a:solidFill>
                          <a:latin typeface="Microsoft Sans Serif" panose="020B0604020202020204" pitchFamily="34" charset="0"/>
                          <a:cs typeface="Microsoft Sans Serif" panose="020B0604020202020204" pitchFamily="34" charset="0"/>
                        </a:rPr>
                        <a:t>The </a:t>
                      </a:r>
                      <a:r>
                        <a:rPr lang="en-GB" sz="2000" dirty="0">
                          <a:solidFill>
                            <a:schemeClr val="tx1"/>
                          </a:solidFill>
                          <a:latin typeface="Microsoft Sans Serif" panose="020B0604020202020204" pitchFamily="34" charset="0"/>
                          <a:cs typeface="Microsoft Sans Serif" panose="020B0604020202020204" pitchFamily="34" charset="0"/>
                        </a:rPr>
                        <a:t>Lorentz force</a:t>
                      </a:r>
                    </a:p>
                    <a:p>
                      <a:pPr marL="401638" marR="0" lvl="0" indent="-2571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000" dirty="0">
                          <a:solidFill>
                            <a:schemeClr val="tx1"/>
                          </a:solidFill>
                          <a:latin typeface="Microsoft Sans Serif" panose="020B0604020202020204" pitchFamily="34" charset="0"/>
                          <a:cs typeface="Microsoft Sans Serif" panose="020B0604020202020204" pitchFamily="34" charset="0"/>
                        </a:rPr>
                        <a:t>The accumulated impulse in optical system sections</a:t>
                      </a:r>
                    </a:p>
                  </a:txBody>
                  <a:tcPr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47261874"/>
                  </a:ext>
                </a:extLst>
              </a:tr>
            </a:tbl>
          </a:graphicData>
        </a:graphic>
      </p:graphicFrame>
      <p:pic>
        <p:nvPicPr>
          <p:cNvPr id="13" name="Graphic 12" descr="Bullseye with solid fill">
            <a:extLst>
              <a:ext uri="{FF2B5EF4-FFF2-40B4-BE49-F238E27FC236}">
                <a16:creationId xmlns:a16="http://schemas.microsoft.com/office/drawing/2014/main" id="{58B1A6B4-FAE8-B72D-09C5-BBD6FC3D13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92486" y="1690381"/>
            <a:ext cx="914400" cy="914400"/>
          </a:xfrm>
          <a:prstGeom prst="rect">
            <a:avLst/>
          </a:prstGeom>
        </p:spPr>
      </p:pic>
      <p:pic>
        <p:nvPicPr>
          <p:cNvPr id="17" name="Graphic 16" descr="Gears with solid fill">
            <a:extLst>
              <a:ext uri="{FF2B5EF4-FFF2-40B4-BE49-F238E27FC236}">
                <a16:creationId xmlns:a16="http://schemas.microsoft.com/office/drawing/2014/main" id="{3D62DF98-7985-5710-3577-510782F4955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8800" y="1690381"/>
            <a:ext cx="914400" cy="914400"/>
          </a:xfrm>
          <a:prstGeom prst="rect">
            <a:avLst/>
          </a:prstGeom>
        </p:spPr>
      </p:pic>
      <p:pic>
        <p:nvPicPr>
          <p:cNvPr id="21" name="Graphic 20" descr="Ruler with solid fill">
            <a:extLst>
              <a:ext uri="{FF2B5EF4-FFF2-40B4-BE49-F238E27FC236}">
                <a16:creationId xmlns:a16="http://schemas.microsoft.com/office/drawing/2014/main" id="{1C3EC575-5006-23A7-F59A-96ED51F810C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57489" y="1690381"/>
            <a:ext cx="914400" cy="914400"/>
          </a:xfrm>
          <a:prstGeom prst="rect">
            <a:avLst/>
          </a:prstGeom>
        </p:spPr>
      </p:pic>
    </p:spTree>
    <p:extLst>
      <p:ext uri="{BB962C8B-B14F-4D97-AF65-F5344CB8AC3E}">
        <p14:creationId xmlns:p14="http://schemas.microsoft.com/office/powerpoint/2010/main" val="3181429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F807-3623-4E4D-86D0-582E0EA1ACF7}"/>
              </a:ext>
            </a:extLst>
          </p:cNvPr>
          <p:cNvSpPr>
            <a:spLocks noGrp="1"/>
          </p:cNvSpPr>
          <p:nvPr>
            <p:ph type="title"/>
          </p:nvPr>
        </p:nvSpPr>
        <p:spPr>
          <a:xfrm>
            <a:off x="3823986" y="3187311"/>
            <a:ext cx="4544028" cy="1325563"/>
          </a:xfrm>
        </p:spPr>
        <p:txBody>
          <a:bodyPr>
            <a:normAutofit/>
          </a:bodyPr>
          <a:lstStyle/>
          <a:p>
            <a:pPr algn="ctr"/>
            <a:r>
              <a:rPr lang="en-US" sz="6000" dirty="0">
                <a:latin typeface="DIN Alternate" panose="020B0500000000000000" pitchFamily="34" charset="77"/>
              </a:rPr>
              <a:t>Background</a:t>
            </a:r>
            <a:endParaRPr lang="en-GB" sz="6000" dirty="0"/>
          </a:p>
        </p:txBody>
      </p:sp>
      <p:pic>
        <p:nvPicPr>
          <p:cNvPr id="5" name="Graphic 4" descr="Books with solid fill">
            <a:extLst>
              <a:ext uri="{FF2B5EF4-FFF2-40B4-BE49-F238E27FC236}">
                <a16:creationId xmlns:a16="http://schemas.microsoft.com/office/drawing/2014/main" id="{C44E53EB-D6D6-8A8C-6017-59F2543B50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800" y="2196322"/>
            <a:ext cx="914400" cy="914400"/>
          </a:xfrm>
          <a:prstGeom prst="rect">
            <a:avLst/>
          </a:prstGeom>
        </p:spPr>
      </p:pic>
    </p:spTree>
    <p:extLst>
      <p:ext uri="{BB962C8B-B14F-4D97-AF65-F5344CB8AC3E}">
        <p14:creationId xmlns:p14="http://schemas.microsoft.com/office/powerpoint/2010/main" val="3557071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Photonic Crystals</a:t>
            </a:r>
            <a:endParaRPr lang="en-US" dirty="0">
              <a:latin typeface="DIN Alternate" panose="020B0500000000000000" pitchFamily="34" charset="77"/>
            </a:endParaRPr>
          </a:p>
        </p:txBody>
      </p:sp>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7518400" y="975654"/>
            <a:ext cx="4313044" cy="4906691"/>
          </a:xfrm>
        </p:spPr>
        <p:txBody>
          <a:bodyPr anchor="ctr">
            <a:normAutofit/>
          </a:bodyPr>
          <a:lstStyle/>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Materials with periodically modulated dielectric constants [2]</a:t>
            </a:r>
          </a:p>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We dehomogenise dielectric media and represent them as photonic crystals</a:t>
            </a:r>
          </a:p>
        </p:txBody>
      </p:sp>
      <p:sp>
        <p:nvSpPr>
          <p:cNvPr id="10" name="Rectangle 2">
            <a:extLst>
              <a:ext uri="{FF2B5EF4-FFF2-40B4-BE49-F238E27FC236}">
                <a16:creationId xmlns:a16="http://schemas.microsoft.com/office/drawing/2014/main" id="{1E45F3C7-E7CD-96CE-CC74-041C1F709514}"/>
              </a:ext>
            </a:extLst>
          </p:cNvPr>
          <p:cNvSpPr>
            <a:spLocks noChangeArrowheads="1"/>
          </p:cNvSpPr>
          <p:nvPr/>
        </p:nvSpPr>
        <p:spPr bwMode="auto">
          <a:xfrm>
            <a:off x="6096000" y="270787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5" name="Group 4">
            <a:extLst>
              <a:ext uri="{FF2B5EF4-FFF2-40B4-BE49-F238E27FC236}">
                <a16:creationId xmlns:a16="http://schemas.microsoft.com/office/drawing/2014/main" id="{DC7CDB7C-7748-3081-AD9D-95FBE9619F9B}"/>
              </a:ext>
            </a:extLst>
          </p:cNvPr>
          <p:cNvGrpSpPr/>
          <p:nvPr/>
        </p:nvGrpSpPr>
        <p:grpSpPr>
          <a:xfrm>
            <a:off x="788505" y="2017846"/>
            <a:ext cx="6467926" cy="3364325"/>
            <a:chOff x="6312063" y="2372816"/>
            <a:chExt cx="6467926" cy="3364325"/>
          </a:xfrm>
        </p:grpSpPr>
        <p:pic>
          <p:nvPicPr>
            <p:cNvPr id="1028" name="Picture 4" descr="Figure 2.Schematic illustrations of photonic crystals (a) 1D (b) 2D and (c) 3D">
              <a:extLst>
                <a:ext uri="{FF2B5EF4-FFF2-40B4-BE49-F238E27FC236}">
                  <a16:creationId xmlns:a16="http://schemas.microsoft.com/office/drawing/2014/main" id="{B285B300-1021-562E-9624-1C91DC4D8A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024"/>
            <a:stretch/>
          </p:blipFill>
          <p:spPr bwMode="auto">
            <a:xfrm>
              <a:off x="6312063" y="2372816"/>
              <a:ext cx="6467926" cy="2638285"/>
            </a:xfrm>
            <a:prstGeom prst="rect">
              <a:avLst/>
            </a:prstGeom>
            <a:noFill/>
            <a:ln w="38100">
              <a:solidFill>
                <a:schemeClr val="tx1">
                  <a:lumMod val="75000"/>
                </a:schemeClr>
              </a:solidFill>
              <a:miter lim="800000"/>
            </a:ln>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4FE08451-701B-BBC9-27B1-A8ABF223C233}"/>
                </a:ext>
              </a:extLst>
            </p:cNvPr>
            <p:cNvSpPr txBox="1"/>
            <p:nvPr/>
          </p:nvSpPr>
          <p:spPr>
            <a:xfrm>
              <a:off x="6312063" y="5152366"/>
              <a:ext cx="6467926" cy="584775"/>
            </a:xfrm>
            <a:prstGeom prst="rect">
              <a:avLst/>
            </a:prstGeom>
            <a:noFill/>
          </p:spPr>
          <p:txBody>
            <a:bodyPr wrap="square">
              <a:spAutoFit/>
            </a:bodyPr>
            <a:lstStyle/>
            <a:p>
              <a:pPr>
                <a:spcAft>
                  <a:spcPts val="600"/>
                </a:spcAft>
              </a:pPr>
              <a:r>
                <a:rPr lang="en-GB" sz="1600" dirty="0">
                  <a:solidFill>
                    <a:srgbClr val="EEEEEE"/>
                  </a:solidFill>
                  <a:latin typeface="Quicksand"/>
                </a:rPr>
                <a:t>Fig. 2: Schematic illustrations of photonic crystals with simple periodic patterns in 1D, 2D and 3D. Taken from (Robinson and </a:t>
              </a:r>
              <a:r>
                <a:rPr lang="en-GB" sz="1600" dirty="0" err="1">
                  <a:solidFill>
                    <a:srgbClr val="EEEEEE"/>
                  </a:solidFill>
                  <a:latin typeface="Quicksand"/>
                </a:rPr>
                <a:t>Nakkeeran</a:t>
              </a:r>
              <a:r>
                <a:rPr lang="en-GB" sz="1600" dirty="0">
                  <a:solidFill>
                    <a:srgbClr val="EEEEEE"/>
                  </a:solidFill>
                  <a:latin typeface="Quicksand"/>
                </a:rPr>
                <a:t>, 2013).</a:t>
              </a:r>
              <a:endParaRPr lang="en-GB" sz="1600" b="0" i="0" dirty="0">
                <a:solidFill>
                  <a:srgbClr val="EEEEEE"/>
                </a:solidFill>
                <a:effectLst/>
                <a:latin typeface="Quicksand"/>
              </a:endParaRPr>
            </a:p>
          </p:txBody>
        </p:sp>
      </p:grpSp>
      <p:grpSp>
        <p:nvGrpSpPr>
          <p:cNvPr id="6" name="Group 5">
            <a:extLst>
              <a:ext uri="{FF2B5EF4-FFF2-40B4-BE49-F238E27FC236}">
                <a16:creationId xmlns:a16="http://schemas.microsoft.com/office/drawing/2014/main" id="{B0BEC790-FBA8-9538-508F-62436DA08626}"/>
              </a:ext>
            </a:extLst>
          </p:cNvPr>
          <p:cNvGrpSpPr/>
          <p:nvPr/>
        </p:nvGrpSpPr>
        <p:grpSpPr>
          <a:xfrm>
            <a:off x="-1" y="5806572"/>
            <a:ext cx="1102141" cy="1052444"/>
            <a:chOff x="-1" y="5806572"/>
            <a:chExt cx="1102141" cy="1052444"/>
          </a:xfrm>
        </p:grpSpPr>
        <p:pic>
          <p:nvPicPr>
            <p:cNvPr id="7" name="Picture 6">
              <a:extLst>
                <a:ext uri="{FF2B5EF4-FFF2-40B4-BE49-F238E27FC236}">
                  <a16:creationId xmlns:a16="http://schemas.microsoft.com/office/drawing/2014/main" id="{61EDDB62-DEA6-8944-1209-A31FBC66B5FD}"/>
                </a:ext>
              </a:extLst>
            </p:cNvPr>
            <p:cNvPicPr>
              <a:picLocks noChangeAspect="1"/>
            </p:cNvPicPr>
            <p:nvPr/>
          </p:nvPicPr>
          <p:blipFill rotWithShape="1">
            <a:blip r:embed="rId4"/>
            <a:srcRect l="49545" b="51820"/>
            <a:stretch/>
          </p:blipFill>
          <p:spPr>
            <a:xfrm>
              <a:off x="-1" y="5806572"/>
              <a:ext cx="1102141" cy="1052444"/>
            </a:xfrm>
            <a:prstGeom prst="rect">
              <a:avLst/>
            </a:prstGeom>
          </p:spPr>
        </p:pic>
        <p:sp>
          <p:nvSpPr>
            <p:cNvPr id="8" name="Title 1">
              <a:extLst>
                <a:ext uri="{FF2B5EF4-FFF2-40B4-BE49-F238E27FC236}">
                  <a16:creationId xmlns:a16="http://schemas.microsoft.com/office/drawing/2014/main" id="{F62517C7-EE36-BA03-F235-9446613E8F83}"/>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5</a:t>
              </a:r>
            </a:p>
          </p:txBody>
        </p:sp>
      </p:grpSp>
      <p:sp>
        <p:nvSpPr>
          <p:cNvPr id="9" name="TextBox 8">
            <a:extLst>
              <a:ext uri="{FF2B5EF4-FFF2-40B4-BE49-F238E27FC236}">
                <a16:creationId xmlns:a16="http://schemas.microsoft.com/office/drawing/2014/main" id="{49F04D12-A9EF-CC67-5AEC-4A80D3050CB2}"/>
              </a:ext>
            </a:extLst>
          </p:cNvPr>
          <p:cNvSpPr txBox="1"/>
          <p:nvPr/>
        </p:nvSpPr>
        <p:spPr>
          <a:xfrm>
            <a:off x="1234377" y="6422262"/>
            <a:ext cx="3839427" cy="338554"/>
          </a:xfrm>
          <a:prstGeom prst="rect">
            <a:avLst/>
          </a:prstGeom>
          <a:noFill/>
        </p:spPr>
        <p:txBody>
          <a:bodyPr wrap="square">
            <a:spAutoFit/>
          </a:bodyPr>
          <a:lstStyle/>
          <a:p>
            <a:pPr>
              <a:spcAft>
                <a:spcPts val="600"/>
              </a:spcAft>
            </a:pPr>
            <a:r>
              <a:rPr lang="en-GB" sz="1600" b="0" i="0" dirty="0">
                <a:effectLst/>
                <a:latin typeface="Archivo"/>
              </a:rPr>
              <a:t>[2] </a:t>
            </a:r>
            <a:r>
              <a:rPr kumimoji="0" lang="en-US" sz="1600" b="0" i="0" u="none" strike="noStrike" kern="1200" cap="none" spc="0" normalizeH="0" baseline="0" noProof="0" dirty="0" err="1">
                <a:ln>
                  <a:noFill/>
                </a:ln>
                <a:effectLst/>
                <a:uLnTx/>
                <a:uFillTx/>
                <a:latin typeface="Aptos" panose="02110004020202020204"/>
                <a:ea typeface="+mn-ea"/>
                <a:cs typeface="+mn-cs"/>
              </a:rPr>
              <a:t>Yablonovitch</a:t>
            </a:r>
            <a:r>
              <a:rPr lang="en-GB" sz="1600" dirty="0">
                <a:solidFill>
                  <a:srgbClr val="EEEEEE"/>
                </a:solidFill>
                <a:latin typeface="Quicksand"/>
              </a:rPr>
              <a:t>, 1994</a:t>
            </a:r>
            <a:r>
              <a:rPr lang="en-GB" sz="1600" b="0" i="0" dirty="0">
                <a:effectLst/>
                <a:latin typeface="Archivo"/>
              </a:rPr>
              <a:t>.</a:t>
            </a:r>
            <a:endParaRPr lang="en-GB" sz="1600" b="0" i="0" dirty="0">
              <a:effectLst/>
              <a:latin typeface="Quicksand"/>
            </a:endParaRPr>
          </a:p>
        </p:txBody>
      </p:sp>
    </p:spTree>
    <p:extLst>
      <p:ext uri="{BB962C8B-B14F-4D97-AF65-F5344CB8AC3E}">
        <p14:creationId xmlns:p14="http://schemas.microsoft.com/office/powerpoint/2010/main" val="45703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9432073" cy="1325563"/>
          </a:xfrm>
        </p:spPr>
        <p:txBody>
          <a:bodyPr>
            <a:normAutofit/>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The Transfer Matrix Method (TMM) [3]</a:t>
            </a:r>
            <a:endParaRPr lang="en-US" dirty="0">
              <a:latin typeface="DIN Alternate" panose="020B0500000000000000" pitchFamily="34" charset="77"/>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200" y="1344180"/>
                <a:ext cx="4648200" cy="4906691"/>
              </a:xfrm>
            </p:spPr>
            <p:txBody>
              <a:bodyPr anchor="ctr">
                <a:noAutofit/>
              </a:bodyPr>
              <a:lstStyle/>
              <a:p>
                <a:pPr>
                  <a:spcBef>
                    <a:spcPts val="2000"/>
                  </a:spcBef>
                  <a:spcAft>
                    <a:spcPts val="2000"/>
                  </a:spcAft>
                </a:pPr>
                <a:r>
                  <a:rPr lang="en-GB" sz="2000" dirty="0">
                    <a:latin typeface="Microsoft Sans Serif" panose="020B0604020202020204" pitchFamily="34" charset="0"/>
                    <a:cs typeface="Microsoft Sans Serif" panose="020B0604020202020204" pitchFamily="34" charset="0"/>
                  </a:rPr>
                  <a:t>Plane waves (PW) </a:t>
                </a:r>
                <a14:m>
                  <m:oMath xmlns:m="http://schemas.openxmlformats.org/officeDocument/2006/math">
                    <m:r>
                      <a:rPr lang="en-US" sz="2000" b="0" i="1" smtClean="0">
                        <a:latin typeface="Cambria Math" panose="02040503050406030204" pitchFamily="18" charset="0"/>
                        <a:cs typeface="Microsoft Sans Serif" panose="020B0604020202020204" pitchFamily="34" charset="0"/>
                      </a:rPr>
                      <m:t>→</m:t>
                    </m:r>
                  </m:oMath>
                </a14:m>
                <a:r>
                  <a:rPr lang="en-GB" sz="2000" dirty="0">
                    <a:latin typeface="Microsoft Sans Serif" panose="020B0604020202020204" pitchFamily="34" charset="0"/>
                    <a:cs typeface="Microsoft Sans Serif" panose="020B0604020202020204" pitchFamily="34" charset="0"/>
                  </a:rPr>
                  <a:t> Fourier components of an EM wave: light pulse</a:t>
                </a:r>
              </a:p>
              <a:p>
                <a:pPr>
                  <a:spcBef>
                    <a:spcPts val="2000"/>
                  </a:spcBef>
                  <a:spcAft>
                    <a:spcPts val="2000"/>
                  </a:spcAft>
                </a:pPr>
                <a:r>
                  <a:rPr lang="en-GB" sz="2000" dirty="0">
                    <a:latin typeface="Microsoft Sans Serif" panose="020B0604020202020204" pitchFamily="34" charset="0"/>
                    <a:cs typeface="Microsoft Sans Serif" panose="020B0604020202020204" pitchFamily="34" charset="0"/>
                  </a:rPr>
                  <a:t>Plane waves are represented by complex amplitudes</a:t>
                </a:r>
              </a:p>
              <a:p>
                <a:pPr>
                  <a:spcBef>
                    <a:spcPts val="2000"/>
                  </a:spcBef>
                  <a:spcAft>
                    <a:spcPts val="2000"/>
                  </a:spcAft>
                </a:pPr>
                <a:r>
                  <a:rPr lang="en-GB" sz="2000" dirty="0">
                    <a:latin typeface="Microsoft Sans Serif" panose="020B0604020202020204" pitchFamily="34" charset="0"/>
                    <a:cs typeface="Microsoft Sans Serif" panose="020B0604020202020204" pitchFamily="34" charset="0"/>
                  </a:rPr>
                  <a:t>The optical properties of elements (layers &amp; interfaces) are represented as matrices</a:t>
                </a: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200" y="1344180"/>
                <a:ext cx="4648200" cy="4906691"/>
              </a:xfrm>
              <a:blipFill>
                <a:blip r:embed="rId3"/>
                <a:stretch>
                  <a:fillRect l="-1362"/>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8FC7F79D-38F6-8FE2-3558-D048EDF37E03}"/>
              </a:ext>
            </a:extLst>
          </p:cNvPr>
          <p:cNvGrpSpPr/>
          <p:nvPr/>
        </p:nvGrpSpPr>
        <p:grpSpPr>
          <a:xfrm>
            <a:off x="-1" y="5806572"/>
            <a:ext cx="1102141" cy="1052444"/>
            <a:chOff x="-1" y="5806572"/>
            <a:chExt cx="1102141" cy="1052444"/>
          </a:xfrm>
        </p:grpSpPr>
        <p:pic>
          <p:nvPicPr>
            <p:cNvPr id="8" name="Picture 7">
              <a:extLst>
                <a:ext uri="{FF2B5EF4-FFF2-40B4-BE49-F238E27FC236}">
                  <a16:creationId xmlns:a16="http://schemas.microsoft.com/office/drawing/2014/main" id="{FA30318F-622D-6302-460B-2983CEB169A2}"/>
                </a:ext>
              </a:extLst>
            </p:cNvPr>
            <p:cNvPicPr>
              <a:picLocks noChangeAspect="1"/>
            </p:cNvPicPr>
            <p:nvPr/>
          </p:nvPicPr>
          <p:blipFill rotWithShape="1">
            <a:blip r:embed="rId4"/>
            <a:srcRect l="49545" b="51820"/>
            <a:stretch/>
          </p:blipFill>
          <p:spPr>
            <a:xfrm>
              <a:off x="-1" y="5806572"/>
              <a:ext cx="1102141" cy="1052444"/>
            </a:xfrm>
            <a:prstGeom prst="rect">
              <a:avLst/>
            </a:prstGeom>
          </p:spPr>
        </p:pic>
        <p:sp>
          <p:nvSpPr>
            <p:cNvPr id="9" name="Title 1">
              <a:extLst>
                <a:ext uri="{FF2B5EF4-FFF2-40B4-BE49-F238E27FC236}">
                  <a16:creationId xmlns:a16="http://schemas.microsoft.com/office/drawing/2014/main" id="{FDAA4119-E74B-DA34-7324-78908CFD0C5B}"/>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6</a:t>
              </a:r>
            </a:p>
          </p:txBody>
        </p:sp>
      </p:grpSp>
      <p:pic>
        <p:nvPicPr>
          <p:cNvPr id="14" name="Picture 13" descr="A diagram of a number of objects&#10;&#10;Description automatically generated with medium confidence">
            <a:extLst>
              <a:ext uri="{FF2B5EF4-FFF2-40B4-BE49-F238E27FC236}">
                <a16:creationId xmlns:a16="http://schemas.microsoft.com/office/drawing/2014/main" id="{F9584EC8-717F-83B5-9F95-74511D5CE0B0}"/>
              </a:ext>
            </a:extLst>
          </p:cNvPr>
          <p:cNvPicPr>
            <a:picLocks noChangeAspect="1"/>
          </p:cNvPicPr>
          <p:nvPr/>
        </p:nvPicPr>
        <p:blipFill>
          <a:blip r:embed="rId5"/>
          <a:stretch>
            <a:fillRect/>
          </a:stretch>
        </p:blipFill>
        <p:spPr>
          <a:xfrm>
            <a:off x="6324601" y="1262151"/>
            <a:ext cx="5519524" cy="4011124"/>
          </a:xfrm>
          <a:prstGeom prst="rect">
            <a:avLst/>
          </a:prstGeom>
          <a:noFill/>
          <a:ln w="38100">
            <a:solidFill>
              <a:schemeClr val="tx1">
                <a:lumMod val="65000"/>
              </a:schemeClr>
            </a:solidFill>
            <a:miter lim="800000"/>
          </a:ln>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5C883EE-AB29-FF5C-D581-3FC272DAA53E}"/>
                  </a:ext>
                </a:extLst>
              </p:cNvPr>
              <p:cNvSpPr txBox="1"/>
              <p:nvPr/>
            </p:nvSpPr>
            <p:spPr>
              <a:xfrm>
                <a:off x="6220268" y="5302813"/>
                <a:ext cx="5743132" cy="830997"/>
              </a:xfrm>
              <a:prstGeom prst="rect">
                <a:avLst/>
              </a:prstGeom>
              <a:noFill/>
            </p:spPr>
            <p:txBody>
              <a:bodyPr wrap="square">
                <a:spAutoFit/>
              </a:bodyPr>
              <a:lstStyle/>
              <a:p>
                <a:pPr>
                  <a:spcAft>
                    <a:spcPts val="600"/>
                  </a:spcAft>
                </a:pPr>
                <a:r>
                  <a:rPr lang="en-GB" sz="1600" dirty="0">
                    <a:solidFill>
                      <a:srgbClr val="EEEEEE"/>
                    </a:solidFill>
                    <a:latin typeface="Quicksand"/>
                  </a:rPr>
                  <a:t>Fig. 3: A diagram illustrating the working principle behind the S and M matrices of an optical element (grey rectangle). The subscripts </a:t>
                </a:r>
                <a14:m>
                  <m:oMath xmlns:m="http://schemas.openxmlformats.org/officeDocument/2006/math">
                    <m:r>
                      <a:rPr lang="en-GB" sz="1600" i="1" dirty="0" smtClean="0">
                        <a:solidFill>
                          <a:srgbClr val="EEEEEE"/>
                        </a:solidFill>
                        <a:latin typeface="Cambria Math" panose="02040503050406030204" pitchFamily="18" charset="0"/>
                      </a:rPr>
                      <m:t>𝑖</m:t>
                    </m:r>
                  </m:oMath>
                </a14:m>
                <a:r>
                  <a:rPr lang="en-GB" sz="1600" dirty="0">
                    <a:solidFill>
                      <a:srgbClr val="EEEEEE"/>
                    </a:solidFill>
                    <a:latin typeface="Quicksand"/>
                  </a:rPr>
                  <a:t> and </a:t>
                </a:r>
                <a14:m>
                  <m:oMath xmlns:m="http://schemas.openxmlformats.org/officeDocument/2006/math">
                    <m:r>
                      <a:rPr lang="en-US" sz="1600" b="0" i="1" dirty="0" smtClean="0">
                        <a:solidFill>
                          <a:srgbClr val="EEEEEE"/>
                        </a:solidFill>
                        <a:latin typeface="Cambria Math" panose="02040503050406030204" pitchFamily="18" charset="0"/>
                      </a:rPr>
                      <m:t>𝑗</m:t>
                    </m:r>
                  </m:oMath>
                </a14:m>
                <a:r>
                  <a:rPr lang="en-GB" sz="1600" dirty="0">
                    <a:solidFill>
                      <a:srgbClr val="EEEEEE"/>
                    </a:solidFill>
                    <a:latin typeface="Quicksand"/>
                  </a:rPr>
                  <a:t> refer to positions relative to the element.</a:t>
                </a:r>
                <a:endParaRPr lang="en-GB" sz="1600" b="0" i="0" dirty="0">
                  <a:solidFill>
                    <a:srgbClr val="EEEEEE"/>
                  </a:solidFill>
                  <a:effectLst/>
                  <a:latin typeface="Quicksand"/>
                </a:endParaRPr>
              </a:p>
            </p:txBody>
          </p:sp>
        </mc:Choice>
        <mc:Fallback xmlns="">
          <p:sp>
            <p:nvSpPr>
              <p:cNvPr id="15" name="TextBox 14">
                <a:extLst>
                  <a:ext uri="{FF2B5EF4-FFF2-40B4-BE49-F238E27FC236}">
                    <a16:creationId xmlns:a16="http://schemas.microsoft.com/office/drawing/2014/main" id="{65C883EE-AB29-FF5C-D581-3FC272DAA53E}"/>
                  </a:ext>
                </a:extLst>
              </p:cNvPr>
              <p:cNvSpPr txBox="1">
                <a:spLocks noRot="1" noChangeAspect="1" noMove="1" noResize="1" noEditPoints="1" noAdjustHandles="1" noChangeArrowheads="1" noChangeShapeType="1" noTextEdit="1"/>
              </p:cNvSpPr>
              <p:nvPr/>
            </p:nvSpPr>
            <p:spPr>
              <a:xfrm>
                <a:off x="6220268" y="5302813"/>
                <a:ext cx="5743132" cy="830997"/>
              </a:xfrm>
              <a:prstGeom prst="rect">
                <a:avLst/>
              </a:prstGeom>
              <a:blipFill>
                <a:blip r:embed="rId6"/>
                <a:stretch>
                  <a:fillRect l="-441" t="-1515" r="-441" b="-7576"/>
                </a:stretch>
              </a:blipFill>
            </p:spPr>
            <p:txBody>
              <a:bodyPr/>
              <a:lstStyle/>
              <a:p>
                <a:r>
                  <a:rPr lang="en-US">
                    <a:noFill/>
                  </a:rPr>
                  <a:t> </a:t>
                </a:r>
              </a:p>
            </p:txBody>
          </p:sp>
        </mc:Fallback>
      </mc:AlternateContent>
      <p:sp>
        <p:nvSpPr>
          <p:cNvPr id="20" name="Curved Down Arrow 19">
            <a:extLst>
              <a:ext uri="{FF2B5EF4-FFF2-40B4-BE49-F238E27FC236}">
                <a16:creationId xmlns:a16="http://schemas.microsoft.com/office/drawing/2014/main" id="{A840B00D-1913-35EF-E775-63458CF16D7E}"/>
              </a:ext>
            </a:extLst>
          </p:cNvPr>
          <p:cNvSpPr/>
          <p:nvPr/>
        </p:nvSpPr>
        <p:spPr>
          <a:xfrm>
            <a:off x="7873999" y="1806254"/>
            <a:ext cx="2579233" cy="555172"/>
          </a:xfrm>
          <a:prstGeom prst="curvedDownArrow">
            <a:avLst>
              <a:gd name="adj1" fmla="val 25000"/>
              <a:gd name="adj2" fmla="val 58894"/>
              <a:gd name="adj3" fmla="val 48530"/>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Curved Down Arrow 20">
            <a:extLst>
              <a:ext uri="{FF2B5EF4-FFF2-40B4-BE49-F238E27FC236}">
                <a16:creationId xmlns:a16="http://schemas.microsoft.com/office/drawing/2014/main" id="{A6391EED-1C4C-AAD9-2DAA-844CB7266A8C}"/>
              </a:ext>
            </a:extLst>
          </p:cNvPr>
          <p:cNvSpPr/>
          <p:nvPr/>
        </p:nvSpPr>
        <p:spPr>
          <a:xfrm>
            <a:off x="7873998" y="3828030"/>
            <a:ext cx="2579233" cy="555172"/>
          </a:xfrm>
          <a:prstGeom prst="curvedDownArrow">
            <a:avLst>
              <a:gd name="adj1" fmla="val 25000"/>
              <a:gd name="adj2" fmla="val 58894"/>
              <a:gd name="adj3" fmla="val 48530"/>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2E00AEEA-EEA7-C11B-04BA-11655E652C91}"/>
              </a:ext>
            </a:extLst>
          </p:cNvPr>
          <p:cNvSpPr txBox="1"/>
          <p:nvPr/>
        </p:nvSpPr>
        <p:spPr>
          <a:xfrm>
            <a:off x="1234377" y="6422262"/>
            <a:ext cx="3839427" cy="338554"/>
          </a:xfrm>
          <a:prstGeom prst="rect">
            <a:avLst/>
          </a:prstGeom>
          <a:noFill/>
        </p:spPr>
        <p:txBody>
          <a:bodyPr wrap="square">
            <a:spAutoFit/>
          </a:bodyPr>
          <a:lstStyle/>
          <a:p>
            <a:pPr>
              <a:spcAft>
                <a:spcPts val="600"/>
              </a:spcAft>
            </a:pPr>
            <a:r>
              <a:rPr lang="en-GB" sz="1600" b="0" i="0" dirty="0">
                <a:effectLst/>
                <a:latin typeface="Archivo"/>
              </a:rPr>
              <a:t>[3] </a:t>
            </a:r>
            <a:r>
              <a:rPr lang="en-GB" sz="1600" dirty="0">
                <a:solidFill>
                  <a:srgbClr val="EEEEEE"/>
                </a:solidFill>
                <a:latin typeface="Quicksand"/>
              </a:rPr>
              <a:t>Mackay and A. </a:t>
            </a:r>
            <a:r>
              <a:rPr lang="en-GB" sz="1600" dirty="0" err="1">
                <a:solidFill>
                  <a:srgbClr val="EEEEEE"/>
                </a:solidFill>
                <a:latin typeface="Quicksand"/>
              </a:rPr>
              <a:t>Lakhtakia</a:t>
            </a:r>
            <a:r>
              <a:rPr lang="en-GB" sz="1600" dirty="0">
                <a:solidFill>
                  <a:srgbClr val="EEEEEE"/>
                </a:solidFill>
                <a:latin typeface="Quicksand"/>
              </a:rPr>
              <a:t>, 2020</a:t>
            </a:r>
            <a:r>
              <a:rPr lang="en-GB" sz="1600" b="0" i="0" dirty="0">
                <a:effectLst/>
                <a:latin typeface="Archivo"/>
              </a:rPr>
              <a:t>.</a:t>
            </a:r>
            <a:endParaRPr lang="en-GB" sz="1600" b="0" i="0" dirty="0">
              <a:effectLst/>
              <a:latin typeface="Quicksand"/>
            </a:endParaRPr>
          </a:p>
        </p:txBody>
      </p:sp>
    </p:spTree>
    <p:extLst>
      <p:ext uri="{BB962C8B-B14F-4D97-AF65-F5344CB8AC3E}">
        <p14:creationId xmlns:p14="http://schemas.microsoft.com/office/powerpoint/2010/main" val="2139282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F807-3623-4E4D-86D0-582E0EA1ACF7}"/>
              </a:ext>
            </a:extLst>
          </p:cNvPr>
          <p:cNvSpPr>
            <a:spLocks noGrp="1"/>
          </p:cNvSpPr>
          <p:nvPr>
            <p:ph type="title"/>
          </p:nvPr>
        </p:nvSpPr>
        <p:spPr>
          <a:xfrm>
            <a:off x="3378843" y="3289300"/>
            <a:ext cx="5434314" cy="1325563"/>
          </a:xfrm>
        </p:spPr>
        <p:txBody>
          <a:bodyPr>
            <a:normAutofit/>
          </a:bodyPr>
          <a:lstStyle/>
          <a:p>
            <a:pPr algn="ctr"/>
            <a:r>
              <a:rPr lang="en-US" sz="6000" dirty="0">
                <a:latin typeface="DIN Alternate" panose="020B0500000000000000" pitchFamily="34" charset="77"/>
              </a:rPr>
              <a:t>The Simulation</a:t>
            </a:r>
            <a:endParaRPr lang="en-GB" sz="6000" dirty="0"/>
          </a:p>
        </p:txBody>
      </p:sp>
      <p:pic>
        <p:nvPicPr>
          <p:cNvPr id="4" name="Graphic 3" descr="Gears with solid fill">
            <a:extLst>
              <a:ext uri="{FF2B5EF4-FFF2-40B4-BE49-F238E27FC236}">
                <a16:creationId xmlns:a16="http://schemas.microsoft.com/office/drawing/2014/main" id="{45D3F5D6-952A-3A14-0763-CE6B9EACA5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34025" y="2165350"/>
            <a:ext cx="1123950" cy="1123950"/>
          </a:xfrm>
          <a:prstGeom prst="rect">
            <a:avLst/>
          </a:prstGeom>
        </p:spPr>
      </p:pic>
    </p:spTree>
    <p:extLst>
      <p:ext uri="{BB962C8B-B14F-4D97-AF65-F5344CB8AC3E}">
        <p14:creationId xmlns:p14="http://schemas.microsoft.com/office/powerpoint/2010/main" val="3356270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6569597"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Wavenumber Dependence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7948" y="1271806"/>
                <a:ext cx="5596056" cy="4906691"/>
              </a:xfrm>
            </p:spPr>
            <p:txBody>
              <a:bodyPr anchor="ctr">
                <a:normAutofit/>
              </a:bodyPr>
              <a:lstStyle/>
              <a:p>
                <a:pPr>
                  <a:spcAft>
                    <a:spcPts val="1200"/>
                  </a:spcAft>
                </a:pPr>
                <a:r>
                  <a:rPr lang="en-GB" sz="2000" dirty="0">
                    <a:latin typeface="Microsoft Sans Serif" panose="020B0604020202020204" pitchFamily="34" charset="0"/>
                    <a:cs typeface="Microsoft Sans Serif" panose="020B0604020202020204" pitchFamily="34" charset="0"/>
                  </a:rPr>
                  <a:t>In this study, s-polarisation and normal incidence </a:t>
                </a:r>
                <a14:m>
                  <m:oMath xmlns:m="http://schemas.openxmlformats.org/officeDocument/2006/math">
                    <m:r>
                      <a:rPr lang="el-GR" sz="2000" i="1" dirty="0" smtClean="0">
                        <a:latin typeface="Cambria Math" panose="02040503050406030204" pitchFamily="18" charset="0"/>
                        <a:cs typeface="Microsoft Sans Serif" panose="020B0604020202020204" pitchFamily="34" charset="0"/>
                      </a:rPr>
                      <m:t>𝜃</m:t>
                    </m:r>
                    <m:r>
                      <a:rPr lang="el-GR" sz="2000" i="1" dirty="0" smtClean="0">
                        <a:latin typeface="Cambria Math" panose="02040503050406030204" pitchFamily="18" charset="0"/>
                        <a:cs typeface="Microsoft Sans Serif" panose="020B0604020202020204" pitchFamily="34" charset="0"/>
                      </a:rPr>
                      <m:t>=0</m:t>
                    </m:r>
                  </m:oMath>
                </a14:m>
                <a:endParaRPr lang="en-US" sz="2000" dirty="0">
                  <a:latin typeface="Microsoft Sans Serif" panose="020B0604020202020204" pitchFamily="34" charset="0"/>
                  <a:cs typeface="Microsoft Sans Serif" panose="020B0604020202020204" pitchFamily="34" charset="0"/>
                </a:endParaRPr>
              </a:p>
              <a:p>
                <a:pPr>
                  <a:spcAft>
                    <a:spcPts val="1200"/>
                  </a:spcAft>
                </a:pPr>
                <a:r>
                  <a:rPr lang="en-US" sz="2000" dirty="0">
                    <a:latin typeface="Microsoft Sans Serif" panose="020B0604020202020204" pitchFamily="34" charset="0"/>
                    <a:cs typeface="Microsoft Sans Serif" panose="020B0604020202020204" pitchFamily="34" charset="0"/>
                  </a:rPr>
                  <a:t>The pulse is composed of many PWs with different wavenumbers </a:t>
                </a:r>
                <a14:m>
                  <m:oMath xmlns:m="http://schemas.openxmlformats.org/officeDocument/2006/math">
                    <m:r>
                      <a:rPr lang="en-US" sz="2000" i="1" dirty="0" smtClean="0">
                        <a:latin typeface="Cambria Math" panose="02040503050406030204" pitchFamily="18" charset="0"/>
                        <a:cs typeface="Microsoft Sans Serif" panose="020B0604020202020204" pitchFamily="34" charset="0"/>
                      </a:rPr>
                      <m:t>𝑘</m:t>
                    </m:r>
                    <m:r>
                      <a:rPr lang="en-US" sz="2000" i="1" dirty="0" smtClean="0">
                        <a:latin typeface="Cambria Math" panose="02040503050406030204" pitchFamily="18" charset="0"/>
                        <a:cs typeface="Microsoft Sans Serif" panose="020B0604020202020204" pitchFamily="34" charset="0"/>
                      </a:rPr>
                      <m:t>=</m:t>
                    </m:r>
                    <m:f>
                      <m:fPr>
                        <m:ctrlPr>
                          <a:rPr lang="en-US" sz="2000" b="0" i="1" dirty="0" smtClean="0">
                            <a:latin typeface="Cambria Math" panose="02040503050406030204" pitchFamily="18" charset="0"/>
                            <a:cs typeface="Microsoft Sans Serif" panose="020B0604020202020204" pitchFamily="34" charset="0"/>
                          </a:rPr>
                        </m:ctrlPr>
                      </m:fPr>
                      <m:num>
                        <m:r>
                          <a:rPr lang="en-US" sz="2000" i="1" dirty="0" smtClean="0">
                            <a:latin typeface="Cambria Math" panose="02040503050406030204" pitchFamily="18" charset="0"/>
                            <a:cs typeface="Microsoft Sans Serif" panose="020B0604020202020204" pitchFamily="34" charset="0"/>
                          </a:rPr>
                          <m:t>2</m:t>
                        </m:r>
                        <m:r>
                          <a:rPr lang="el-GR" sz="2000" i="1" dirty="0" smtClean="0">
                            <a:latin typeface="Cambria Math" panose="02040503050406030204" pitchFamily="18" charset="0"/>
                            <a:cs typeface="Microsoft Sans Serif" panose="020B0604020202020204" pitchFamily="34" charset="0"/>
                          </a:rPr>
                          <m:t>𝜋</m:t>
                        </m:r>
                      </m:num>
                      <m:den>
                        <m:r>
                          <a:rPr lang="el-GR" sz="2000" i="1" dirty="0" smtClean="0">
                            <a:latin typeface="Cambria Math" panose="02040503050406030204" pitchFamily="18" charset="0"/>
                            <a:cs typeface="Microsoft Sans Serif" panose="020B0604020202020204" pitchFamily="34" charset="0"/>
                          </a:rPr>
                          <m:t>𝜆</m:t>
                        </m:r>
                      </m:den>
                    </m:f>
                  </m:oMath>
                </a14:m>
                <a:r>
                  <a:rPr lang="en-US" sz="2000" dirty="0">
                    <a:latin typeface="Microsoft Sans Serif" panose="020B0604020202020204" pitchFamily="34" charset="0"/>
                    <a:cs typeface="Microsoft Sans Serif" panose="020B0604020202020204" pitchFamily="34" charset="0"/>
                  </a:rPr>
                  <a:t> </a:t>
                </a:r>
              </a:p>
              <a:p>
                <a:pPr>
                  <a:spcAft>
                    <a:spcPts val="1200"/>
                  </a:spcAft>
                </a:pPr>
                <a:r>
                  <a:rPr lang="en-US" sz="2000" dirty="0">
                    <a:latin typeface="Microsoft Sans Serif" panose="020B0604020202020204" pitchFamily="34" charset="0"/>
                    <a:cs typeface="Microsoft Sans Serif" panose="020B0604020202020204" pitchFamily="34" charset="0"/>
                  </a:rPr>
                  <a:t>The optical system (OS) a PW "sees" depends on its wavevector </a:t>
                </a:r>
                <a14:m>
                  <m:oMath xmlns:m="http://schemas.openxmlformats.org/officeDocument/2006/math">
                    <m:r>
                      <a:rPr lang="en-US" sz="2000" b="1" i="0" dirty="0" smtClean="0">
                        <a:latin typeface="Cambria Math" panose="02040503050406030204" pitchFamily="18" charset="0"/>
                        <a:cs typeface="Microsoft Sans Serif" panose="020B0604020202020204" pitchFamily="34" charset="0"/>
                      </a:rPr>
                      <m:t>𝐤</m:t>
                    </m:r>
                  </m:oMath>
                </a14:m>
                <a:endParaRPr lang="en-US" sz="2000" b="1" dirty="0">
                  <a:latin typeface="Microsoft Sans Serif" panose="020B0604020202020204" pitchFamily="34" charset="0"/>
                  <a:cs typeface="Microsoft Sans Serif" panose="020B0604020202020204" pitchFamily="34" charset="0"/>
                </a:endParaRPr>
              </a:p>
              <a:p>
                <a:pPr lvl="1">
                  <a:spcAft>
                    <a:spcPts val="1200"/>
                  </a:spcAft>
                  <a:buFont typeface="Wingdings" pitchFamily="2" charset="2"/>
                  <a:buChar char="§"/>
                </a:pPr>
                <a:r>
                  <a:rPr lang="en-US" sz="1600" dirty="0">
                    <a:latin typeface="Microsoft Sans Serif" panose="020B0604020202020204" pitchFamily="34" charset="0"/>
                    <a:cs typeface="Microsoft Sans Serif" panose="020B0604020202020204" pitchFamily="34" charset="0"/>
                  </a:rPr>
                  <a:t>Reflection and transmission coefficients </a:t>
                </a:r>
                <a14:m>
                  <m:oMath xmlns:m="http://schemas.openxmlformats.org/officeDocument/2006/math">
                    <m:r>
                      <a:rPr lang="en-US" sz="1600" b="0" i="0" smtClean="0">
                        <a:latin typeface="Cambria Math" panose="02040503050406030204" pitchFamily="18" charset="0"/>
                        <a:cs typeface="Microsoft Sans Serif" panose="020B0604020202020204" pitchFamily="34" charset="0"/>
                      </a:rPr>
                      <m:t>→</m:t>
                    </m:r>
                    <m:r>
                      <a:rPr lang="en-US" sz="1600" b="0" i="1" smtClean="0">
                        <a:latin typeface="Cambria Math" panose="02040503050406030204" pitchFamily="18" charset="0"/>
                        <a:cs typeface="Microsoft Sans Serif" panose="020B0604020202020204" pitchFamily="34" charset="0"/>
                      </a:rPr>
                      <m:t>𝑓</m:t>
                    </m:r>
                    <m:d>
                      <m:dPr>
                        <m:ctrlPr>
                          <a:rPr lang="en-US" sz="1600" b="0" i="1" smtClean="0">
                            <a:latin typeface="Cambria Math" panose="02040503050406030204" pitchFamily="18" charset="0"/>
                            <a:cs typeface="Microsoft Sans Serif" panose="020B0604020202020204" pitchFamily="34" charset="0"/>
                          </a:rPr>
                        </m:ctrlPr>
                      </m:dPr>
                      <m:e>
                        <m:r>
                          <a:rPr lang="en-US" sz="1600" b="0" i="1" smtClean="0">
                            <a:latin typeface="Cambria Math" panose="02040503050406030204" pitchFamily="18" charset="0"/>
                            <a:cs typeface="Microsoft Sans Serif" panose="020B0604020202020204" pitchFamily="34" charset="0"/>
                          </a:rPr>
                          <m:t>𝜃</m:t>
                        </m:r>
                        <m:r>
                          <a:rPr lang="en-US" sz="1600" b="0" i="1" smtClean="0">
                            <a:latin typeface="Cambria Math" panose="02040503050406030204" pitchFamily="18" charset="0"/>
                            <a:cs typeface="Microsoft Sans Serif" panose="020B0604020202020204" pitchFamily="34" charset="0"/>
                          </a:rPr>
                          <m:t>,</m:t>
                        </m:r>
                        <m:r>
                          <a:rPr lang="en-US" sz="1600" b="0" i="1" smtClean="0">
                            <a:latin typeface="Cambria Math" panose="02040503050406030204" pitchFamily="18" charset="0"/>
                            <a:cs typeface="Microsoft Sans Serif" panose="020B0604020202020204" pitchFamily="34" charset="0"/>
                          </a:rPr>
                          <m:t>𝑛</m:t>
                        </m:r>
                      </m:e>
                    </m:d>
                  </m:oMath>
                </a14:m>
                <a:endParaRPr lang="en-US" sz="1600" dirty="0">
                  <a:latin typeface="Microsoft Sans Serif" panose="020B0604020202020204" pitchFamily="34" charset="0"/>
                  <a:cs typeface="Microsoft Sans Serif" panose="020B0604020202020204" pitchFamily="34" charset="0"/>
                </a:endParaRPr>
              </a:p>
              <a:p>
                <a:pPr lvl="1">
                  <a:spcAft>
                    <a:spcPts val="1200"/>
                  </a:spcAft>
                  <a:buFont typeface="Wingdings" pitchFamily="2" charset="2"/>
                  <a:buChar char="§"/>
                </a:pPr>
                <a:r>
                  <a:rPr lang="en-US" sz="1600" dirty="0">
                    <a:latin typeface="Microsoft Sans Serif" panose="020B0604020202020204" pitchFamily="34" charset="0"/>
                    <a:cs typeface="Microsoft Sans Serif" panose="020B0604020202020204" pitchFamily="34" charset="0"/>
                  </a:rPr>
                  <a:t>Propagation phase shift </a:t>
                </a:r>
                <a14:m>
                  <m:oMath xmlns:m="http://schemas.openxmlformats.org/officeDocument/2006/math">
                    <m:r>
                      <m:rPr>
                        <m:sty m:val="p"/>
                      </m:rPr>
                      <a:rPr lang="en-US" sz="1600" b="0" i="0" smtClean="0">
                        <a:solidFill>
                          <a:schemeClr val="tx1"/>
                        </a:solidFill>
                        <a:latin typeface="Cambria Math" panose="02040503050406030204" pitchFamily="18" charset="0"/>
                      </a:rPr>
                      <m:t>Δ</m:t>
                    </m:r>
                    <m:r>
                      <a:rPr lang="en-US" sz="1600" b="0" i="1" smtClean="0">
                        <a:solidFill>
                          <a:schemeClr val="tx1"/>
                        </a:solidFill>
                        <a:latin typeface="Cambria Math" panose="02040503050406030204" pitchFamily="18" charset="0"/>
                      </a:rPr>
                      <m:t>𝜙</m:t>
                    </m:r>
                    <m:r>
                      <a:rPr lang="en-US" sz="1600" b="0" i="0" smtClean="0">
                        <a:solidFill>
                          <a:schemeClr val="tx1"/>
                        </a:solidFill>
                        <a:latin typeface="Cambria Math" panose="02040503050406030204" pitchFamily="18" charset="0"/>
                      </a:rPr>
                      <m:t>→</m:t>
                    </m:r>
                    <m:r>
                      <a:rPr lang="en-US" sz="1600" b="0" i="1" smtClean="0">
                        <a:latin typeface="Cambria Math" panose="02040503050406030204" pitchFamily="18" charset="0"/>
                        <a:cs typeface="Microsoft Sans Serif" panose="020B0604020202020204" pitchFamily="34" charset="0"/>
                      </a:rPr>
                      <m:t>𝑓</m:t>
                    </m:r>
                    <m:d>
                      <m:dPr>
                        <m:ctrlPr>
                          <a:rPr lang="en-US" sz="1600" b="0" i="1" smtClean="0">
                            <a:latin typeface="Cambria Math" panose="02040503050406030204" pitchFamily="18" charset="0"/>
                            <a:cs typeface="Microsoft Sans Serif" panose="020B0604020202020204" pitchFamily="34" charset="0"/>
                          </a:rPr>
                        </m:ctrlPr>
                      </m:dPr>
                      <m:e>
                        <m:r>
                          <a:rPr lang="en-US" sz="1600" b="0" i="1" smtClean="0">
                            <a:latin typeface="Cambria Math" panose="02040503050406030204" pitchFamily="18" charset="0"/>
                            <a:cs typeface="Microsoft Sans Serif" panose="020B0604020202020204" pitchFamily="34" charset="0"/>
                          </a:rPr>
                          <m:t>𝑘</m:t>
                        </m:r>
                        <m:r>
                          <a:rPr lang="en-US" sz="1600" b="0" i="1" smtClean="0">
                            <a:latin typeface="Cambria Math" panose="02040503050406030204" pitchFamily="18" charset="0"/>
                            <a:cs typeface="Microsoft Sans Serif" panose="020B0604020202020204" pitchFamily="34" charset="0"/>
                          </a:rPr>
                          <m:t>,</m:t>
                        </m:r>
                        <m:r>
                          <a:rPr lang="en-US" sz="1600" b="0" i="1" smtClean="0">
                            <a:latin typeface="Cambria Math" panose="02040503050406030204" pitchFamily="18" charset="0"/>
                            <a:cs typeface="Microsoft Sans Serif" panose="020B0604020202020204" pitchFamily="34" charset="0"/>
                          </a:rPr>
                          <m:t>𝑛</m:t>
                        </m:r>
                      </m:e>
                    </m:d>
                  </m:oMath>
                </a14:m>
                <a:endParaRPr lang="en-US" sz="1600" dirty="0">
                  <a:latin typeface="Microsoft Sans Serif" panose="020B0604020202020204" pitchFamily="34" charset="0"/>
                  <a:cs typeface="Microsoft Sans Serif" panose="020B0604020202020204" pitchFamily="34" charset="0"/>
                </a:endParaRPr>
              </a:p>
              <a:p>
                <a:pPr>
                  <a:spcAft>
                    <a:spcPts val="1200"/>
                  </a:spcAft>
                </a:pPr>
                <a:r>
                  <a:rPr lang="en-US" sz="2000" dirty="0">
                    <a:latin typeface="Microsoft Sans Serif" panose="020B0604020202020204" pitchFamily="34" charset="0"/>
                    <a:cs typeface="Microsoft Sans Serif" panose="020B0604020202020204" pitchFamily="34" charset="0"/>
                  </a:rPr>
                  <a:t>The chain of matrices representing an OS needs to be reproduced for each </a:t>
                </a:r>
                <a14:m>
                  <m:oMath xmlns:m="http://schemas.openxmlformats.org/officeDocument/2006/math">
                    <m:r>
                      <a:rPr lang="en-US" sz="2000" i="1" dirty="0" smtClean="0">
                        <a:latin typeface="Cambria Math" panose="02040503050406030204" pitchFamily="18" charset="0"/>
                        <a:cs typeface="Microsoft Sans Serif" panose="020B0604020202020204" pitchFamily="34" charset="0"/>
                      </a:rPr>
                      <m:t>𝑘</m:t>
                    </m:r>
                  </m:oMath>
                </a14:m>
                <a:endParaRPr lang="en-US" sz="2000" dirty="0">
                  <a:latin typeface="Microsoft Sans Serif" panose="020B0604020202020204" pitchFamily="34" charset="0"/>
                  <a:cs typeface="Microsoft Sans Serif" panose="020B0604020202020204" pitchFamily="34" charset="0"/>
                </a:endParaRP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7948" y="1271806"/>
                <a:ext cx="5596056" cy="4906691"/>
              </a:xfrm>
              <a:blipFill>
                <a:blip r:embed="rId3"/>
                <a:stretch>
                  <a:fillRect l="-90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B08983B3-495C-759B-7CDB-44F9AE9CE104}"/>
              </a:ext>
            </a:extLst>
          </p:cNvPr>
          <p:cNvSpPr txBox="1"/>
          <p:nvPr/>
        </p:nvSpPr>
        <p:spPr>
          <a:xfrm>
            <a:off x="6757005" y="4437084"/>
            <a:ext cx="4485795" cy="584775"/>
          </a:xfrm>
          <a:prstGeom prst="rect">
            <a:avLst/>
          </a:prstGeom>
          <a:noFill/>
        </p:spPr>
        <p:txBody>
          <a:bodyPr wrap="square">
            <a:spAutoFit/>
          </a:bodyPr>
          <a:lstStyle/>
          <a:p>
            <a:pPr>
              <a:spcAft>
                <a:spcPts val="600"/>
              </a:spcAft>
            </a:pPr>
            <a:r>
              <a:rPr lang="en-GB" sz="1600" dirty="0">
                <a:solidFill>
                  <a:srgbClr val="EEEEEE"/>
                </a:solidFill>
                <a:latin typeface="Quicksand"/>
              </a:rPr>
              <a:t>Fig. 4: A diagram illustrating the </a:t>
            </a:r>
            <a:r>
              <a:rPr lang="en-GB" sz="1600" dirty="0">
                <a:solidFill>
                  <a:srgbClr val="EEEEEE"/>
                </a:solidFill>
                <a:latin typeface="Aptos" panose="02110004020202020204"/>
              </a:rPr>
              <a:t>simulation</a:t>
            </a:r>
            <a:r>
              <a:rPr kumimoji="0" lang="en-GB" sz="1600" b="0" i="0" u="none" strike="noStrike" kern="1200" cap="none" spc="0" normalizeH="0" baseline="0" noProof="0" dirty="0">
                <a:ln>
                  <a:noFill/>
                </a:ln>
                <a:effectLst/>
                <a:uLnTx/>
                <a:uFillTx/>
                <a:latin typeface="Aptos" panose="02110004020202020204"/>
                <a:ea typeface="+mn-ea"/>
                <a:cs typeface="+mn-cs"/>
              </a:rPr>
              <a:t> orientation, angle of incidence, and polarisation</a:t>
            </a:r>
            <a:r>
              <a:rPr lang="en-GB" sz="1600" dirty="0">
                <a:solidFill>
                  <a:srgbClr val="EEEEEE"/>
                </a:solidFill>
                <a:latin typeface="Quicksand"/>
              </a:rPr>
              <a:t>.</a:t>
            </a:r>
            <a:endParaRPr lang="en-GB" sz="1600" b="0" i="0" dirty="0">
              <a:solidFill>
                <a:srgbClr val="EEEEEE"/>
              </a:solidFill>
              <a:effectLst/>
              <a:latin typeface="Quicksand"/>
            </a:endParaRPr>
          </a:p>
        </p:txBody>
      </p:sp>
      <p:grpSp>
        <p:nvGrpSpPr>
          <p:cNvPr id="6" name="Group 5">
            <a:extLst>
              <a:ext uri="{FF2B5EF4-FFF2-40B4-BE49-F238E27FC236}">
                <a16:creationId xmlns:a16="http://schemas.microsoft.com/office/drawing/2014/main" id="{E56A79A4-EAB0-413F-4445-EE5B90DAD1E6}"/>
              </a:ext>
            </a:extLst>
          </p:cNvPr>
          <p:cNvGrpSpPr/>
          <p:nvPr/>
        </p:nvGrpSpPr>
        <p:grpSpPr>
          <a:xfrm>
            <a:off x="6757005" y="1674289"/>
            <a:ext cx="4725872" cy="2706530"/>
            <a:chOff x="7094421" y="2024763"/>
            <a:chExt cx="4725872" cy="2706530"/>
          </a:xfrm>
        </p:grpSpPr>
        <p:grpSp>
          <p:nvGrpSpPr>
            <p:cNvPr id="8" name="Group 7">
              <a:extLst>
                <a:ext uri="{FF2B5EF4-FFF2-40B4-BE49-F238E27FC236}">
                  <a16:creationId xmlns:a16="http://schemas.microsoft.com/office/drawing/2014/main" id="{A29BB697-A5E3-D082-B21F-E7A48508C126}"/>
                </a:ext>
              </a:extLst>
            </p:cNvPr>
            <p:cNvGrpSpPr/>
            <p:nvPr/>
          </p:nvGrpSpPr>
          <p:grpSpPr>
            <a:xfrm>
              <a:off x="7137403" y="2113971"/>
              <a:ext cx="4484539" cy="2604584"/>
              <a:chOff x="7137403" y="2069365"/>
              <a:chExt cx="4484539" cy="2604584"/>
            </a:xfrm>
          </p:grpSpPr>
          <p:grpSp>
            <p:nvGrpSpPr>
              <p:cNvPr id="14" name="Group 13">
                <a:extLst>
                  <a:ext uri="{FF2B5EF4-FFF2-40B4-BE49-F238E27FC236}">
                    <a16:creationId xmlns:a16="http://schemas.microsoft.com/office/drawing/2014/main" id="{AAE02EFB-4110-6571-663F-E817D9D9E013}"/>
                  </a:ext>
                </a:extLst>
              </p:cNvPr>
              <p:cNvGrpSpPr/>
              <p:nvPr/>
            </p:nvGrpSpPr>
            <p:grpSpPr>
              <a:xfrm>
                <a:off x="8073910" y="2069365"/>
                <a:ext cx="1480287" cy="1359635"/>
                <a:chOff x="6766211" y="389935"/>
                <a:chExt cx="1480287" cy="1359635"/>
              </a:xfrm>
            </p:grpSpPr>
            <p:grpSp>
              <p:nvGrpSpPr>
                <p:cNvPr id="34" name="Group 33">
                  <a:extLst>
                    <a:ext uri="{FF2B5EF4-FFF2-40B4-BE49-F238E27FC236}">
                      <a16:creationId xmlns:a16="http://schemas.microsoft.com/office/drawing/2014/main" id="{0143AFCA-F88E-7DB9-74E4-96D2EAC1785E}"/>
                    </a:ext>
                  </a:extLst>
                </p:cNvPr>
                <p:cNvGrpSpPr/>
                <p:nvPr/>
              </p:nvGrpSpPr>
              <p:grpSpPr>
                <a:xfrm>
                  <a:off x="7031660" y="701392"/>
                  <a:ext cx="958486" cy="999505"/>
                  <a:chOff x="7409827" y="1591410"/>
                  <a:chExt cx="958486" cy="999505"/>
                </a:xfrm>
              </p:grpSpPr>
              <p:cxnSp>
                <p:nvCxnSpPr>
                  <p:cNvPr id="38" name="Straight Arrow Connector 37">
                    <a:extLst>
                      <a:ext uri="{FF2B5EF4-FFF2-40B4-BE49-F238E27FC236}">
                        <a16:creationId xmlns:a16="http://schemas.microsoft.com/office/drawing/2014/main" id="{F582942C-016B-F7CF-AB90-1299AB07923C}"/>
                      </a:ext>
                    </a:extLst>
                  </p:cNvPr>
                  <p:cNvCxnSpPr>
                    <a:cxnSpLocks/>
                  </p:cNvCxnSpPr>
                  <p:nvPr/>
                </p:nvCxnSpPr>
                <p:spPr>
                  <a:xfrm flipV="1">
                    <a:off x="7731888" y="1591410"/>
                    <a:ext cx="0" cy="68400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93EE4AA8-E7EC-5D44-E3D6-BB92857F2A60}"/>
                      </a:ext>
                    </a:extLst>
                  </p:cNvPr>
                  <p:cNvCxnSpPr>
                    <a:cxnSpLocks/>
                  </p:cNvCxnSpPr>
                  <p:nvPr/>
                </p:nvCxnSpPr>
                <p:spPr>
                  <a:xfrm>
                    <a:off x="7720313" y="2251050"/>
                    <a:ext cx="648000" cy="1594"/>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7FD4C319-92C8-B0C0-7D5F-4265AA1A6EE4}"/>
                      </a:ext>
                    </a:extLst>
                  </p:cNvPr>
                  <p:cNvCxnSpPr>
                    <a:cxnSpLocks/>
                  </p:cNvCxnSpPr>
                  <p:nvPr/>
                </p:nvCxnSpPr>
                <p:spPr>
                  <a:xfrm flipH="1">
                    <a:off x="7409827" y="2251050"/>
                    <a:ext cx="322061" cy="339865"/>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3796F18-4334-3171-9D49-F5EE7C6908CF}"/>
                        </a:ext>
                      </a:extLst>
                    </p:cNvPr>
                    <p:cNvSpPr txBox="1"/>
                    <p:nvPr/>
                  </p:nvSpPr>
                  <p:spPr>
                    <a:xfrm>
                      <a:off x="7180099" y="389935"/>
                      <a:ext cx="37221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2000" b="1" i="1" smtClean="0">
                                    <a:latin typeface="Cambria Math" panose="02040503050406030204" pitchFamily="18" charset="0"/>
                                  </a:rPr>
                                </m:ctrlPr>
                              </m:accPr>
                              <m:e>
                                <m:r>
                                  <a:rPr lang="en-US" sz="2000" b="1" i="0" smtClean="0">
                                    <a:latin typeface="Cambria Math" panose="02040503050406030204" pitchFamily="18" charset="0"/>
                                  </a:rPr>
                                  <m:t>𝐱</m:t>
                                </m:r>
                              </m:e>
                            </m:acc>
                          </m:oMath>
                        </m:oMathPara>
                      </a14:m>
                      <a:endParaRPr lang="en-US" sz="2000" b="1" dirty="0"/>
                    </a:p>
                  </p:txBody>
                </p:sp>
              </mc:Choice>
              <mc:Fallback xmlns="">
                <p:sp>
                  <p:nvSpPr>
                    <p:cNvPr id="35" name="TextBox 34">
                      <a:extLst>
                        <a:ext uri="{FF2B5EF4-FFF2-40B4-BE49-F238E27FC236}">
                          <a16:creationId xmlns:a16="http://schemas.microsoft.com/office/drawing/2014/main" id="{B3796F18-4334-3171-9D49-F5EE7C6908CF}"/>
                        </a:ext>
                      </a:extLst>
                    </p:cNvPr>
                    <p:cNvSpPr txBox="1">
                      <a:spLocks noRot="1" noChangeAspect="1" noMove="1" noResize="1" noEditPoints="1" noAdjustHandles="1" noChangeArrowheads="1" noChangeShapeType="1" noTextEdit="1"/>
                    </p:cNvSpPr>
                    <p:nvPr/>
                  </p:nvSpPr>
                  <p:spPr>
                    <a:xfrm>
                      <a:off x="7180099" y="389935"/>
                      <a:ext cx="372218" cy="400110"/>
                    </a:xfrm>
                    <a:prstGeom prst="rect">
                      <a:avLst/>
                    </a:prstGeom>
                    <a:blipFill>
                      <a:blip r:embed="rId4"/>
                      <a:stretch>
                        <a:fillRect t="-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39834F5-F1E0-5008-2258-2CFEBCC7D905}"/>
                        </a:ext>
                      </a:extLst>
                    </p:cNvPr>
                    <p:cNvSpPr txBox="1"/>
                    <p:nvPr/>
                  </p:nvSpPr>
                  <p:spPr>
                    <a:xfrm>
                      <a:off x="7901532" y="1144264"/>
                      <a:ext cx="34496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000" b="1" i="1" smtClean="0">
                                    <a:latin typeface="Cambria Math" panose="02040503050406030204" pitchFamily="18" charset="0"/>
                                  </a:rPr>
                                </m:ctrlPr>
                              </m:accPr>
                              <m:e>
                                <m:r>
                                  <a:rPr lang="en-US" sz="2000" b="1" i="0" smtClean="0">
                                    <a:latin typeface="Cambria Math" panose="02040503050406030204" pitchFamily="18" charset="0"/>
                                  </a:rPr>
                                  <m:t>𝐳</m:t>
                                </m:r>
                              </m:e>
                            </m:acc>
                          </m:oMath>
                        </m:oMathPara>
                      </a14:m>
                      <a:endParaRPr lang="en-US" sz="2000" b="1" dirty="0"/>
                    </a:p>
                  </p:txBody>
                </p:sp>
              </mc:Choice>
              <mc:Fallback xmlns="">
                <p:sp>
                  <p:nvSpPr>
                    <p:cNvPr id="36" name="TextBox 35">
                      <a:extLst>
                        <a:ext uri="{FF2B5EF4-FFF2-40B4-BE49-F238E27FC236}">
                          <a16:creationId xmlns:a16="http://schemas.microsoft.com/office/drawing/2014/main" id="{D39834F5-F1E0-5008-2258-2CFEBCC7D905}"/>
                        </a:ext>
                      </a:extLst>
                    </p:cNvPr>
                    <p:cNvSpPr txBox="1">
                      <a:spLocks noRot="1" noChangeAspect="1" noMove="1" noResize="1" noEditPoints="1" noAdjustHandles="1" noChangeArrowheads="1" noChangeShapeType="1" noTextEdit="1"/>
                    </p:cNvSpPr>
                    <p:nvPr/>
                  </p:nvSpPr>
                  <p:spPr>
                    <a:xfrm>
                      <a:off x="7901532" y="1144264"/>
                      <a:ext cx="344966" cy="400110"/>
                    </a:xfrm>
                    <a:prstGeom prst="rect">
                      <a:avLst/>
                    </a:prstGeom>
                    <a:blipFill>
                      <a:blip r:embed="rId5"/>
                      <a:stretch>
                        <a:fillRect t="-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AF2E05D-5116-54CB-39E5-4188BB9B46E8}"/>
                        </a:ext>
                      </a:extLst>
                    </p:cNvPr>
                    <p:cNvSpPr txBox="1"/>
                    <p:nvPr/>
                  </p:nvSpPr>
                  <p:spPr>
                    <a:xfrm>
                      <a:off x="6766211" y="1349460"/>
                      <a:ext cx="322061"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000" b="1" i="1" smtClean="0">
                                    <a:latin typeface="Cambria Math" panose="02040503050406030204" pitchFamily="18" charset="0"/>
                                  </a:rPr>
                                </m:ctrlPr>
                              </m:accPr>
                              <m:e>
                                <m:r>
                                  <a:rPr lang="en-US" sz="2000" b="1" i="0" smtClean="0">
                                    <a:latin typeface="Cambria Math" panose="02040503050406030204" pitchFamily="18" charset="0"/>
                                  </a:rPr>
                                  <m:t>𝐲</m:t>
                                </m:r>
                              </m:e>
                            </m:acc>
                          </m:oMath>
                        </m:oMathPara>
                      </a14:m>
                      <a:endParaRPr lang="en-US" sz="2000" b="1" dirty="0"/>
                    </a:p>
                  </p:txBody>
                </p:sp>
              </mc:Choice>
              <mc:Fallback xmlns="">
                <p:sp>
                  <p:nvSpPr>
                    <p:cNvPr id="37" name="TextBox 36">
                      <a:extLst>
                        <a:ext uri="{FF2B5EF4-FFF2-40B4-BE49-F238E27FC236}">
                          <a16:creationId xmlns:a16="http://schemas.microsoft.com/office/drawing/2014/main" id="{BAF2E05D-5116-54CB-39E5-4188BB9B46E8}"/>
                        </a:ext>
                      </a:extLst>
                    </p:cNvPr>
                    <p:cNvSpPr txBox="1">
                      <a:spLocks noRot="1" noChangeAspect="1" noMove="1" noResize="1" noEditPoints="1" noAdjustHandles="1" noChangeArrowheads="1" noChangeShapeType="1" noTextEdit="1"/>
                    </p:cNvSpPr>
                    <p:nvPr/>
                  </p:nvSpPr>
                  <p:spPr>
                    <a:xfrm>
                      <a:off x="6766211" y="1349460"/>
                      <a:ext cx="322061" cy="400110"/>
                    </a:xfrm>
                    <a:prstGeom prst="rect">
                      <a:avLst/>
                    </a:prstGeom>
                    <a:blipFill>
                      <a:blip r:embed="rId6"/>
                      <a:stretch>
                        <a:fillRect t="-6250" b="-9375"/>
                      </a:stretch>
                    </a:blipFill>
                  </p:spPr>
                  <p:txBody>
                    <a:bodyPr/>
                    <a:lstStyle/>
                    <a:p>
                      <a:r>
                        <a:rPr lang="en-US">
                          <a:noFill/>
                        </a:rPr>
                        <a:t> </a:t>
                      </a:r>
                    </a:p>
                  </p:txBody>
                </p:sp>
              </mc:Fallback>
            </mc:AlternateContent>
          </p:grpSp>
          <p:grpSp>
            <p:nvGrpSpPr>
              <p:cNvPr id="16" name="Group 15">
                <a:extLst>
                  <a:ext uri="{FF2B5EF4-FFF2-40B4-BE49-F238E27FC236}">
                    <a16:creationId xmlns:a16="http://schemas.microsoft.com/office/drawing/2014/main" id="{4FFEE242-644F-AFFD-F85B-81472A584974}"/>
                  </a:ext>
                </a:extLst>
              </p:cNvPr>
              <p:cNvGrpSpPr/>
              <p:nvPr/>
            </p:nvGrpSpPr>
            <p:grpSpPr>
              <a:xfrm>
                <a:off x="7137403" y="3249617"/>
                <a:ext cx="1185720" cy="1424332"/>
                <a:chOff x="7770700" y="1385596"/>
                <a:chExt cx="1185720" cy="1424332"/>
              </a:xfrm>
            </p:grpSpPr>
            <p:grpSp>
              <p:nvGrpSpPr>
                <p:cNvPr id="27" name="Group 26">
                  <a:extLst>
                    <a:ext uri="{FF2B5EF4-FFF2-40B4-BE49-F238E27FC236}">
                      <a16:creationId xmlns:a16="http://schemas.microsoft.com/office/drawing/2014/main" id="{CA454AFB-94A2-9C76-8166-FB0B54E9ACA6}"/>
                    </a:ext>
                  </a:extLst>
                </p:cNvPr>
                <p:cNvGrpSpPr/>
                <p:nvPr/>
              </p:nvGrpSpPr>
              <p:grpSpPr>
                <a:xfrm>
                  <a:off x="7944120" y="1733158"/>
                  <a:ext cx="669693" cy="698387"/>
                  <a:chOff x="7508049" y="1759335"/>
                  <a:chExt cx="669693" cy="698387"/>
                </a:xfrm>
              </p:grpSpPr>
              <p:cxnSp>
                <p:nvCxnSpPr>
                  <p:cNvPr id="31" name="Straight Arrow Connector 30">
                    <a:extLst>
                      <a:ext uri="{FF2B5EF4-FFF2-40B4-BE49-F238E27FC236}">
                        <a16:creationId xmlns:a16="http://schemas.microsoft.com/office/drawing/2014/main" id="{E576BF79-560F-0ACD-835A-B6A2D284CE82}"/>
                      </a:ext>
                    </a:extLst>
                  </p:cNvPr>
                  <p:cNvCxnSpPr>
                    <a:cxnSpLocks/>
                  </p:cNvCxnSpPr>
                  <p:nvPr/>
                </p:nvCxnSpPr>
                <p:spPr>
                  <a:xfrm flipV="1">
                    <a:off x="7731888" y="1759335"/>
                    <a:ext cx="0" cy="491715"/>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33FD0D74-E3A0-D0A9-C37E-45784CFE4C31}"/>
                      </a:ext>
                    </a:extLst>
                  </p:cNvPr>
                  <p:cNvCxnSpPr>
                    <a:cxnSpLocks/>
                  </p:cNvCxnSpPr>
                  <p:nvPr/>
                </p:nvCxnSpPr>
                <p:spPr>
                  <a:xfrm>
                    <a:off x="7720313" y="2239475"/>
                    <a:ext cx="457429" cy="11575"/>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00830DF9-8EB7-D537-1030-2E553BED1CEA}"/>
                      </a:ext>
                    </a:extLst>
                  </p:cNvPr>
                  <p:cNvCxnSpPr>
                    <a:cxnSpLocks/>
                  </p:cNvCxnSpPr>
                  <p:nvPr/>
                </p:nvCxnSpPr>
                <p:spPr>
                  <a:xfrm flipH="1">
                    <a:off x="7508049" y="2227900"/>
                    <a:ext cx="235414" cy="229822"/>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1FD74E7-C99B-D741-C19A-AFC558C8819C}"/>
                        </a:ext>
                      </a:extLst>
                    </p:cNvPr>
                    <p:cNvSpPr txBox="1"/>
                    <p:nvPr/>
                  </p:nvSpPr>
                  <p:spPr>
                    <a:xfrm>
                      <a:off x="8542525" y="1986279"/>
                      <a:ext cx="413895"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1" i="0" smtClean="0">
                                <a:latin typeface="Cambria Math" panose="02040503050406030204" pitchFamily="18" charset="0"/>
                              </a:rPr>
                              <m:t>𝐤</m:t>
                            </m:r>
                          </m:oMath>
                        </m:oMathPara>
                      </a14:m>
                      <a:endParaRPr lang="en-US" sz="2200" b="1" dirty="0"/>
                    </a:p>
                  </p:txBody>
                </p:sp>
              </mc:Choice>
              <mc:Fallback xmlns="">
                <p:sp>
                  <p:nvSpPr>
                    <p:cNvPr id="28" name="TextBox 27">
                      <a:extLst>
                        <a:ext uri="{FF2B5EF4-FFF2-40B4-BE49-F238E27FC236}">
                          <a16:creationId xmlns:a16="http://schemas.microsoft.com/office/drawing/2014/main" id="{C1FD74E7-C99B-D741-C19A-AFC558C8819C}"/>
                        </a:ext>
                      </a:extLst>
                    </p:cNvPr>
                    <p:cNvSpPr txBox="1">
                      <a:spLocks noRot="1" noChangeAspect="1" noMove="1" noResize="1" noEditPoints="1" noAdjustHandles="1" noChangeArrowheads="1" noChangeShapeType="1" noTextEdit="1"/>
                    </p:cNvSpPr>
                    <p:nvPr/>
                  </p:nvSpPr>
                  <p:spPr>
                    <a:xfrm>
                      <a:off x="8542525" y="1986279"/>
                      <a:ext cx="413895" cy="43088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A8B970A-0585-22AC-A10B-1571559EBC7C}"/>
                        </a:ext>
                      </a:extLst>
                    </p:cNvPr>
                    <p:cNvSpPr txBox="1"/>
                    <p:nvPr/>
                  </p:nvSpPr>
                  <p:spPr>
                    <a:xfrm>
                      <a:off x="7961011" y="1385596"/>
                      <a:ext cx="429925"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1" i="0" smtClean="0">
                                <a:latin typeface="Cambria Math" panose="02040503050406030204" pitchFamily="18" charset="0"/>
                              </a:rPr>
                              <m:t>𝐁</m:t>
                            </m:r>
                          </m:oMath>
                        </m:oMathPara>
                      </a14:m>
                      <a:endParaRPr lang="en-US" sz="2200" b="1" dirty="0"/>
                    </a:p>
                  </p:txBody>
                </p:sp>
              </mc:Choice>
              <mc:Fallback xmlns="">
                <p:sp>
                  <p:nvSpPr>
                    <p:cNvPr id="29" name="TextBox 28">
                      <a:extLst>
                        <a:ext uri="{FF2B5EF4-FFF2-40B4-BE49-F238E27FC236}">
                          <a16:creationId xmlns:a16="http://schemas.microsoft.com/office/drawing/2014/main" id="{BA8B970A-0585-22AC-A10B-1571559EBC7C}"/>
                        </a:ext>
                      </a:extLst>
                    </p:cNvPr>
                    <p:cNvSpPr txBox="1">
                      <a:spLocks noRot="1" noChangeAspect="1" noMove="1" noResize="1" noEditPoints="1" noAdjustHandles="1" noChangeArrowheads="1" noChangeShapeType="1" noTextEdit="1"/>
                    </p:cNvSpPr>
                    <p:nvPr/>
                  </p:nvSpPr>
                  <p:spPr>
                    <a:xfrm>
                      <a:off x="7961011" y="1385596"/>
                      <a:ext cx="429925" cy="43088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276794F-616A-D609-2750-A4D39D2E104E}"/>
                        </a:ext>
                      </a:extLst>
                    </p:cNvPr>
                    <p:cNvSpPr txBox="1"/>
                    <p:nvPr/>
                  </p:nvSpPr>
                  <p:spPr>
                    <a:xfrm>
                      <a:off x="7770700" y="2379041"/>
                      <a:ext cx="409086"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1" i="0" smtClean="0">
                                <a:latin typeface="Cambria Math" panose="02040503050406030204" pitchFamily="18" charset="0"/>
                              </a:rPr>
                              <m:t>𝐄</m:t>
                            </m:r>
                          </m:oMath>
                        </m:oMathPara>
                      </a14:m>
                      <a:endParaRPr lang="en-US" sz="2200" b="1" dirty="0"/>
                    </a:p>
                  </p:txBody>
                </p:sp>
              </mc:Choice>
              <mc:Fallback xmlns="">
                <p:sp>
                  <p:nvSpPr>
                    <p:cNvPr id="30" name="TextBox 29">
                      <a:extLst>
                        <a:ext uri="{FF2B5EF4-FFF2-40B4-BE49-F238E27FC236}">
                          <a16:creationId xmlns:a16="http://schemas.microsoft.com/office/drawing/2014/main" id="{F276794F-616A-D609-2750-A4D39D2E104E}"/>
                        </a:ext>
                      </a:extLst>
                    </p:cNvPr>
                    <p:cNvSpPr txBox="1">
                      <a:spLocks noRot="1" noChangeAspect="1" noMove="1" noResize="1" noEditPoints="1" noAdjustHandles="1" noChangeArrowheads="1" noChangeShapeType="1" noTextEdit="1"/>
                    </p:cNvSpPr>
                    <p:nvPr/>
                  </p:nvSpPr>
                  <p:spPr>
                    <a:xfrm>
                      <a:off x="7770700" y="2379041"/>
                      <a:ext cx="409086" cy="430887"/>
                    </a:xfrm>
                    <a:prstGeom prst="rect">
                      <a:avLst/>
                    </a:prstGeom>
                    <a:blipFill>
                      <a:blip r:embed="rId9"/>
                      <a:stretch>
                        <a:fillRect/>
                      </a:stretch>
                    </a:blipFill>
                  </p:spPr>
                  <p:txBody>
                    <a:bodyPr/>
                    <a:lstStyle/>
                    <a:p>
                      <a:r>
                        <a:rPr lang="en-US">
                          <a:noFill/>
                        </a:rPr>
                        <a:t> </a:t>
                      </a:r>
                    </a:p>
                  </p:txBody>
                </p:sp>
              </mc:Fallback>
            </mc:AlternateContent>
          </p:grpSp>
          <p:grpSp>
            <p:nvGrpSpPr>
              <p:cNvPr id="17" name="Group 16">
                <a:extLst>
                  <a:ext uri="{FF2B5EF4-FFF2-40B4-BE49-F238E27FC236}">
                    <a16:creationId xmlns:a16="http://schemas.microsoft.com/office/drawing/2014/main" id="{C4668271-F15F-E344-6076-D4816A76131E}"/>
                  </a:ext>
                </a:extLst>
              </p:cNvPr>
              <p:cNvGrpSpPr/>
              <p:nvPr/>
            </p:nvGrpSpPr>
            <p:grpSpPr>
              <a:xfrm>
                <a:off x="8292054" y="3557850"/>
                <a:ext cx="1044000" cy="591627"/>
                <a:chOff x="8229972" y="1705542"/>
                <a:chExt cx="1044000" cy="591627"/>
              </a:xfrm>
            </p:grpSpPr>
            <p:cxnSp>
              <p:nvCxnSpPr>
                <p:cNvPr id="24" name="Straight Connector 23">
                  <a:extLst>
                    <a:ext uri="{FF2B5EF4-FFF2-40B4-BE49-F238E27FC236}">
                      <a16:creationId xmlns:a16="http://schemas.microsoft.com/office/drawing/2014/main" id="{A46C6849-B2A7-760D-73D0-723F1C7C5307}"/>
                    </a:ext>
                  </a:extLst>
                </p:cNvPr>
                <p:cNvCxnSpPr>
                  <a:cxnSpLocks/>
                </p:cNvCxnSpPr>
                <p:nvPr/>
              </p:nvCxnSpPr>
              <p:spPr>
                <a:xfrm flipH="1" flipV="1">
                  <a:off x="8229972" y="2234001"/>
                  <a:ext cx="1044000" cy="3"/>
                </a:xfrm>
                <a:prstGeom prst="line">
                  <a:avLst/>
                </a:prstGeom>
                <a:ln w="381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9E01FD5-985B-F262-C8CF-A629BB0FB7F2}"/>
                    </a:ext>
                  </a:extLst>
                </p:cNvPr>
                <p:cNvCxnSpPr>
                  <a:cxnSpLocks/>
                </p:cNvCxnSpPr>
                <p:nvPr/>
              </p:nvCxnSpPr>
              <p:spPr>
                <a:xfrm flipH="1">
                  <a:off x="8284190" y="1705542"/>
                  <a:ext cx="859809" cy="473170"/>
                </a:xfrm>
                <a:prstGeom prst="line">
                  <a:avLst/>
                </a:prstGeom>
                <a:ln w="38100">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9B635ED-51BA-3E09-E1B7-1EED2DBD95FF}"/>
                        </a:ext>
                      </a:extLst>
                    </p:cNvPr>
                    <p:cNvSpPr txBox="1"/>
                    <p:nvPr/>
                  </p:nvSpPr>
                  <p:spPr>
                    <a:xfrm>
                      <a:off x="8602787" y="1866282"/>
                      <a:ext cx="41870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𝜃</m:t>
                            </m:r>
                          </m:oMath>
                        </m:oMathPara>
                      </a14:m>
                      <a:endParaRPr lang="en-US" sz="2200" dirty="0"/>
                    </a:p>
                  </p:txBody>
                </p:sp>
              </mc:Choice>
              <mc:Fallback xmlns="">
                <p:sp>
                  <p:nvSpPr>
                    <p:cNvPr id="26" name="TextBox 25">
                      <a:extLst>
                        <a:ext uri="{FF2B5EF4-FFF2-40B4-BE49-F238E27FC236}">
                          <a16:creationId xmlns:a16="http://schemas.microsoft.com/office/drawing/2014/main" id="{B9B635ED-51BA-3E09-E1B7-1EED2DBD95FF}"/>
                        </a:ext>
                      </a:extLst>
                    </p:cNvPr>
                    <p:cNvSpPr txBox="1">
                      <a:spLocks noRot="1" noChangeAspect="1" noMove="1" noResize="1" noEditPoints="1" noAdjustHandles="1" noChangeArrowheads="1" noChangeShapeType="1" noTextEdit="1"/>
                    </p:cNvSpPr>
                    <p:nvPr/>
                  </p:nvSpPr>
                  <p:spPr>
                    <a:xfrm>
                      <a:off x="8602787" y="1866282"/>
                      <a:ext cx="418704" cy="430887"/>
                    </a:xfrm>
                    <a:prstGeom prst="rect">
                      <a:avLst/>
                    </a:prstGeom>
                    <a:blipFill>
                      <a:blip r:embed="rId10"/>
                      <a:stretch>
                        <a:fillRect/>
                      </a:stretch>
                    </a:blipFill>
                  </p:spPr>
                  <p:txBody>
                    <a:bodyPr/>
                    <a:lstStyle/>
                    <a:p>
                      <a:r>
                        <a:rPr lang="en-US">
                          <a:noFill/>
                        </a:rPr>
                        <a:t> </a:t>
                      </a:r>
                    </a:p>
                  </p:txBody>
                </p:sp>
              </mc:Fallback>
            </mc:AlternateContent>
          </p:grpSp>
          <p:grpSp>
            <p:nvGrpSpPr>
              <p:cNvPr id="18" name="Group 17">
                <a:extLst>
                  <a:ext uri="{FF2B5EF4-FFF2-40B4-BE49-F238E27FC236}">
                    <a16:creationId xmlns:a16="http://schemas.microsoft.com/office/drawing/2014/main" id="{B5584232-89DA-90A2-2D1F-F18190EC1318}"/>
                  </a:ext>
                </a:extLst>
              </p:cNvPr>
              <p:cNvGrpSpPr/>
              <p:nvPr/>
            </p:nvGrpSpPr>
            <p:grpSpPr>
              <a:xfrm>
                <a:off x="9441755" y="3244334"/>
                <a:ext cx="2180187" cy="1185995"/>
                <a:chOff x="9441755" y="3244334"/>
                <a:chExt cx="2180187" cy="1185995"/>
              </a:xfrm>
            </p:grpSpPr>
            <p:grpSp>
              <p:nvGrpSpPr>
                <p:cNvPr id="19" name="Group 18">
                  <a:extLst>
                    <a:ext uri="{FF2B5EF4-FFF2-40B4-BE49-F238E27FC236}">
                      <a16:creationId xmlns:a16="http://schemas.microsoft.com/office/drawing/2014/main" id="{1EF4F5BA-212D-308E-455B-0D178E329544}"/>
                    </a:ext>
                  </a:extLst>
                </p:cNvPr>
                <p:cNvGrpSpPr/>
                <p:nvPr/>
              </p:nvGrpSpPr>
              <p:grpSpPr>
                <a:xfrm>
                  <a:off x="9441755" y="3715832"/>
                  <a:ext cx="2180187" cy="714497"/>
                  <a:chOff x="9379673" y="1875102"/>
                  <a:chExt cx="2180187" cy="714497"/>
                </a:xfrm>
              </p:grpSpPr>
              <p:sp>
                <p:nvSpPr>
                  <p:cNvPr id="21" name="Rectangle 20">
                    <a:extLst>
                      <a:ext uri="{FF2B5EF4-FFF2-40B4-BE49-F238E27FC236}">
                        <a16:creationId xmlns:a16="http://schemas.microsoft.com/office/drawing/2014/main" id="{757B1F07-BC73-1C0E-F39A-8F95BA69C07B}"/>
                      </a:ext>
                    </a:extLst>
                  </p:cNvPr>
                  <p:cNvSpPr/>
                  <p:nvPr/>
                </p:nvSpPr>
                <p:spPr>
                  <a:xfrm>
                    <a:off x="9379673" y="1875105"/>
                    <a:ext cx="706056" cy="714494"/>
                  </a:xfrm>
                  <a:prstGeom prst="rect">
                    <a:avLst/>
                  </a:prstGeom>
                  <a:solidFill>
                    <a:schemeClr val="accent5">
                      <a:alpha val="50000"/>
                    </a:schemeClr>
                  </a:soli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708A3A7A-E15C-882F-4EB3-B31A9DC46CBF}"/>
                      </a:ext>
                    </a:extLst>
                  </p:cNvPr>
                  <p:cNvSpPr/>
                  <p:nvPr/>
                </p:nvSpPr>
                <p:spPr>
                  <a:xfrm>
                    <a:off x="10121289" y="1875102"/>
                    <a:ext cx="706056" cy="714494"/>
                  </a:xfrm>
                  <a:prstGeom prst="rect">
                    <a:avLst/>
                  </a:prstGeom>
                  <a:solidFill>
                    <a:srgbClr val="FF0000">
                      <a:alpha val="50000"/>
                    </a:srgb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A31CBE1-C1C5-558B-4169-9EE9BF4FB979}"/>
                      </a:ext>
                    </a:extLst>
                  </p:cNvPr>
                  <p:cNvSpPr/>
                  <p:nvPr/>
                </p:nvSpPr>
                <p:spPr>
                  <a:xfrm>
                    <a:off x="10853804" y="1875102"/>
                    <a:ext cx="706056" cy="714494"/>
                  </a:xfrm>
                  <a:prstGeom prst="rect">
                    <a:avLst/>
                  </a:prstGeom>
                  <a:solidFill>
                    <a:srgbClr val="00B050">
                      <a:alpha val="50000"/>
                    </a:srgbClr>
                  </a:solid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extBox 19">
                  <a:extLst>
                    <a:ext uri="{FF2B5EF4-FFF2-40B4-BE49-F238E27FC236}">
                      <a16:creationId xmlns:a16="http://schemas.microsoft.com/office/drawing/2014/main" id="{9310A206-59B7-DD99-2DB7-85F15CBC5E5B}"/>
                    </a:ext>
                  </a:extLst>
                </p:cNvPr>
                <p:cNvSpPr txBox="1"/>
                <p:nvPr/>
              </p:nvSpPr>
              <p:spPr>
                <a:xfrm>
                  <a:off x="9686551" y="3244334"/>
                  <a:ext cx="1699696" cy="369332"/>
                </a:xfrm>
                <a:prstGeom prst="rect">
                  <a:avLst/>
                </a:prstGeom>
                <a:noFill/>
              </p:spPr>
              <p:txBody>
                <a:bodyPr wrap="none" rtlCol="0">
                  <a:spAutoFit/>
                </a:bodyPr>
                <a:lstStyle/>
                <a:p>
                  <a:r>
                    <a:rPr lang="en-US" dirty="0"/>
                    <a:t>Optical System</a:t>
                  </a:r>
                </a:p>
              </p:txBody>
            </p:sp>
          </p:grpSp>
        </p:grpSp>
        <p:sp>
          <p:nvSpPr>
            <p:cNvPr id="9" name="Rectangle 8">
              <a:extLst>
                <a:ext uri="{FF2B5EF4-FFF2-40B4-BE49-F238E27FC236}">
                  <a16:creationId xmlns:a16="http://schemas.microsoft.com/office/drawing/2014/main" id="{30976FDE-BD7F-54BD-FA05-07B6DE34F36A}"/>
                </a:ext>
              </a:extLst>
            </p:cNvPr>
            <p:cNvSpPr/>
            <p:nvPr/>
          </p:nvSpPr>
          <p:spPr>
            <a:xfrm>
              <a:off x="7094421" y="2024763"/>
              <a:ext cx="4725872" cy="270653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E7713F3-E4AD-DC8F-91D3-1574453452B2}"/>
                  </a:ext>
                </a:extLst>
              </p:cNvPr>
              <p:cNvSpPr txBox="1"/>
              <p:nvPr/>
            </p:nvSpPr>
            <p:spPr>
              <a:xfrm>
                <a:off x="8031741" y="5507091"/>
                <a:ext cx="2176400" cy="4514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200" i="1" smtClean="0">
                              <a:solidFill>
                                <a:srgbClr val="836967"/>
                              </a:solidFill>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r>
                            <m:rPr>
                              <m:sty m:val="p"/>
                            </m:rPr>
                            <a:rPr lang="en-US" sz="2200" i="0">
                              <a:latin typeface="Cambria Math" panose="02040503050406030204" pitchFamily="18" charset="0"/>
                            </a:rPr>
                            <m:t>Δ</m:t>
                          </m:r>
                          <m:r>
                            <a:rPr lang="en-US" sz="2200" i="1">
                              <a:latin typeface="Cambria Math" panose="02040503050406030204" pitchFamily="18" charset="0"/>
                            </a:rPr>
                            <m:t>𝜙</m:t>
                          </m:r>
                        </m:sup>
                      </m:sSup>
                      <m:r>
                        <a:rPr lang="en-US" sz="2200" i="0">
                          <a:latin typeface="Cambria Math" panose="02040503050406030204" pitchFamily="18" charset="0"/>
                        </a:rPr>
                        <m:t>=</m:t>
                      </m:r>
                      <m:sSup>
                        <m:sSupPr>
                          <m:ctrlPr>
                            <a:rPr lang="en-US" sz="2200" i="1" smtClean="0">
                              <a:solidFill>
                                <a:schemeClr val="tx1"/>
                              </a:solidFill>
                              <a:latin typeface="Cambria Math" panose="02040503050406030204" pitchFamily="18" charset="0"/>
                            </a:rPr>
                          </m:ctrlPr>
                        </m:sSupPr>
                        <m:e>
                          <m:r>
                            <a:rPr lang="en-US" sz="2200" i="1">
                              <a:solidFill>
                                <a:schemeClr val="tx1"/>
                              </a:solidFill>
                              <a:latin typeface="Cambria Math" panose="02040503050406030204" pitchFamily="18" charset="0"/>
                            </a:rPr>
                            <m:t>𝑒</m:t>
                          </m:r>
                        </m:e>
                        <m:sup>
                          <m:r>
                            <a:rPr lang="en-US" sz="2200" i="1">
                              <a:solidFill>
                                <a:schemeClr val="tx1"/>
                              </a:solidFill>
                              <a:latin typeface="Cambria Math" panose="02040503050406030204" pitchFamily="18" charset="0"/>
                            </a:rPr>
                            <m:t>𝑖</m:t>
                          </m:r>
                          <m:r>
                            <a:rPr lang="en-US" sz="2200" i="1" smtClean="0">
                              <a:solidFill>
                                <a:schemeClr val="tx1"/>
                              </a:solidFill>
                              <a:latin typeface="Cambria Math" panose="02040503050406030204" pitchFamily="18" charset="0"/>
                            </a:rPr>
                            <m:t>𝑛</m:t>
                          </m:r>
                          <m:r>
                            <a:rPr lang="en-US" sz="2200" b="0" i="1" smtClean="0">
                              <a:solidFill>
                                <a:schemeClr val="tx1"/>
                              </a:solidFill>
                              <a:latin typeface="Cambria Math" panose="02040503050406030204" pitchFamily="18" charset="0"/>
                            </a:rPr>
                            <m:t>𝑘h</m:t>
                          </m:r>
                        </m:sup>
                      </m:sSup>
                    </m:oMath>
                  </m:oMathPara>
                </a14:m>
                <a:endParaRPr lang="en-US" sz="2200" dirty="0"/>
              </a:p>
            </p:txBody>
          </p:sp>
        </mc:Choice>
        <mc:Fallback xmlns="">
          <p:sp>
            <p:nvSpPr>
              <p:cNvPr id="41" name="TextBox 40">
                <a:extLst>
                  <a:ext uri="{FF2B5EF4-FFF2-40B4-BE49-F238E27FC236}">
                    <a16:creationId xmlns:a16="http://schemas.microsoft.com/office/drawing/2014/main" id="{FE7713F3-E4AD-DC8F-91D3-1574453452B2}"/>
                  </a:ext>
                </a:extLst>
              </p:cNvPr>
              <p:cNvSpPr txBox="1">
                <a:spLocks noRot="1" noChangeAspect="1" noMove="1" noResize="1" noEditPoints="1" noAdjustHandles="1" noChangeArrowheads="1" noChangeShapeType="1" noTextEdit="1"/>
              </p:cNvSpPr>
              <p:nvPr/>
            </p:nvSpPr>
            <p:spPr>
              <a:xfrm>
                <a:off x="8031741" y="5507091"/>
                <a:ext cx="2176400" cy="451470"/>
              </a:xfrm>
              <a:prstGeom prst="rect">
                <a:avLst/>
              </a:prstGeom>
              <a:blipFill>
                <a:blip r:embed="rId11"/>
                <a:stretch>
                  <a:fillRect/>
                </a:stretch>
              </a:blipFill>
            </p:spPr>
            <p:txBody>
              <a:bodyPr/>
              <a:lstStyle/>
              <a:p>
                <a:r>
                  <a:rPr lang="en-US">
                    <a:noFill/>
                  </a:rPr>
                  <a:t> </a:t>
                </a:r>
              </a:p>
            </p:txBody>
          </p:sp>
        </mc:Fallback>
      </mc:AlternateContent>
      <p:grpSp>
        <p:nvGrpSpPr>
          <p:cNvPr id="42" name="Group 41">
            <a:extLst>
              <a:ext uri="{FF2B5EF4-FFF2-40B4-BE49-F238E27FC236}">
                <a16:creationId xmlns:a16="http://schemas.microsoft.com/office/drawing/2014/main" id="{32F12153-672A-6FD6-1B15-507B408BDA80}"/>
              </a:ext>
            </a:extLst>
          </p:cNvPr>
          <p:cNvGrpSpPr/>
          <p:nvPr/>
        </p:nvGrpSpPr>
        <p:grpSpPr>
          <a:xfrm>
            <a:off x="-1" y="5806572"/>
            <a:ext cx="1102141" cy="1052444"/>
            <a:chOff x="-1" y="5806572"/>
            <a:chExt cx="1102141" cy="1052444"/>
          </a:xfrm>
        </p:grpSpPr>
        <p:pic>
          <p:nvPicPr>
            <p:cNvPr id="43" name="Picture 42">
              <a:extLst>
                <a:ext uri="{FF2B5EF4-FFF2-40B4-BE49-F238E27FC236}">
                  <a16:creationId xmlns:a16="http://schemas.microsoft.com/office/drawing/2014/main" id="{AF88C6DD-85E3-F861-8C6A-94E0DA194881}"/>
                </a:ext>
              </a:extLst>
            </p:cNvPr>
            <p:cNvPicPr>
              <a:picLocks noChangeAspect="1"/>
            </p:cNvPicPr>
            <p:nvPr/>
          </p:nvPicPr>
          <p:blipFill rotWithShape="1">
            <a:blip r:embed="rId12"/>
            <a:srcRect l="49545" b="51820"/>
            <a:stretch/>
          </p:blipFill>
          <p:spPr>
            <a:xfrm>
              <a:off x="-1" y="5806572"/>
              <a:ext cx="1102141" cy="1052444"/>
            </a:xfrm>
            <a:prstGeom prst="rect">
              <a:avLst/>
            </a:prstGeom>
          </p:spPr>
        </p:pic>
        <p:sp>
          <p:nvSpPr>
            <p:cNvPr id="44" name="Title 1">
              <a:extLst>
                <a:ext uri="{FF2B5EF4-FFF2-40B4-BE49-F238E27FC236}">
                  <a16:creationId xmlns:a16="http://schemas.microsoft.com/office/drawing/2014/main" id="{BC18A103-EF26-983D-3113-3590E246DC92}"/>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8</a:t>
              </a:r>
            </a:p>
          </p:txBody>
        </p:sp>
      </p:grpSp>
    </p:spTree>
    <p:extLst>
      <p:ext uri="{BB962C8B-B14F-4D97-AF65-F5344CB8AC3E}">
        <p14:creationId xmlns:p14="http://schemas.microsoft.com/office/powerpoint/2010/main" val="1281206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6569597"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Optical Elements</a:t>
            </a:r>
          </a:p>
        </p:txBody>
      </p:sp>
      <p:sp>
        <p:nvSpPr>
          <p:cNvPr id="10" name="TextBox 9">
            <a:extLst>
              <a:ext uri="{FF2B5EF4-FFF2-40B4-BE49-F238E27FC236}">
                <a16:creationId xmlns:a16="http://schemas.microsoft.com/office/drawing/2014/main" id="{09F300B9-FF6F-59D7-8ADE-C1C8003D0B06}"/>
              </a:ext>
            </a:extLst>
          </p:cNvPr>
          <p:cNvSpPr txBox="1"/>
          <p:nvPr/>
        </p:nvSpPr>
        <p:spPr>
          <a:xfrm>
            <a:off x="1600200" y="5829316"/>
            <a:ext cx="8897797" cy="584775"/>
          </a:xfrm>
          <a:prstGeom prst="rect">
            <a:avLst/>
          </a:prstGeom>
          <a:noFill/>
        </p:spPr>
        <p:txBody>
          <a:bodyPr wrap="square">
            <a:spAutoFit/>
          </a:bodyPr>
          <a:lstStyle/>
          <a:p>
            <a:pPr algn="just">
              <a:spcAft>
                <a:spcPts val="600"/>
              </a:spcAft>
            </a:pPr>
            <a:r>
              <a:rPr lang="en-GB" sz="1600" dirty="0">
                <a:solidFill>
                  <a:srgbClr val="EEEEEE"/>
                </a:solidFill>
                <a:latin typeface="Quicksand"/>
              </a:rPr>
              <a:t>Fig. 5: A diagram illustrating the microscopic composition of the simulated photonic crystals in an example optical system.</a:t>
            </a:r>
          </a:p>
        </p:txBody>
      </p:sp>
      <p:pic>
        <p:nvPicPr>
          <p:cNvPr id="7" name="Picture 6" descr="A diagram of a system&#10;&#10;Description automatically generated">
            <a:extLst>
              <a:ext uri="{FF2B5EF4-FFF2-40B4-BE49-F238E27FC236}">
                <a16:creationId xmlns:a16="http://schemas.microsoft.com/office/drawing/2014/main" id="{53CCC74C-7A40-E240-2188-04BA5CAAC9A1}"/>
              </a:ext>
            </a:extLst>
          </p:cNvPr>
          <p:cNvPicPr>
            <a:picLocks noChangeAspect="1"/>
          </p:cNvPicPr>
          <p:nvPr/>
        </p:nvPicPr>
        <p:blipFill>
          <a:blip r:embed="rId3"/>
          <a:stretch>
            <a:fillRect/>
          </a:stretch>
        </p:blipFill>
        <p:spPr>
          <a:xfrm>
            <a:off x="1694002" y="1631899"/>
            <a:ext cx="8803995" cy="4116321"/>
          </a:xfrm>
          <a:prstGeom prst="rect">
            <a:avLst/>
          </a:prstGeom>
          <a:ln w="38100">
            <a:solidFill>
              <a:schemeClr val="tx1">
                <a:lumMod val="65000"/>
              </a:schemeClr>
            </a:solidFill>
            <a:miter lim="800000"/>
          </a:ln>
        </p:spPr>
      </p:pic>
      <p:grpSp>
        <p:nvGrpSpPr>
          <p:cNvPr id="8" name="Group 7">
            <a:extLst>
              <a:ext uri="{FF2B5EF4-FFF2-40B4-BE49-F238E27FC236}">
                <a16:creationId xmlns:a16="http://schemas.microsoft.com/office/drawing/2014/main" id="{89B80984-750A-A6FB-67AB-5805EBC82CA0}"/>
              </a:ext>
            </a:extLst>
          </p:cNvPr>
          <p:cNvGrpSpPr/>
          <p:nvPr/>
        </p:nvGrpSpPr>
        <p:grpSpPr>
          <a:xfrm>
            <a:off x="-1" y="5806572"/>
            <a:ext cx="1102141" cy="1052444"/>
            <a:chOff x="-1" y="5806572"/>
            <a:chExt cx="1102141" cy="1052444"/>
          </a:xfrm>
        </p:grpSpPr>
        <p:pic>
          <p:nvPicPr>
            <p:cNvPr id="9" name="Picture 8">
              <a:extLst>
                <a:ext uri="{FF2B5EF4-FFF2-40B4-BE49-F238E27FC236}">
                  <a16:creationId xmlns:a16="http://schemas.microsoft.com/office/drawing/2014/main" id="{7D5D5275-772C-E331-344E-CA0A7D311FAC}"/>
                </a:ext>
              </a:extLst>
            </p:cNvPr>
            <p:cNvPicPr>
              <a:picLocks noChangeAspect="1"/>
            </p:cNvPicPr>
            <p:nvPr/>
          </p:nvPicPr>
          <p:blipFill rotWithShape="1">
            <a:blip r:embed="rId4"/>
            <a:srcRect l="49545" b="51820"/>
            <a:stretch/>
          </p:blipFill>
          <p:spPr>
            <a:xfrm>
              <a:off x="-1" y="5806572"/>
              <a:ext cx="1102141" cy="1052444"/>
            </a:xfrm>
            <a:prstGeom prst="rect">
              <a:avLst/>
            </a:prstGeom>
          </p:spPr>
        </p:pic>
        <p:sp>
          <p:nvSpPr>
            <p:cNvPr id="11" name="Title 1">
              <a:extLst>
                <a:ext uri="{FF2B5EF4-FFF2-40B4-BE49-F238E27FC236}">
                  <a16:creationId xmlns:a16="http://schemas.microsoft.com/office/drawing/2014/main" id="{F03917AD-E46C-B7CE-1242-DAC4BBD1394C}"/>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9</a:t>
              </a:r>
            </a:p>
          </p:txBody>
        </p:sp>
      </p:gr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74D134E-7360-315D-8786-DA85C39A0ADB}"/>
                  </a:ext>
                </a:extLst>
              </p:cNvPr>
              <p:cNvSpPr txBox="1"/>
              <p:nvPr/>
            </p:nvSpPr>
            <p:spPr>
              <a:xfrm>
                <a:off x="6232525" y="1644599"/>
                <a:ext cx="1336675" cy="5564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800" b="0" i="1" smtClean="0">
                              <a:solidFill>
                                <a:schemeClr val="bg1"/>
                              </a:solidFill>
                              <a:latin typeface="Cambria Math" panose="02040503050406030204" pitchFamily="18" charset="0"/>
                              <a:cs typeface="Microsoft Sans Serif" panose="020B0604020202020204" pitchFamily="34" charset="0"/>
                            </a:rPr>
                          </m:ctrlPr>
                        </m:sSubPr>
                        <m:e>
                          <m:r>
                            <a:rPr lang="en-GB" sz="2800" i="1" smtClean="0">
                              <a:solidFill>
                                <a:schemeClr val="bg1"/>
                              </a:solidFill>
                              <a:latin typeface="Cambria Math" panose="02040503050406030204" pitchFamily="18" charset="0"/>
                              <a:cs typeface="Microsoft Sans Serif" panose="020B0604020202020204" pitchFamily="34" charset="0"/>
                            </a:rPr>
                            <m:t>𝑁</m:t>
                          </m:r>
                        </m:e>
                        <m:sub>
                          <m:r>
                            <a:rPr lang="en-GB" sz="2800" i="1" smtClean="0">
                              <a:solidFill>
                                <a:schemeClr val="bg1"/>
                              </a:solidFill>
                              <a:latin typeface="Cambria Math" panose="02040503050406030204" pitchFamily="18" charset="0"/>
                              <a:cs typeface="Microsoft Sans Serif" panose="020B0604020202020204" pitchFamily="34" charset="0"/>
                            </a:rPr>
                            <m:t>𝑝𝑒𝑟</m:t>
                          </m:r>
                        </m:sub>
                      </m:sSub>
                      <m:r>
                        <a:rPr lang="en-US" sz="2800" b="0" i="1" smtClean="0">
                          <a:solidFill>
                            <a:schemeClr val="bg1"/>
                          </a:solidFill>
                          <a:latin typeface="Cambria Math" panose="02040503050406030204" pitchFamily="18" charset="0"/>
                          <a:cs typeface="Microsoft Sans Serif" panose="020B0604020202020204" pitchFamily="34" charset="0"/>
                        </a:rPr>
                        <m:t> ×</m:t>
                      </m:r>
                    </m:oMath>
                  </m:oMathPara>
                </a14:m>
                <a:endParaRPr lang="en-US" sz="2800" dirty="0">
                  <a:solidFill>
                    <a:schemeClr val="bg1"/>
                  </a:solidFill>
                </a:endParaRPr>
              </a:p>
            </p:txBody>
          </p:sp>
        </mc:Choice>
        <mc:Fallback xmlns="">
          <p:sp>
            <p:nvSpPr>
              <p:cNvPr id="39" name="TextBox 38">
                <a:extLst>
                  <a:ext uri="{FF2B5EF4-FFF2-40B4-BE49-F238E27FC236}">
                    <a16:creationId xmlns:a16="http://schemas.microsoft.com/office/drawing/2014/main" id="{074D134E-7360-315D-8786-DA85C39A0ADB}"/>
                  </a:ext>
                </a:extLst>
              </p:cNvPr>
              <p:cNvSpPr txBox="1">
                <a:spLocks noRot="1" noChangeAspect="1" noMove="1" noResize="1" noEditPoints="1" noAdjustHandles="1" noChangeArrowheads="1" noChangeShapeType="1" noTextEdit="1"/>
              </p:cNvSpPr>
              <p:nvPr/>
            </p:nvSpPr>
            <p:spPr>
              <a:xfrm>
                <a:off x="6232525" y="1644599"/>
                <a:ext cx="1336675" cy="556434"/>
              </a:xfrm>
              <a:prstGeom prst="rect">
                <a:avLst/>
              </a:prstGeom>
              <a:blipFill>
                <a:blip r:embed="rId5"/>
                <a:stretch>
                  <a:fillRect b="-15556"/>
                </a:stretch>
              </a:blipFill>
            </p:spPr>
            <p:txBody>
              <a:bodyPr/>
              <a:lstStyle/>
              <a:p>
                <a:r>
                  <a:rPr lang="en-US">
                    <a:noFill/>
                  </a:rPr>
                  <a:t> </a:t>
                </a:r>
              </a:p>
            </p:txBody>
          </p:sp>
        </mc:Fallback>
      </mc:AlternateContent>
    </p:spTree>
    <p:extLst>
      <p:ext uri="{BB962C8B-B14F-4D97-AF65-F5344CB8AC3E}">
        <p14:creationId xmlns:p14="http://schemas.microsoft.com/office/powerpoint/2010/main" val="608749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199" y="302043"/>
            <a:ext cx="6569597" cy="1325563"/>
          </a:xfrm>
        </p:spPr>
        <p:txBody>
          <a:bodyPr/>
          <a:lstStyle/>
          <a:p>
            <a:r>
              <a:rPr lang="en-US" sz="4400" dirty="0">
                <a:latin typeface="DIN Alternate" panose="020B0500000000000000" pitchFamily="34" charset="77"/>
                <a:ea typeface="+mn-ea"/>
                <a:cs typeface="+mn-cs"/>
              </a:rPr>
              <a:t>The D</a:t>
            </a:r>
            <a:r>
              <a:rPr kumimoji="0" lang="en-US" sz="4400" b="0" i="0" u="none" strike="noStrike" kern="1200" cap="none" spc="0" normalizeH="0" baseline="0" noProof="0" dirty="0" err="1">
                <a:ln>
                  <a:noFill/>
                </a:ln>
                <a:effectLst/>
                <a:uLnTx/>
                <a:uFillTx/>
                <a:latin typeface="DIN Alternate" panose="020B0500000000000000" pitchFamily="34" charset="77"/>
                <a:ea typeface="+mn-ea"/>
                <a:cs typeface="+mn-cs"/>
              </a:rPr>
              <a:t>istributed</a:t>
            </a:r>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 Bragg Reflector (DBR)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199" y="1598783"/>
                <a:ext cx="5885986" cy="4906691"/>
              </a:xfrm>
            </p:spPr>
            <p:txBody>
              <a:bodyPr anchor="ctr">
                <a:normAutofit/>
              </a:bodyPr>
              <a:lstStyle/>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Periodic </a:t>
                </a:r>
                <a:r>
                  <a:rPr lang="en-GB" sz="2000" b="1" dirty="0">
                    <a:latin typeface="Microsoft Sans Serif" panose="020B0604020202020204" pitchFamily="34" charset="0"/>
                    <a:cs typeface="Microsoft Sans Serif" panose="020B0604020202020204" pitchFamily="34" charset="0"/>
                  </a:rPr>
                  <a:t>quarter-wavelength </a:t>
                </a:r>
                <a:r>
                  <a:rPr lang="en-GB" sz="2000" dirty="0">
                    <a:latin typeface="Microsoft Sans Serif" panose="020B0604020202020204" pitchFamily="34" charset="0"/>
                    <a:cs typeface="Microsoft Sans Serif" panose="020B0604020202020204" pitchFamily="34" charset="0"/>
                  </a:rPr>
                  <a:t>stacks of high and low refractive index materials</a:t>
                </a:r>
              </a:p>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Destructive interference </a:t>
                </a:r>
                <a14:m>
                  <m:oMath xmlns:m="http://schemas.openxmlformats.org/officeDocument/2006/math">
                    <m:r>
                      <a:rPr lang="en-US" sz="2000" b="0" i="1" smtClean="0">
                        <a:latin typeface="Cambria Math" panose="02040503050406030204" pitchFamily="18" charset="0"/>
                        <a:cs typeface="Microsoft Sans Serif" panose="020B0604020202020204" pitchFamily="34" charset="0"/>
                      </a:rPr>
                      <m:t>→</m:t>
                    </m:r>
                  </m:oMath>
                </a14:m>
                <a:r>
                  <a:rPr lang="en-GB" sz="2000" dirty="0">
                    <a:latin typeface="Microsoft Sans Serif" panose="020B0604020202020204" pitchFamily="34" charset="0"/>
                    <a:cs typeface="Microsoft Sans Serif" panose="020B0604020202020204" pitchFamily="34" charset="0"/>
                  </a:rPr>
                  <a:t> periodically attenuated transmission </a:t>
                </a:r>
                <a14:m>
                  <m:oMath xmlns:m="http://schemas.openxmlformats.org/officeDocument/2006/math">
                    <m:r>
                      <a:rPr lang="en-US" sz="2000" i="1">
                        <a:latin typeface="Cambria Math" panose="02040503050406030204" pitchFamily="18" charset="0"/>
                        <a:cs typeface="Microsoft Sans Serif" panose="020B0604020202020204" pitchFamily="34" charset="0"/>
                      </a:rPr>
                      <m:t>→</m:t>
                    </m:r>
                  </m:oMath>
                </a14:m>
                <a:r>
                  <a:rPr lang="en-GB" sz="2000" dirty="0">
                    <a:latin typeface="Microsoft Sans Serif" panose="020B0604020202020204" pitchFamily="34" charset="0"/>
                    <a:cs typeface="Microsoft Sans Serif" panose="020B0604020202020204" pitchFamily="34" charset="0"/>
                  </a:rPr>
                  <a:t> reflection</a:t>
                </a:r>
              </a:p>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Test properties </a:t>
                </a:r>
                <a14:m>
                  <m:oMath xmlns:m="http://schemas.openxmlformats.org/officeDocument/2006/math">
                    <m:sSub>
                      <m:sSubPr>
                        <m:ctrlPr>
                          <a:rPr lang="en-US" sz="2000" b="0" i="1" dirty="0" smtClean="0">
                            <a:latin typeface="Cambria Math" panose="02040503050406030204" pitchFamily="18" charset="0"/>
                            <a:cs typeface="Microsoft Sans Serif" panose="020B0604020202020204" pitchFamily="34" charset="0"/>
                          </a:rPr>
                        </m:ctrlPr>
                      </m:sSubPr>
                      <m:e>
                        <m:r>
                          <a:rPr lang="en-US" sz="2000" b="0" i="1" dirty="0" smtClean="0">
                            <a:latin typeface="Cambria Math" panose="02040503050406030204" pitchFamily="18" charset="0"/>
                            <a:cs typeface="Microsoft Sans Serif" panose="020B0604020202020204" pitchFamily="34" charset="0"/>
                          </a:rPr>
                          <m:t>h</m:t>
                        </m:r>
                      </m:e>
                      <m:sub>
                        <m:r>
                          <a:rPr lang="en-GB" sz="2000" i="1" dirty="0" smtClean="0">
                            <a:latin typeface="Cambria Math" panose="02040503050406030204" pitchFamily="18" charset="0"/>
                            <a:cs typeface="Microsoft Sans Serif" panose="020B0604020202020204" pitchFamily="34" charset="0"/>
                          </a:rPr>
                          <m:t>𝐷𝐵𝑅</m:t>
                        </m:r>
                      </m:sub>
                    </m:sSub>
                    <m:r>
                      <a:rPr lang="en-GB" sz="2000" i="1" dirty="0">
                        <a:latin typeface="Cambria Math" panose="02040503050406030204" pitchFamily="18" charset="0"/>
                        <a:cs typeface="Microsoft Sans Serif" panose="020B0604020202020204" pitchFamily="34" charset="0"/>
                      </a:rPr>
                      <m:t>, </m:t>
                    </m:r>
                    <m:sSub>
                      <m:sSubPr>
                        <m:ctrlPr>
                          <a:rPr lang="en-US" sz="2000" b="0" i="1" dirty="0" smtClean="0">
                            <a:latin typeface="Cambria Math" panose="02040503050406030204" pitchFamily="18" charset="0"/>
                            <a:cs typeface="Microsoft Sans Serif" panose="020B0604020202020204" pitchFamily="34" charset="0"/>
                          </a:rPr>
                        </m:ctrlPr>
                      </m:sSubPr>
                      <m:e>
                        <m:r>
                          <a:rPr lang="en-GB" sz="2000" i="1" dirty="0" err="1" smtClean="0">
                            <a:latin typeface="Cambria Math" panose="02040503050406030204" pitchFamily="18" charset="0"/>
                            <a:cs typeface="Microsoft Sans Serif" panose="020B0604020202020204" pitchFamily="34" charset="0"/>
                          </a:rPr>
                          <m:t>𝑛</m:t>
                        </m:r>
                      </m:e>
                      <m:sub>
                        <m:r>
                          <a:rPr lang="en-GB" sz="2000" i="1" dirty="0" err="1" smtClean="0">
                            <a:latin typeface="Cambria Math" panose="02040503050406030204" pitchFamily="18" charset="0"/>
                            <a:cs typeface="Microsoft Sans Serif" panose="020B0604020202020204" pitchFamily="34" charset="0"/>
                          </a:rPr>
                          <m:t>𝐷𝐵𝑅</m:t>
                        </m:r>
                      </m:sub>
                    </m:sSub>
                  </m:oMath>
                </a14:m>
                <a:r>
                  <a:rPr lang="en-US" sz="2000" b="0" dirty="0">
                    <a:latin typeface="Microsoft Sans Serif" panose="020B0604020202020204" pitchFamily="34" charset="0"/>
                    <a:cs typeface="Microsoft Sans Serif" panose="020B0604020202020204" pitchFamily="34" charset="0"/>
                  </a:rPr>
                  <a:t> and </a:t>
                </a:r>
                <a14:m>
                  <m:oMath xmlns:m="http://schemas.openxmlformats.org/officeDocument/2006/math">
                    <m:sSub>
                      <m:sSubPr>
                        <m:ctrlPr>
                          <a:rPr lang="en-US" sz="2000" b="0" i="1" dirty="0" smtClean="0">
                            <a:latin typeface="Cambria Math" panose="02040503050406030204" pitchFamily="18" charset="0"/>
                            <a:cs typeface="Microsoft Sans Serif" panose="020B0604020202020204" pitchFamily="34" charset="0"/>
                          </a:rPr>
                        </m:ctrlPr>
                      </m:sSubPr>
                      <m:e>
                        <m:r>
                          <a:rPr lang="en-US" sz="2000" b="0" i="1" dirty="0" smtClean="0">
                            <a:latin typeface="Cambria Math" panose="02040503050406030204" pitchFamily="18" charset="0"/>
                            <a:cs typeface="Microsoft Sans Serif" panose="020B0604020202020204" pitchFamily="34" charset="0"/>
                          </a:rPr>
                          <m:t>𝑁</m:t>
                        </m:r>
                      </m:e>
                      <m:sub>
                        <m:r>
                          <a:rPr lang="en-GB" sz="2000" i="1" dirty="0" err="1">
                            <a:latin typeface="Cambria Math" panose="02040503050406030204" pitchFamily="18" charset="0"/>
                            <a:cs typeface="Microsoft Sans Serif" panose="020B0604020202020204" pitchFamily="34" charset="0"/>
                          </a:rPr>
                          <m:t>𝐷𝐵𝑅</m:t>
                        </m:r>
                      </m:sub>
                    </m:sSub>
                  </m:oMath>
                </a14:m>
                <a:endParaRPr lang="en-US" sz="2000" b="0" dirty="0">
                  <a:latin typeface="Microsoft Sans Serif" panose="020B0604020202020204" pitchFamily="34" charset="0"/>
                  <a:cs typeface="Microsoft Sans Serif" panose="020B0604020202020204" pitchFamily="34" charset="0"/>
                </a:endParaRP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199" y="1598783"/>
                <a:ext cx="5885986" cy="4906691"/>
              </a:xfrm>
              <a:blipFill>
                <a:blip r:embed="rId3"/>
                <a:stretch>
                  <a:fillRect l="-860" r="-21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09F300B9-FF6F-59D7-8ADE-C1C8003D0B06}"/>
              </a:ext>
            </a:extLst>
          </p:cNvPr>
          <p:cNvSpPr txBox="1"/>
          <p:nvPr/>
        </p:nvSpPr>
        <p:spPr>
          <a:xfrm>
            <a:off x="7090496" y="2981910"/>
            <a:ext cx="4809439" cy="338554"/>
          </a:xfrm>
          <a:prstGeom prst="rect">
            <a:avLst/>
          </a:prstGeom>
          <a:noFill/>
        </p:spPr>
        <p:txBody>
          <a:bodyPr wrap="square">
            <a:spAutoFit/>
          </a:bodyPr>
          <a:lstStyle/>
          <a:p>
            <a:pPr algn="just">
              <a:spcAft>
                <a:spcPts val="600"/>
              </a:spcAft>
            </a:pPr>
            <a:r>
              <a:rPr lang="en-GB" sz="1600" dirty="0">
                <a:solidFill>
                  <a:srgbClr val="EEEEEE"/>
                </a:solidFill>
                <a:latin typeface="Quicksand"/>
              </a:rPr>
              <a:t>Fig. 6: A diagram of a DBR. Modified from </a:t>
            </a:r>
            <a:r>
              <a:rPr lang="en-GB" sz="1600" dirty="0" err="1">
                <a:solidFill>
                  <a:srgbClr val="EEEEEE"/>
                </a:solidFill>
                <a:latin typeface="Quicksand"/>
              </a:rPr>
              <a:t>FlexCompute</a:t>
            </a:r>
            <a:r>
              <a:rPr lang="en-GB" sz="1600" dirty="0">
                <a:solidFill>
                  <a:srgbClr val="EEEEEE"/>
                </a:solidFill>
                <a:latin typeface="Quicksand"/>
              </a:rPr>
              <a:t>. </a:t>
            </a:r>
            <a:endParaRPr lang="en-GB" sz="1600" b="0" i="0" dirty="0">
              <a:solidFill>
                <a:srgbClr val="EEEEEE"/>
              </a:solidFill>
              <a:effectLst/>
              <a:latin typeface="Quicksand"/>
            </a:endParaRPr>
          </a:p>
        </p:txBody>
      </p:sp>
      <p:grpSp>
        <p:nvGrpSpPr>
          <p:cNvPr id="25" name="Group 24">
            <a:extLst>
              <a:ext uri="{FF2B5EF4-FFF2-40B4-BE49-F238E27FC236}">
                <a16:creationId xmlns:a16="http://schemas.microsoft.com/office/drawing/2014/main" id="{C3F26E3C-4A08-D070-1278-A6D9C5036847}"/>
              </a:ext>
            </a:extLst>
          </p:cNvPr>
          <p:cNvGrpSpPr/>
          <p:nvPr/>
        </p:nvGrpSpPr>
        <p:grpSpPr>
          <a:xfrm>
            <a:off x="7090496" y="278758"/>
            <a:ext cx="4411874" cy="2589577"/>
            <a:chOff x="7618690" y="562279"/>
            <a:chExt cx="4411874" cy="2589577"/>
          </a:xfrm>
        </p:grpSpPr>
        <p:grpSp>
          <p:nvGrpSpPr>
            <p:cNvPr id="22" name="Group 21">
              <a:extLst>
                <a:ext uri="{FF2B5EF4-FFF2-40B4-BE49-F238E27FC236}">
                  <a16:creationId xmlns:a16="http://schemas.microsoft.com/office/drawing/2014/main" id="{3B8C8923-8962-0BEF-53D6-7BE013470D75}"/>
                </a:ext>
              </a:extLst>
            </p:cNvPr>
            <p:cNvGrpSpPr/>
            <p:nvPr/>
          </p:nvGrpSpPr>
          <p:grpSpPr>
            <a:xfrm>
              <a:off x="7618690" y="562279"/>
              <a:ext cx="4402447" cy="2589577"/>
              <a:chOff x="7618690" y="562279"/>
              <a:chExt cx="4402447" cy="2589577"/>
            </a:xfrm>
          </p:grpSpPr>
          <p:pic>
            <p:nvPicPr>
              <p:cNvPr id="1026" name="Picture 2" descr="Schematic of the DBR and cavity">
                <a:extLst>
                  <a:ext uri="{FF2B5EF4-FFF2-40B4-BE49-F238E27FC236}">
                    <a16:creationId xmlns:a16="http://schemas.microsoft.com/office/drawing/2014/main" id="{624AAF22-9E6A-95C5-7280-F1D25F7B501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87" t="16592" r="52339" b="32478"/>
              <a:stretch/>
            </p:blipFill>
            <p:spPr bwMode="auto">
              <a:xfrm>
                <a:off x="7618690" y="562279"/>
                <a:ext cx="4402447" cy="2589577"/>
              </a:xfrm>
              <a:prstGeom prst="rect">
                <a:avLst/>
              </a:prstGeom>
              <a:noFill/>
              <a:ln w="38100">
                <a:solidFill>
                  <a:schemeClr val="tx1">
                    <a:lumMod val="65000"/>
                  </a:schemeClr>
                </a:solidFill>
                <a:miter lim="800000"/>
              </a:ln>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E66729DB-B250-E24B-689B-CF36E74386ED}"/>
                  </a:ext>
                </a:extLst>
              </p:cNvPr>
              <p:cNvPicPr>
                <a:picLocks noChangeAspect="1"/>
              </p:cNvPicPr>
              <p:nvPr/>
            </p:nvPicPr>
            <p:blipFill>
              <a:blip r:embed="rId5"/>
              <a:stretch>
                <a:fillRect/>
              </a:stretch>
            </p:blipFill>
            <p:spPr>
              <a:xfrm>
                <a:off x="7705000" y="2503705"/>
                <a:ext cx="406652" cy="609979"/>
              </a:xfrm>
              <a:prstGeom prst="rect">
                <a:avLst/>
              </a:prstGeom>
            </p:spPr>
          </p:pic>
          <p:pic>
            <p:nvPicPr>
              <p:cNvPr id="13" name="Picture 12">
                <a:extLst>
                  <a:ext uri="{FF2B5EF4-FFF2-40B4-BE49-F238E27FC236}">
                    <a16:creationId xmlns:a16="http://schemas.microsoft.com/office/drawing/2014/main" id="{C585C99A-B1B3-05B7-566E-6A87034BCB26}"/>
                  </a:ext>
                </a:extLst>
              </p:cNvPr>
              <p:cNvPicPr>
                <a:picLocks noChangeAspect="1"/>
              </p:cNvPicPr>
              <p:nvPr/>
            </p:nvPicPr>
            <p:blipFill>
              <a:blip r:embed="rId6"/>
              <a:stretch>
                <a:fillRect/>
              </a:stretch>
            </p:blipFill>
            <p:spPr>
              <a:xfrm>
                <a:off x="10285977" y="2430512"/>
                <a:ext cx="1512000" cy="717210"/>
              </a:xfrm>
              <a:prstGeom prst="rect">
                <a:avLst/>
              </a:prstGeom>
            </p:spPr>
          </p:pic>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D2D2341-C70E-08BA-388D-2F52D32D3AE9}"/>
                    </a:ext>
                  </a:extLst>
                </p:cNvPr>
                <p:cNvSpPr txBox="1"/>
                <p:nvPr/>
              </p:nvSpPr>
              <p:spPr>
                <a:xfrm>
                  <a:off x="10101449" y="2427665"/>
                  <a:ext cx="169251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h</m:t>
                            </m:r>
                          </m:e>
                          <m:sub>
                            <m:r>
                              <a:rPr lang="en-US" b="0" i="1" smtClean="0">
                                <a:solidFill>
                                  <a:schemeClr val="bg1"/>
                                </a:solidFill>
                                <a:latin typeface="Cambria Math" panose="02040503050406030204" pitchFamily="18" charset="0"/>
                              </a:rPr>
                              <m:t>𝑖</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𝜆</m:t>
                            </m:r>
                          </m:e>
                          <m:sub>
                            <m:r>
                              <a:rPr lang="en-US" b="0" i="1" smtClean="0">
                                <a:solidFill>
                                  <a:schemeClr val="bg1"/>
                                </a:solidFill>
                                <a:latin typeface="Cambria Math" panose="02040503050406030204" pitchFamily="18" charset="0"/>
                              </a:rPr>
                              <m:t>𝐷𝐵𝑅</m:t>
                            </m:r>
                          </m:sub>
                        </m:sSub>
                        <m:r>
                          <a:rPr lang="en-US" b="0" i="0" smtClean="0">
                            <a:solidFill>
                              <a:schemeClr val="bg1"/>
                            </a:solidFill>
                            <a:latin typeface="Cambria Math" panose="02040503050406030204" pitchFamily="18" charset="0"/>
                          </a:rPr>
                          <m:t>/4</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𝑛</m:t>
                            </m:r>
                          </m:e>
                          <m:sub>
                            <m:r>
                              <a:rPr lang="en-US" b="0" i="1" smtClean="0">
                                <a:solidFill>
                                  <a:schemeClr val="bg1"/>
                                </a:solidFill>
                                <a:latin typeface="Cambria Math" panose="02040503050406030204" pitchFamily="18" charset="0"/>
                              </a:rPr>
                              <m:t>0</m:t>
                            </m:r>
                          </m:sub>
                        </m:sSub>
                      </m:oMath>
                    </m:oMathPara>
                  </a14:m>
                  <a:endParaRPr lang="en-US" b="0" i="1" dirty="0">
                    <a:solidFill>
                      <a:schemeClr val="bg1"/>
                    </a:solidFill>
                  </a:endParaRPr>
                </a:p>
              </p:txBody>
            </p:sp>
          </mc:Choice>
          <mc:Fallback xmlns="">
            <p:sp>
              <p:nvSpPr>
                <p:cNvPr id="16" name="TextBox 15">
                  <a:extLst>
                    <a:ext uri="{FF2B5EF4-FFF2-40B4-BE49-F238E27FC236}">
                      <a16:creationId xmlns:a16="http://schemas.microsoft.com/office/drawing/2014/main" id="{CD2D2341-C70E-08BA-388D-2F52D32D3AE9}"/>
                    </a:ext>
                  </a:extLst>
                </p:cNvPr>
                <p:cNvSpPr txBox="1">
                  <a:spLocks noRot="1" noChangeAspect="1" noMove="1" noResize="1" noEditPoints="1" noAdjustHandles="1" noChangeArrowheads="1" noChangeShapeType="1" noTextEdit="1"/>
                </p:cNvSpPr>
                <p:nvPr/>
              </p:nvSpPr>
              <p:spPr>
                <a:xfrm>
                  <a:off x="10101449" y="2427665"/>
                  <a:ext cx="1692515" cy="369332"/>
                </a:xfrm>
                <a:prstGeom prst="rect">
                  <a:avLst/>
                </a:prstGeom>
                <a:blipFill>
                  <a:blip r:embed="rId7"/>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3F20334-6AC5-55E9-7B49-46A7C95D54CA}"/>
                    </a:ext>
                  </a:extLst>
                </p:cNvPr>
                <p:cNvSpPr txBox="1"/>
                <p:nvPr/>
              </p:nvSpPr>
              <p:spPr>
                <a:xfrm>
                  <a:off x="10082595" y="2754441"/>
                  <a:ext cx="1947969"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h</m:t>
                            </m:r>
                          </m:e>
                          <m:sub>
                            <m:r>
                              <a:rPr lang="en-US" b="0" i="1" smtClean="0">
                                <a:solidFill>
                                  <a:schemeClr val="bg1"/>
                                </a:solidFill>
                                <a:latin typeface="Cambria Math" panose="02040503050406030204" pitchFamily="18" charset="0"/>
                              </a:rPr>
                              <m:t>𝑗</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𝜆</m:t>
                            </m:r>
                          </m:e>
                          <m:sub>
                            <m:r>
                              <a:rPr lang="en-US" b="0" i="1" smtClean="0">
                                <a:solidFill>
                                  <a:schemeClr val="bg1"/>
                                </a:solidFill>
                                <a:latin typeface="Cambria Math" panose="02040503050406030204" pitchFamily="18" charset="0"/>
                              </a:rPr>
                              <m:t>𝐷𝐵𝑅</m:t>
                            </m:r>
                          </m:sub>
                        </m:sSub>
                        <m:r>
                          <a:rPr lang="en-US" b="0" i="0" smtClean="0">
                            <a:solidFill>
                              <a:schemeClr val="bg1"/>
                            </a:solidFill>
                            <a:latin typeface="Cambria Math" panose="02040503050406030204" pitchFamily="18" charset="0"/>
                          </a:rPr>
                          <m:t>/4</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𝑛</m:t>
                            </m:r>
                          </m:e>
                          <m:sub>
                            <m:r>
                              <a:rPr lang="en-US" b="0" i="1" smtClean="0">
                                <a:solidFill>
                                  <a:schemeClr val="bg1"/>
                                </a:solidFill>
                                <a:latin typeface="Cambria Math" panose="02040503050406030204" pitchFamily="18" charset="0"/>
                              </a:rPr>
                              <m:t>𝐷𝐵𝑅</m:t>
                            </m:r>
                          </m:sub>
                        </m:sSub>
                      </m:oMath>
                    </m:oMathPara>
                  </a14:m>
                  <a:endParaRPr lang="en-US" b="0" i="1" dirty="0">
                    <a:solidFill>
                      <a:schemeClr val="bg1"/>
                    </a:solidFill>
                  </a:endParaRPr>
                </a:p>
              </p:txBody>
            </p:sp>
          </mc:Choice>
          <mc:Fallback xmlns="">
            <p:sp>
              <p:nvSpPr>
                <p:cNvPr id="20" name="TextBox 19">
                  <a:extLst>
                    <a:ext uri="{FF2B5EF4-FFF2-40B4-BE49-F238E27FC236}">
                      <a16:creationId xmlns:a16="http://schemas.microsoft.com/office/drawing/2014/main" id="{53F20334-6AC5-55E9-7B49-46A7C95D54CA}"/>
                    </a:ext>
                  </a:extLst>
                </p:cNvPr>
                <p:cNvSpPr txBox="1">
                  <a:spLocks noRot="1" noChangeAspect="1" noMove="1" noResize="1" noEditPoints="1" noAdjustHandles="1" noChangeArrowheads="1" noChangeShapeType="1" noTextEdit="1"/>
                </p:cNvSpPr>
                <p:nvPr/>
              </p:nvSpPr>
              <p:spPr>
                <a:xfrm>
                  <a:off x="10082595" y="2754441"/>
                  <a:ext cx="1947969" cy="391646"/>
                </a:xfrm>
                <a:prstGeom prst="rect">
                  <a:avLst/>
                </a:prstGeom>
                <a:blipFill>
                  <a:blip r:embed="rId8"/>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DF237BD-BA69-969D-CCB9-C709EB0169B4}"/>
                    </a:ext>
                  </a:extLst>
                </p:cNvPr>
                <p:cNvSpPr txBox="1"/>
                <p:nvPr/>
              </p:nvSpPr>
              <p:spPr>
                <a:xfrm>
                  <a:off x="7663751" y="2745014"/>
                  <a:ext cx="7234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𝑛</m:t>
                            </m:r>
                          </m:e>
                          <m:sub>
                            <m:r>
                              <a:rPr lang="en-US" b="0" i="1" smtClean="0">
                                <a:solidFill>
                                  <a:schemeClr val="bg1"/>
                                </a:solidFill>
                                <a:latin typeface="Cambria Math" panose="02040503050406030204" pitchFamily="18" charset="0"/>
                              </a:rPr>
                              <m:t>𝐷𝐵𝑅</m:t>
                            </m:r>
                          </m:sub>
                        </m:sSub>
                      </m:oMath>
                    </m:oMathPara>
                  </a14:m>
                  <a:endParaRPr lang="en-US" b="0" i="1" dirty="0">
                    <a:solidFill>
                      <a:schemeClr val="bg1"/>
                    </a:solidFill>
                  </a:endParaRPr>
                </a:p>
              </p:txBody>
            </p:sp>
          </mc:Choice>
          <mc:Fallback xmlns="">
            <p:sp>
              <p:nvSpPr>
                <p:cNvPr id="23" name="TextBox 22">
                  <a:extLst>
                    <a:ext uri="{FF2B5EF4-FFF2-40B4-BE49-F238E27FC236}">
                      <a16:creationId xmlns:a16="http://schemas.microsoft.com/office/drawing/2014/main" id="{7DF237BD-BA69-969D-CCB9-C709EB0169B4}"/>
                    </a:ext>
                  </a:extLst>
                </p:cNvPr>
                <p:cNvSpPr txBox="1">
                  <a:spLocks noRot="1" noChangeAspect="1" noMove="1" noResize="1" noEditPoints="1" noAdjustHandles="1" noChangeArrowheads="1" noChangeShapeType="1" noTextEdit="1"/>
                </p:cNvSpPr>
                <p:nvPr/>
              </p:nvSpPr>
              <p:spPr>
                <a:xfrm>
                  <a:off x="7663751" y="2745014"/>
                  <a:ext cx="723467"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C526CB1-977A-9417-5AA5-CAFF766DDFED}"/>
                    </a:ext>
                  </a:extLst>
                </p:cNvPr>
                <p:cNvSpPr txBox="1"/>
                <p:nvPr/>
              </p:nvSpPr>
              <p:spPr>
                <a:xfrm>
                  <a:off x="7791490" y="2421599"/>
                  <a:ext cx="4715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𝑛</m:t>
                            </m:r>
                          </m:e>
                          <m:sub>
                            <m:r>
                              <a:rPr lang="en-US" b="0" i="1" smtClean="0">
                                <a:solidFill>
                                  <a:schemeClr val="bg1"/>
                                </a:solidFill>
                                <a:latin typeface="Cambria Math" panose="02040503050406030204" pitchFamily="18" charset="0"/>
                              </a:rPr>
                              <m:t>0</m:t>
                            </m:r>
                          </m:sub>
                        </m:sSub>
                      </m:oMath>
                    </m:oMathPara>
                  </a14:m>
                  <a:endParaRPr lang="en-US" b="0" i="1" dirty="0">
                    <a:solidFill>
                      <a:schemeClr val="bg1"/>
                    </a:solidFill>
                  </a:endParaRPr>
                </a:p>
              </p:txBody>
            </p:sp>
          </mc:Choice>
          <mc:Fallback xmlns="">
            <p:sp>
              <p:nvSpPr>
                <p:cNvPr id="24" name="TextBox 23">
                  <a:extLst>
                    <a:ext uri="{FF2B5EF4-FFF2-40B4-BE49-F238E27FC236}">
                      <a16:creationId xmlns:a16="http://schemas.microsoft.com/office/drawing/2014/main" id="{EC526CB1-977A-9417-5AA5-CAFF766DDFED}"/>
                    </a:ext>
                  </a:extLst>
                </p:cNvPr>
                <p:cNvSpPr txBox="1">
                  <a:spLocks noRot="1" noChangeAspect="1" noMove="1" noResize="1" noEditPoints="1" noAdjustHandles="1" noChangeArrowheads="1" noChangeShapeType="1" noTextEdit="1"/>
                </p:cNvSpPr>
                <p:nvPr/>
              </p:nvSpPr>
              <p:spPr>
                <a:xfrm>
                  <a:off x="7791490" y="2421599"/>
                  <a:ext cx="471539" cy="369332"/>
                </a:xfrm>
                <a:prstGeom prst="rect">
                  <a:avLst/>
                </a:prstGeom>
                <a:blipFill>
                  <a:blip r:embed="rId10"/>
                  <a:stretch>
                    <a:fillRect/>
                  </a:stretch>
                </a:blipFill>
              </p:spPr>
              <p:txBody>
                <a:bodyPr/>
                <a:lstStyle/>
                <a:p>
                  <a:r>
                    <a:rPr lang="en-US">
                      <a:noFill/>
                    </a:rPr>
                    <a:t> </a:t>
                  </a:r>
                </a:p>
              </p:txBody>
            </p:sp>
          </mc:Fallback>
        </mc:AlternateContent>
      </p:grpSp>
      <p:pic>
        <p:nvPicPr>
          <p:cNvPr id="27" name="Picture 26" descr="A graph of a function&#10;&#10;Description automatically generated">
            <a:extLst>
              <a:ext uri="{FF2B5EF4-FFF2-40B4-BE49-F238E27FC236}">
                <a16:creationId xmlns:a16="http://schemas.microsoft.com/office/drawing/2014/main" id="{AE090B17-9C2F-DA89-9D55-547DA78065A3}"/>
              </a:ext>
            </a:extLst>
          </p:cNvPr>
          <p:cNvPicPr>
            <a:picLocks noChangeAspect="1"/>
          </p:cNvPicPr>
          <p:nvPr/>
        </p:nvPicPr>
        <p:blipFill rotWithShape="1">
          <a:blip r:embed="rId11"/>
          <a:srcRect t="5064"/>
          <a:stretch/>
        </p:blipFill>
        <p:spPr>
          <a:xfrm>
            <a:off x="7090496" y="3467278"/>
            <a:ext cx="4411874" cy="2792320"/>
          </a:xfrm>
          <a:prstGeom prst="rect">
            <a:avLst/>
          </a:prstGeom>
          <a:ln w="38100">
            <a:solidFill>
              <a:schemeClr val="tx1">
                <a:lumMod val="65000"/>
              </a:schemeClr>
            </a:solidFill>
          </a:ln>
        </p:spPr>
      </p:pic>
      <p:sp>
        <p:nvSpPr>
          <p:cNvPr id="28" name="TextBox 27">
            <a:extLst>
              <a:ext uri="{FF2B5EF4-FFF2-40B4-BE49-F238E27FC236}">
                <a16:creationId xmlns:a16="http://schemas.microsoft.com/office/drawing/2014/main" id="{ED749C33-18AE-34F1-0B9B-44353AF9478A}"/>
              </a:ext>
            </a:extLst>
          </p:cNvPr>
          <p:cNvSpPr txBox="1"/>
          <p:nvPr/>
        </p:nvSpPr>
        <p:spPr>
          <a:xfrm>
            <a:off x="7135557" y="6324774"/>
            <a:ext cx="4492138" cy="338554"/>
          </a:xfrm>
          <a:prstGeom prst="rect">
            <a:avLst/>
          </a:prstGeom>
          <a:noFill/>
        </p:spPr>
        <p:txBody>
          <a:bodyPr wrap="square">
            <a:spAutoFit/>
          </a:bodyPr>
          <a:lstStyle/>
          <a:p>
            <a:pPr algn="just">
              <a:spcAft>
                <a:spcPts val="600"/>
              </a:spcAft>
            </a:pPr>
            <a:r>
              <a:rPr lang="en-GB" sz="1600" dirty="0">
                <a:solidFill>
                  <a:srgbClr val="EEEEEE"/>
                </a:solidFill>
                <a:latin typeface="Quicksand"/>
              </a:rPr>
              <a:t>Fig.7: The DBR photonic bandgap. </a:t>
            </a:r>
            <a:endParaRPr lang="en-GB" sz="1600" b="0" i="0" dirty="0">
              <a:solidFill>
                <a:srgbClr val="EEEEEE"/>
              </a:solidFill>
              <a:effectLst/>
              <a:latin typeface="Quicksand"/>
            </a:endParaRPr>
          </a:p>
        </p:txBody>
      </p:sp>
      <p:grpSp>
        <p:nvGrpSpPr>
          <p:cNvPr id="5" name="Group 4">
            <a:extLst>
              <a:ext uri="{FF2B5EF4-FFF2-40B4-BE49-F238E27FC236}">
                <a16:creationId xmlns:a16="http://schemas.microsoft.com/office/drawing/2014/main" id="{0E699D04-BFE3-0121-7A2E-55342CD23D46}"/>
              </a:ext>
            </a:extLst>
          </p:cNvPr>
          <p:cNvGrpSpPr/>
          <p:nvPr/>
        </p:nvGrpSpPr>
        <p:grpSpPr>
          <a:xfrm>
            <a:off x="-1" y="5806572"/>
            <a:ext cx="1102141" cy="1052444"/>
            <a:chOff x="-1" y="5806572"/>
            <a:chExt cx="1102141" cy="1052444"/>
          </a:xfrm>
        </p:grpSpPr>
        <p:pic>
          <p:nvPicPr>
            <p:cNvPr id="6" name="Picture 5">
              <a:extLst>
                <a:ext uri="{FF2B5EF4-FFF2-40B4-BE49-F238E27FC236}">
                  <a16:creationId xmlns:a16="http://schemas.microsoft.com/office/drawing/2014/main" id="{56F652FB-22FF-528D-684E-AF6708194255}"/>
                </a:ext>
              </a:extLst>
            </p:cNvPr>
            <p:cNvPicPr>
              <a:picLocks noChangeAspect="1"/>
            </p:cNvPicPr>
            <p:nvPr/>
          </p:nvPicPr>
          <p:blipFill rotWithShape="1">
            <a:blip r:embed="rId12"/>
            <a:srcRect l="49545" b="51820"/>
            <a:stretch/>
          </p:blipFill>
          <p:spPr>
            <a:xfrm>
              <a:off x="-1" y="5806572"/>
              <a:ext cx="1102141" cy="1052444"/>
            </a:xfrm>
            <a:prstGeom prst="rect">
              <a:avLst/>
            </a:prstGeom>
          </p:spPr>
        </p:pic>
        <p:sp>
          <p:nvSpPr>
            <p:cNvPr id="7" name="Title 1">
              <a:extLst>
                <a:ext uri="{FF2B5EF4-FFF2-40B4-BE49-F238E27FC236}">
                  <a16:creationId xmlns:a16="http://schemas.microsoft.com/office/drawing/2014/main" id="{F0A841CF-C43D-5F06-7B8C-1496832D1BA0}"/>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10</a:t>
              </a:r>
            </a:p>
          </p:txBody>
        </p:sp>
      </p:grpSp>
    </p:spTree>
    <p:extLst>
      <p:ext uri="{BB962C8B-B14F-4D97-AF65-F5344CB8AC3E}">
        <p14:creationId xmlns:p14="http://schemas.microsoft.com/office/powerpoint/2010/main" val="313694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6569597" cy="1325563"/>
          </a:xfrm>
        </p:spPr>
        <p:txBody>
          <a:bodyPr/>
          <a:lstStyle/>
          <a:p>
            <a:r>
              <a:rPr lang="en-US" sz="4400" dirty="0">
                <a:latin typeface="DIN Alternate" panose="020B0500000000000000" pitchFamily="34" charset="77"/>
                <a:ea typeface="+mn-ea"/>
                <a:cs typeface="+mn-cs"/>
              </a:rPr>
              <a:t>Pulse Propagation</a:t>
            </a:r>
            <a:endParaRPr kumimoji="0" lang="en-US" sz="4400" b="0" i="0" u="none" strike="noStrike" kern="1200" cap="none" spc="0" normalizeH="0" baseline="0" noProof="0" dirty="0">
              <a:ln>
                <a:noFill/>
              </a:ln>
              <a:effectLst/>
              <a:uLnTx/>
              <a:uFillTx/>
              <a:latin typeface="DIN Alternate" panose="020B0500000000000000" pitchFamily="34" charset="77"/>
              <a:ea typeface="+mn-ea"/>
              <a:cs typeface="+mn-cs"/>
            </a:endParaRPr>
          </a:p>
        </p:txBody>
      </p:sp>
      <p:pic>
        <p:nvPicPr>
          <p:cNvPr id="23" name="Picture 22">
            <a:extLst>
              <a:ext uri="{FF2B5EF4-FFF2-40B4-BE49-F238E27FC236}">
                <a16:creationId xmlns:a16="http://schemas.microsoft.com/office/drawing/2014/main" id="{226891AF-5258-F046-12C1-94D4D2F72641}"/>
              </a:ext>
            </a:extLst>
          </p:cNvPr>
          <p:cNvPicPr>
            <a:picLocks noChangeAspect="1"/>
          </p:cNvPicPr>
          <p:nvPr/>
        </p:nvPicPr>
        <p:blipFill>
          <a:blip r:embed="rId3"/>
          <a:stretch>
            <a:fillRect/>
          </a:stretch>
        </p:blipFill>
        <p:spPr>
          <a:xfrm>
            <a:off x="3932491" y="1222280"/>
            <a:ext cx="7577405" cy="2600025"/>
          </a:xfrm>
          <a:prstGeom prst="rect">
            <a:avLst/>
          </a:prstGeom>
          <a:ln w="38100">
            <a:solidFill>
              <a:schemeClr val="tx1">
                <a:lumMod val="65000"/>
              </a:schemeClr>
            </a:solidFill>
            <a:miter lim="800000"/>
          </a:ln>
        </p:spPr>
      </p:pic>
      <p:grpSp>
        <p:nvGrpSpPr>
          <p:cNvPr id="24" name="Group 23">
            <a:extLst>
              <a:ext uri="{FF2B5EF4-FFF2-40B4-BE49-F238E27FC236}">
                <a16:creationId xmlns:a16="http://schemas.microsoft.com/office/drawing/2014/main" id="{6F628D2E-F428-B11D-974C-F1AE806CE1DC}"/>
              </a:ext>
            </a:extLst>
          </p:cNvPr>
          <p:cNvGrpSpPr/>
          <p:nvPr/>
        </p:nvGrpSpPr>
        <p:grpSpPr>
          <a:xfrm>
            <a:off x="-1" y="5806572"/>
            <a:ext cx="1102141" cy="1052444"/>
            <a:chOff x="-1" y="5806572"/>
            <a:chExt cx="1102141" cy="1052444"/>
          </a:xfrm>
        </p:grpSpPr>
        <p:pic>
          <p:nvPicPr>
            <p:cNvPr id="25" name="Picture 24">
              <a:extLst>
                <a:ext uri="{FF2B5EF4-FFF2-40B4-BE49-F238E27FC236}">
                  <a16:creationId xmlns:a16="http://schemas.microsoft.com/office/drawing/2014/main" id="{7C7E4672-62DB-F4A3-2AC3-B31984ACDC3E}"/>
                </a:ext>
              </a:extLst>
            </p:cNvPr>
            <p:cNvPicPr>
              <a:picLocks noChangeAspect="1"/>
            </p:cNvPicPr>
            <p:nvPr/>
          </p:nvPicPr>
          <p:blipFill rotWithShape="1">
            <a:blip r:embed="rId4"/>
            <a:srcRect l="49545" b="51820"/>
            <a:stretch/>
          </p:blipFill>
          <p:spPr>
            <a:xfrm>
              <a:off x="-1" y="5806572"/>
              <a:ext cx="1102141" cy="1052444"/>
            </a:xfrm>
            <a:prstGeom prst="rect">
              <a:avLst/>
            </a:prstGeom>
          </p:spPr>
        </p:pic>
        <p:sp>
          <p:nvSpPr>
            <p:cNvPr id="26" name="Title 1">
              <a:extLst>
                <a:ext uri="{FF2B5EF4-FFF2-40B4-BE49-F238E27FC236}">
                  <a16:creationId xmlns:a16="http://schemas.microsoft.com/office/drawing/2014/main" id="{2397FD31-B238-9B40-3419-B8FFEC0D0D29}"/>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11</a:t>
              </a:r>
            </a:p>
          </p:txBody>
        </p:sp>
      </p:grpSp>
      <mc:AlternateContent xmlns:mc="http://schemas.openxmlformats.org/markup-compatibility/2006" xmlns:a14="http://schemas.microsoft.com/office/drawing/2010/main">
        <mc:Choice Requires="a14">
          <p:graphicFrame>
            <p:nvGraphicFramePr>
              <p:cNvPr id="7" name="Diagram 6">
                <a:extLst>
                  <a:ext uri="{FF2B5EF4-FFF2-40B4-BE49-F238E27FC236}">
                    <a16:creationId xmlns:a16="http://schemas.microsoft.com/office/drawing/2014/main" id="{9DC86F80-4D36-654A-DDC9-BE29121EE257}"/>
                  </a:ext>
                </a:extLst>
              </p:cNvPr>
              <p:cNvGraphicFramePr/>
              <p:nvPr>
                <p:extLst>
                  <p:ext uri="{D42A27DB-BD31-4B8C-83A1-F6EECF244321}">
                    <p14:modId xmlns:p14="http://schemas.microsoft.com/office/powerpoint/2010/main" val="3786612448"/>
                  </p:ext>
                </p:extLst>
              </p:nvPr>
            </p:nvGraphicFramePr>
            <p:xfrm>
              <a:off x="402542" y="3912164"/>
              <a:ext cx="11290460" cy="172355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mc:Choice>
        <mc:Fallback xmlns="">
          <p:graphicFrame>
            <p:nvGraphicFramePr>
              <p:cNvPr id="7" name="Diagram 6">
                <a:extLst>
                  <a:ext uri="{FF2B5EF4-FFF2-40B4-BE49-F238E27FC236}">
                    <a16:creationId xmlns:a16="http://schemas.microsoft.com/office/drawing/2014/main" id="{9DC86F80-4D36-654A-DDC9-BE29121EE257}"/>
                  </a:ext>
                </a:extLst>
              </p:cNvPr>
              <p:cNvGraphicFramePr/>
              <p:nvPr>
                <p:extLst>
                  <p:ext uri="{D42A27DB-BD31-4B8C-83A1-F6EECF244321}">
                    <p14:modId xmlns:p14="http://schemas.microsoft.com/office/powerpoint/2010/main" val="3786612448"/>
                  </p:ext>
                </p:extLst>
              </p:nvPr>
            </p:nvGraphicFramePr>
            <p:xfrm>
              <a:off x="402542" y="3912164"/>
              <a:ext cx="11290460" cy="172355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mc:Fallback>
      </mc:AlternateContent>
      <p:sp>
        <p:nvSpPr>
          <p:cNvPr id="8" name="TextBox 7">
            <a:extLst>
              <a:ext uri="{FF2B5EF4-FFF2-40B4-BE49-F238E27FC236}">
                <a16:creationId xmlns:a16="http://schemas.microsoft.com/office/drawing/2014/main" id="{C0366CCF-0E58-9975-F015-86A9D8B8F626}"/>
              </a:ext>
            </a:extLst>
          </p:cNvPr>
          <p:cNvSpPr txBox="1"/>
          <p:nvPr/>
        </p:nvSpPr>
        <p:spPr>
          <a:xfrm>
            <a:off x="682104" y="1256741"/>
            <a:ext cx="3309645" cy="1077218"/>
          </a:xfrm>
          <a:prstGeom prst="rect">
            <a:avLst/>
          </a:prstGeom>
          <a:noFill/>
        </p:spPr>
        <p:txBody>
          <a:bodyPr wrap="square">
            <a:spAutoFit/>
          </a:bodyPr>
          <a:lstStyle/>
          <a:p>
            <a:pPr>
              <a:spcAft>
                <a:spcPts val="600"/>
              </a:spcAft>
            </a:pPr>
            <a:r>
              <a:rPr lang="en-GB" sz="1600" dirty="0">
                <a:solidFill>
                  <a:srgbClr val="EEEEEE"/>
                </a:solidFill>
                <a:latin typeface="Quicksand"/>
              </a:rPr>
              <a:t>Fig. 8: The TMM applied over many optical elements. Each grey line represents an optical element (layer or interface).</a:t>
            </a:r>
            <a:endParaRPr lang="en-GB" sz="1600" b="0" i="0" dirty="0">
              <a:solidFill>
                <a:srgbClr val="EEEEEE"/>
              </a:solidFill>
              <a:effectLst/>
              <a:latin typeface="Quicksand"/>
            </a:endParaRPr>
          </a:p>
        </p:txBody>
      </p:sp>
      <p:sp>
        <p:nvSpPr>
          <p:cNvPr id="9" name="TextBox 8">
            <a:extLst>
              <a:ext uri="{FF2B5EF4-FFF2-40B4-BE49-F238E27FC236}">
                <a16:creationId xmlns:a16="http://schemas.microsoft.com/office/drawing/2014/main" id="{03FA94A3-8A64-FC07-38D7-CB768D03D25E}"/>
              </a:ext>
            </a:extLst>
          </p:cNvPr>
          <p:cNvSpPr txBox="1"/>
          <p:nvPr/>
        </p:nvSpPr>
        <p:spPr>
          <a:xfrm>
            <a:off x="2589554" y="6114489"/>
            <a:ext cx="3837890" cy="400110"/>
          </a:xfrm>
          <a:prstGeom prst="rect">
            <a:avLst/>
          </a:prstGeom>
          <a:noFill/>
        </p:spPr>
        <p:txBody>
          <a:bodyPr wrap="square" rtlCol="0">
            <a:spAutoFit/>
          </a:bodyPr>
          <a:lstStyle/>
          <a:p>
            <a:pPr algn="ctr"/>
            <a:r>
              <a:rPr lang="en-US" sz="2000" b="1" dirty="0">
                <a:solidFill>
                  <a:schemeClr val="tx1"/>
                </a:solidFill>
                <a:latin typeface="Microsoft Sans Serif" panose="020B0604020202020204" pitchFamily="34" charset="0"/>
                <a:cs typeface="Microsoft Sans Serif" panose="020B0604020202020204" pitchFamily="34" charset="0"/>
              </a:rPr>
              <a:t>*repeat for every wavenumber</a:t>
            </a:r>
            <a:endParaRPr lang="en-GB" sz="2000" b="1" dirty="0">
              <a:solidFill>
                <a:schemeClr val="tx1"/>
              </a:solidFill>
              <a:latin typeface="Microsoft Sans Serif" panose="020B0604020202020204" pitchFamily="34" charset="0"/>
              <a:cs typeface="Microsoft Sans Serif" panose="020B0604020202020204" pitchFamily="34" charset="0"/>
            </a:endParaRPr>
          </a:p>
        </p:txBody>
      </p:sp>
      <p:sp>
        <p:nvSpPr>
          <p:cNvPr id="11" name="Right Brace 10">
            <a:extLst>
              <a:ext uri="{FF2B5EF4-FFF2-40B4-BE49-F238E27FC236}">
                <a16:creationId xmlns:a16="http://schemas.microsoft.com/office/drawing/2014/main" id="{8F2E9035-8415-756F-BDD8-1A6CCC4FDF7D}"/>
              </a:ext>
            </a:extLst>
          </p:cNvPr>
          <p:cNvSpPr/>
          <p:nvPr/>
        </p:nvSpPr>
        <p:spPr>
          <a:xfrm rot="5400000">
            <a:off x="4247741" y="2744878"/>
            <a:ext cx="521516" cy="6079957"/>
          </a:xfrm>
          <a:prstGeom prst="rightBrace">
            <a:avLst>
              <a:gd name="adj1" fmla="val 8333"/>
              <a:gd name="adj2" fmla="val 49115"/>
            </a:avLst>
          </a:pr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024026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lang="en-US" dirty="0">
                <a:latin typeface="DIN Alternate" panose="020B0500000000000000" pitchFamily="34" charset="77"/>
                <a:ea typeface="+mn-ea"/>
                <a:cs typeface="+mn-cs"/>
              </a:rPr>
              <a:t>T</a:t>
            </a:r>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he Systems</a:t>
            </a:r>
            <a:endParaRPr lang="en-US" dirty="0">
              <a:latin typeface="DIN Alternate" panose="020B0500000000000000" pitchFamily="34" charset="77"/>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199" y="1310793"/>
                <a:ext cx="10515600" cy="1015866"/>
              </a:xfrm>
            </p:spPr>
            <p:txBody>
              <a:bodyPr anchor="ctr">
                <a:normAutofit/>
              </a:bodyPr>
              <a:lstStyle/>
              <a:p>
                <a:pPr>
                  <a:spcAft>
                    <a:spcPts val="1200"/>
                  </a:spcAft>
                </a:pPr>
                <a:r>
                  <a:rPr lang="en-GB" sz="2000" dirty="0">
                    <a:latin typeface="Microsoft Sans Serif" panose="020B0604020202020204" pitchFamily="34" charset="0"/>
                    <a:cs typeface="Microsoft Sans Serif" panose="020B0604020202020204" pitchFamily="34" charset="0"/>
                  </a:rPr>
                  <a:t>OS1: vacuum, crystal 1 </a:t>
                </a:r>
                <a14:m>
                  <m:oMath xmlns:m="http://schemas.openxmlformats.org/officeDocument/2006/math">
                    <m:d>
                      <m:dPr>
                        <m:ctrlPr>
                          <a:rPr lang="en-US" sz="2000" b="0" i="1" dirty="0" smtClean="0">
                            <a:latin typeface="Cambria Math" panose="02040503050406030204" pitchFamily="18" charset="0"/>
                            <a:cs typeface="Microsoft Sans Serif" panose="020B0604020202020204" pitchFamily="34" charset="0"/>
                          </a:rPr>
                        </m:ctrlPr>
                      </m:dPr>
                      <m:e>
                        <m:sSub>
                          <m:sSubPr>
                            <m:ctrlPr>
                              <a:rPr lang="en-US" sz="2000" b="0" i="1" dirty="0" smtClean="0">
                                <a:latin typeface="Cambria Math" panose="02040503050406030204" pitchFamily="18" charset="0"/>
                                <a:cs typeface="Microsoft Sans Serif" panose="020B0604020202020204" pitchFamily="34" charset="0"/>
                              </a:rPr>
                            </m:ctrlPr>
                          </m:sSubPr>
                          <m:e>
                            <m:r>
                              <a:rPr lang="en-GB" sz="2000" i="1" dirty="0" smtClean="0">
                                <a:latin typeface="Cambria Math" panose="02040503050406030204" pitchFamily="18" charset="0"/>
                                <a:cs typeface="Microsoft Sans Serif" panose="020B0604020202020204" pitchFamily="34" charset="0"/>
                              </a:rPr>
                              <m:t>𝑛</m:t>
                            </m:r>
                          </m:e>
                          <m:sub>
                            <m:r>
                              <a:rPr lang="en-GB" sz="2000" i="1" dirty="0" smtClean="0">
                                <a:latin typeface="Cambria Math" panose="02040503050406030204" pitchFamily="18" charset="0"/>
                                <a:cs typeface="Microsoft Sans Serif" panose="020B0604020202020204" pitchFamily="34" charset="0"/>
                              </a:rPr>
                              <m:t>𝑒𝑓𝑓</m:t>
                            </m:r>
                            <m:r>
                              <a:rPr lang="en-US" sz="2000" b="0" i="1" dirty="0" smtClean="0">
                                <a:latin typeface="Cambria Math" panose="02040503050406030204" pitchFamily="18" charset="0"/>
                                <a:cs typeface="Microsoft Sans Serif" panose="020B0604020202020204" pitchFamily="34" charset="0"/>
                              </a:rPr>
                              <m:t>1</m:t>
                            </m:r>
                          </m:sub>
                        </m:sSub>
                        <m:r>
                          <a:rPr lang="en-US" sz="2000" b="0" i="1" dirty="0" smtClean="0">
                            <a:latin typeface="Cambria Math" panose="02040503050406030204" pitchFamily="18" charset="0"/>
                            <a:cs typeface="Microsoft Sans Serif" panose="020B0604020202020204" pitchFamily="34" charset="0"/>
                          </a:rPr>
                          <m:t>=1.5</m:t>
                        </m:r>
                      </m:e>
                    </m:d>
                  </m:oMath>
                </a14:m>
                <a:r>
                  <a:rPr lang="en-GB" sz="2000" dirty="0">
                    <a:latin typeface="Microsoft Sans Serif" panose="020B0604020202020204" pitchFamily="34" charset="0"/>
                    <a:cs typeface="Microsoft Sans Serif" panose="020B0604020202020204" pitchFamily="34" charset="0"/>
                  </a:rPr>
                  <a:t>, crystal 2 </a:t>
                </a:r>
                <a14:m>
                  <m:oMath xmlns:m="http://schemas.openxmlformats.org/officeDocument/2006/math">
                    <m:d>
                      <m:dPr>
                        <m:ctrlPr>
                          <a:rPr lang="en-US" sz="2000" i="1" dirty="0">
                            <a:latin typeface="Cambria Math" panose="02040503050406030204" pitchFamily="18" charset="0"/>
                            <a:cs typeface="Microsoft Sans Serif" panose="020B0604020202020204" pitchFamily="34" charset="0"/>
                          </a:rPr>
                        </m:ctrlPr>
                      </m:dPr>
                      <m:e>
                        <m:sSub>
                          <m:sSubPr>
                            <m:ctrlPr>
                              <a:rPr lang="en-US" sz="2000" i="1" dirty="0">
                                <a:latin typeface="Cambria Math" panose="02040503050406030204" pitchFamily="18" charset="0"/>
                                <a:cs typeface="Microsoft Sans Serif" panose="020B0604020202020204" pitchFamily="34" charset="0"/>
                              </a:rPr>
                            </m:ctrlPr>
                          </m:sSubPr>
                          <m:e>
                            <m:r>
                              <a:rPr lang="en-GB" sz="2000" i="1" dirty="0">
                                <a:latin typeface="Cambria Math" panose="02040503050406030204" pitchFamily="18" charset="0"/>
                                <a:cs typeface="Microsoft Sans Serif" panose="020B0604020202020204" pitchFamily="34" charset="0"/>
                              </a:rPr>
                              <m:t>𝑛</m:t>
                            </m:r>
                          </m:e>
                          <m:sub>
                            <m:r>
                              <a:rPr lang="en-GB" sz="2000" i="1" dirty="0">
                                <a:latin typeface="Cambria Math" panose="02040503050406030204" pitchFamily="18" charset="0"/>
                                <a:cs typeface="Microsoft Sans Serif" panose="020B0604020202020204" pitchFamily="34" charset="0"/>
                              </a:rPr>
                              <m:t>𝑒𝑓𝑓</m:t>
                            </m:r>
                            <m:r>
                              <a:rPr lang="en-US" sz="2000" i="1" dirty="0">
                                <a:latin typeface="Cambria Math" panose="02040503050406030204" pitchFamily="18" charset="0"/>
                                <a:cs typeface="Microsoft Sans Serif" panose="020B0604020202020204" pitchFamily="34" charset="0"/>
                              </a:rPr>
                              <m:t>2</m:t>
                            </m:r>
                          </m:sub>
                        </m:sSub>
                        <m:r>
                          <a:rPr lang="en-US" sz="2000" i="1" dirty="0">
                            <a:latin typeface="Cambria Math" panose="02040503050406030204" pitchFamily="18" charset="0"/>
                            <a:cs typeface="Microsoft Sans Serif" panose="020B0604020202020204" pitchFamily="34" charset="0"/>
                          </a:rPr>
                          <m:t>=2.5</m:t>
                        </m:r>
                      </m:e>
                    </m:d>
                  </m:oMath>
                </a14:m>
                <a:r>
                  <a:rPr lang="en-GB" sz="2000" dirty="0">
                    <a:latin typeface="Microsoft Sans Serif" panose="020B0604020202020204" pitchFamily="34" charset="0"/>
                    <a:cs typeface="Microsoft Sans Serif" panose="020B0604020202020204" pitchFamily="34" charset="0"/>
                  </a:rPr>
                  <a:t>, DBR structure</a:t>
                </a:r>
              </a:p>
              <a:p>
                <a:pPr>
                  <a:spcAft>
                    <a:spcPts val="1200"/>
                  </a:spcAft>
                </a:pPr>
                <a:r>
                  <a:rPr lang="en-GB" sz="2000" dirty="0">
                    <a:latin typeface="Microsoft Sans Serif" panose="020B0604020202020204" pitchFamily="34" charset="0"/>
                    <a:cs typeface="Microsoft Sans Serif" panose="020B0604020202020204" pitchFamily="34" charset="0"/>
                  </a:rPr>
                  <a:t>OS2: vacuum, crystal 1 </a:t>
                </a:r>
                <a14:m>
                  <m:oMath xmlns:m="http://schemas.openxmlformats.org/officeDocument/2006/math">
                    <m:d>
                      <m:dPr>
                        <m:ctrlPr>
                          <a:rPr lang="en-US" sz="2000" i="1" dirty="0">
                            <a:latin typeface="Cambria Math" panose="02040503050406030204" pitchFamily="18" charset="0"/>
                            <a:cs typeface="Microsoft Sans Serif" panose="020B0604020202020204" pitchFamily="34" charset="0"/>
                          </a:rPr>
                        </m:ctrlPr>
                      </m:dPr>
                      <m:e>
                        <m:sSub>
                          <m:sSubPr>
                            <m:ctrlPr>
                              <a:rPr lang="en-US" sz="2000" i="1" dirty="0">
                                <a:latin typeface="Cambria Math" panose="02040503050406030204" pitchFamily="18" charset="0"/>
                                <a:cs typeface="Microsoft Sans Serif" panose="020B0604020202020204" pitchFamily="34" charset="0"/>
                              </a:rPr>
                            </m:ctrlPr>
                          </m:sSubPr>
                          <m:e>
                            <m:r>
                              <a:rPr lang="en-GB" sz="2000" i="1" dirty="0">
                                <a:latin typeface="Cambria Math" panose="02040503050406030204" pitchFamily="18" charset="0"/>
                                <a:cs typeface="Microsoft Sans Serif" panose="020B0604020202020204" pitchFamily="34" charset="0"/>
                              </a:rPr>
                              <m:t>𝑛</m:t>
                            </m:r>
                          </m:e>
                          <m:sub>
                            <m:r>
                              <a:rPr lang="en-GB" sz="2000" i="1" dirty="0">
                                <a:latin typeface="Cambria Math" panose="02040503050406030204" pitchFamily="18" charset="0"/>
                                <a:cs typeface="Microsoft Sans Serif" panose="020B0604020202020204" pitchFamily="34" charset="0"/>
                              </a:rPr>
                              <m:t>𝑒𝑓𝑓</m:t>
                            </m:r>
                            <m:r>
                              <a:rPr lang="en-US" sz="2000" i="1" dirty="0">
                                <a:latin typeface="Cambria Math" panose="02040503050406030204" pitchFamily="18" charset="0"/>
                                <a:cs typeface="Microsoft Sans Serif" panose="020B0604020202020204" pitchFamily="34" charset="0"/>
                              </a:rPr>
                              <m:t>1</m:t>
                            </m:r>
                          </m:sub>
                        </m:sSub>
                        <m:r>
                          <a:rPr lang="en-US" sz="2000" i="1" dirty="0">
                            <a:latin typeface="Cambria Math" panose="02040503050406030204" pitchFamily="18" charset="0"/>
                            <a:cs typeface="Microsoft Sans Serif" panose="020B0604020202020204" pitchFamily="34" charset="0"/>
                          </a:rPr>
                          <m:t>=1.5</m:t>
                        </m:r>
                      </m:e>
                    </m:d>
                  </m:oMath>
                </a14:m>
                <a:r>
                  <a:rPr lang="en-GB" sz="2000" dirty="0">
                    <a:latin typeface="Microsoft Sans Serif" panose="020B0604020202020204" pitchFamily="34" charset="0"/>
                    <a:cs typeface="Microsoft Sans Serif" panose="020B0604020202020204" pitchFamily="34" charset="0"/>
                  </a:rPr>
                  <a:t>, crystal 2 </a:t>
                </a:r>
                <a14:m>
                  <m:oMath xmlns:m="http://schemas.openxmlformats.org/officeDocument/2006/math">
                    <m:d>
                      <m:dPr>
                        <m:ctrlPr>
                          <a:rPr lang="en-US" sz="2000" i="1" dirty="0">
                            <a:latin typeface="Cambria Math" panose="02040503050406030204" pitchFamily="18" charset="0"/>
                            <a:cs typeface="Microsoft Sans Serif" panose="020B0604020202020204" pitchFamily="34" charset="0"/>
                          </a:rPr>
                        </m:ctrlPr>
                      </m:dPr>
                      <m:e>
                        <m:sSub>
                          <m:sSubPr>
                            <m:ctrlPr>
                              <a:rPr lang="en-US" sz="2000" i="1" dirty="0">
                                <a:latin typeface="Cambria Math" panose="02040503050406030204" pitchFamily="18" charset="0"/>
                                <a:cs typeface="Microsoft Sans Serif" panose="020B0604020202020204" pitchFamily="34" charset="0"/>
                              </a:rPr>
                            </m:ctrlPr>
                          </m:sSubPr>
                          <m:e>
                            <m:r>
                              <a:rPr lang="en-GB" sz="2000" i="1" dirty="0">
                                <a:latin typeface="Cambria Math" panose="02040503050406030204" pitchFamily="18" charset="0"/>
                                <a:cs typeface="Microsoft Sans Serif" panose="020B0604020202020204" pitchFamily="34" charset="0"/>
                              </a:rPr>
                              <m:t>𝑛</m:t>
                            </m:r>
                          </m:e>
                          <m:sub>
                            <m:r>
                              <a:rPr lang="en-GB" sz="2000" i="1" dirty="0">
                                <a:latin typeface="Cambria Math" panose="02040503050406030204" pitchFamily="18" charset="0"/>
                                <a:cs typeface="Microsoft Sans Serif" panose="020B0604020202020204" pitchFamily="34" charset="0"/>
                              </a:rPr>
                              <m:t>𝑒𝑓𝑓</m:t>
                            </m:r>
                            <m:r>
                              <a:rPr lang="en-US" sz="2000" b="0" i="1" dirty="0" smtClean="0">
                                <a:latin typeface="Cambria Math" panose="02040503050406030204" pitchFamily="18" charset="0"/>
                                <a:cs typeface="Microsoft Sans Serif" panose="020B0604020202020204" pitchFamily="34" charset="0"/>
                              </a:rPr>
                              <m:t>2</m:t>
                            </m:r>
                          </m:sub>
                        </m:sSub>
                        <m:r>
                          <a:rPr lang="en-US" sz="2000" i="1" dirty="0">
                            <a:latin typeface="Cambria Math" panose="02040503050406030204" pitchFamily="18" charset="0"/>
                            <a:cs typeface="Microsoft Sans Serif" panose="020B0604020202020204" pitchFamily="34" charset="0"/>
                          </a:rPr>
                          <m:t>=</m:t>
                        </m:r>
                        <m:r>
                          <a:rPr lang="en-US" sz="2000" b="0" i="1" dirty="0" smtClean="0">
                            <a:latin typeface="Cambria Math" panose="02040503050406030204" pitchFamily="18" charset="0"/>
                            <a:cs typeface="Microsoft Sans Serif" panose="020B0604020202020204" pitchFamily="34" charset="0"/>
                          </a:rPr>
                          <m:t>2</m:t>
                        </m:r>
                        <m:r>
                          <a:rPr lang="en-US" sz="2000" i="1" dirty="0">
                            <a:latin typeface="Cambria Math" panose="02040503050406030204" pitchFamily="18" charset="0"/>
                            <a:cs typeface="Microsoft Sans Serif" panose="020B0604020202020204" pitchFamily="34" charset="0"/>
                          </a:rPr>
                          <m:t>.5</m:t>
                        </m:r>
                      </m:e>
                    </m:d>
                  </m:oMath>
                </a14:m>
                <a:r>
                  <a:rPr lang="en-GB" sz="2000" dirty="0">
                    <a:latin typeface="Microsoft Sans Serif" panose="020B0604020202020204" pitchFamily="34" charset="0"/>
                    <a:cs typeface="Microsoft Sans Serif" panose="020B0604020202020204" pitchFamily="34" charset="0"/>
                  </a:rPr>
                  <a:t>, vacuum</a:t>
                </a: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199" y="1310793"/>
                <a:ext cx="10515600" cy="1015866"/>
              </a:xfrm>
              <a:blipFill>
                <a:blip r:embed="rId3"/>
                <a:stretch>
                  <a:fillRect l="-483" t="-4938" b="-7407"/>
                </a:stretch>
              </a:blipFill>
            </p:spPr>
            <p:txBody>
              <a:bodyPr/>
              <a:lstStyle/>
              <a:p>
                <a:r>
                  <a:rPr lang="en-US">
                    <a:noFill/>
                  </a:rPr>
                  <a:t> </a:t>
                </a:r>
              </a:p>
            </p:txBody>
          </p:sp>
        </mc:Fallback>
      </mc:AlternateContent>
      <p:pic>
        <p:nvPicPr>
          <p:cNvPr id="9" name="Picture 8" descr="A graph with different colored squares&#10;&#10;Description automatically generated">
            <a:extLst>
              <a:ext uri="{FF2B5EF4-FFF2-40B4-BE49-F238E27FC236}">
                <a16:creationId xmlns:a16="http://schemas.microsoft.com/office/drawing/2014/main" id="{5A2854BA-E948-CE61-3674-815675153F11}"/>
              </a:ext>
            </a:extLst>
          </p:cNvPr>
          <p:cNvPicPr>
            <a:picLocks noChangeAspect="1"/>
          </p:cNvPicPr>
          <p:nvPr/>
        </p:nvPicPr>
        <p:blipFill rotWithShape="1">
          <a:blip r:embed="rId4"/>
          <a:srcRect l="11560" t="12413" r="8824"/>
          <a:stretch/>
        </p:blipFill>
        <p:spPr>
          <a:xfrm>
            <a:off x="210036" y="2838991"/>
            <a:ext cx="5806322" cy="2555065"/>
          </a:xfrm>
          <a:prstGeom prst="rect">
            <a:avLst/>
          </a:prstGeom>
        </p:spPr>
      </p:pic>
      <p:pic>
        <p:nvPicPr>
          <p:cNvPr id="11" name="Picture 10" descr="A graph with different colored squares&#10;&#10;Description automatically generated">
            <a:extLst>
              <a:ext uri="{FF2B5EF4-FFF2-40B4-BE49-F238E27FC236}">
                <a16:creationId xmlns:a16="http://schemas.microsoft.com/office/drawing/2014/main" id="{922B7F69-2121-4499-C47A-2CACA9FB1DA2}"/>
              </a:ext>
            </a:extLst>
          </p:cNvPr>
          <p:cNvPicPr>
            <a:picLocks noChangeAspect="1"/>
          </p:cNvPicPr>
          <p:nvPr/>
        </p:nvPicPr>
        <p:blipFill rotWithShape="1">
          <a:blip r:embed="rId5"/>
          <a:srcRect l="11890" t="12412" r="8474" b="1"/>
          <a:stretch/>
        </p:blipFill>
        <p:spPr>
          <a:xfrm>
            <a:off x="6174550" y="2838991"/>
            <a:ext cx="5806322" cy="2554413"/>
          </a:xfrm>
          <a:prstGeom prst="rect">
            <a:avLst/>
          </a:prstGeom>
        </p:spPr>
      </p:pic>
      <p:sp>
        <p:nvSpPr>
          <p:cNvPr id="13" name="TextBox 12">
            <a:extLst>
              <a:ext uri="{FF2B5EF4-FFF2-40B4-BE49-F238E27FC236}">
                <a16:creationId xmlns:a16="http://schemas.microsoft.com/office/drawing/2014/main" id="{CE197C96-70A3-6D8E-EB96-4FB4BA3F6BE5}"/>
              </a:ext>
            </a:extLst>
          </p:cNvPr>
          <p:cNvSpPr txBox="1"/>
          <p:nvPr/>
        </p:nvSpPr>
        <p:spPr>
          <a:xfrm>
            <a:off x="961919" y="5799696"/>
            <a:ext cx="10391880" cy="584775"/>
          </a:xfrm>
          <a:prstGeom prst="rect">
            <a:avLst/>
          </a:prstGeom>
          <a:noFill/>
        </p:spPr>
        <p:txBody>
          <a:bodyPr wrap="square">
            <a:spAutoFit/>
          </a:bodyPr>
          <a:lstStyle/>
          <a:p>
            <a:pPr algn="just">
              <a:spcAft>
                <a:spcPts val="600"/>
              </a:spcAft>
            </a:pPr>
            <a:r>
              <a:rPr lang="en-GB" sz="1600" dirty="0">
                <a:solidFill>
                  <a:srgbClr val="EEEEEE"/>
                </a:solidFill>
                <a:latin typeface="Quicksand"/>
              </a:rPr>
              <a:t>Fig. 9: Plots of the two employed optical systems. The dashed lines represent boundaries between crystals and the continuous line represents a boundary with the DBR. </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CD0BAE1-EDDB-19BE-2127-E3D16E389016}"/>
                  </a:ext>
                </a:extLst>
              </p:cNvPr>
              <p:cNvSpPr txBox="1"/>
              <p:nvPr/>
            </p:nvSpPr>
            <p:spPr>
              <a:xfrm>
                <a:off x="2140784" y="3994626"/>
                <a:ext cx="893706" cy="4579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GB" sz="2200" i="1" dirty="0" smtClean="0">
                              <a:solidFill>
                                <a:schemeClr val="bg1"/>
                              </a:solidFill>
                              <a:latin typeface="Cambria Math" panose="02040503050406030204" pitchFamily="18" charset="0"/>
                              <a:cs typeface="Microsoft Sans Serif" panose="020B0604020202020204" pitchFamily="34" charset="0"/>
                            </a:rPr>
                            <m:t>𝑒𝑓𝑓</m:t>
                          </m:r>
                          <m:r>
                            <a:rPr lang="en-US" sz="2200" b="0" i="1" dirty="0" smtClean="0">
                              <a:solidFill>
                                <a:schemeClr val="bg1"/>
                              </a:solidFill>
                              <a:latin typeface="Cambria Math" panose="02040503050406030204" pitchFamily="18" charset="0"/>
                              <a:cs typeface="Microsoft Sans Serif" panose="020B0604020202020204" pitchFamily="34" charset="0"/>
                            </a:rPr>
                            <m:t>1</m:t>
                          </m:r>
                        </m:sub>
                      </m:sSub>
                    </m:oMath>
                  </m:oMathPara>
                </a14:m>
                <a:endParaRPr lang="en-US" sz="2200" dirty="0">
                  <a:solidFill>
                    <a:schemeClr val="bg1"/>
                  </a:solidFill>
                </a:endParaRPr>
              </a:p>
            </p:txBody>
          </p:sp>
        </mc:Choice>
        <mc:Fallback xmlns="">
          <p:sp>
            <p:nvSpPr>
              <p:cNvPr id="14" name="TextBox 13">
                <a:extLst>
                  <a:ext uri="{FF2B5EF4-FFF2-40B4-BE49-F238E27FC236}">
                    <a16:creationId xmlns:a16="http://schemas.microsoft.com/office/drawing/2014/main" id="{DCD0BAE1-EDDB-19BE-2127-E3D16E389016}"/>
                  </a:ext>
                </a:extLst>
              </p:cNvPr>
              <p:cNvSpPr txBox="1">
                <a:spLocks noRot="1" noChangeAspect="1" noMove="1" noResize="1" noEditPoints="1" noAdjustHandles="1" noChangeArrowheads="1" noChangeShapeType="1" noTextEdit="1"/>
              </p:cNvSpPr>
              <p:nvPr/>
            </p:nvSpPr>
            <p:spPr>
              <a:xfrm>
                <a:off x="2140784" y="3994626"/>
                <a:ext cx="893706" cy="457946"/>
              </a:xfrm>
              <a:prstGeom prst="rect">
                <a:avLst/>
              </a:prstGeom>
              <a:blipFill>
                <a:blip r:embed="rId6"/>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9119E7A-4101-A773-F59A-389A8386C381}"/>
                  </a:ext>
                </a:extLst>
              </p:cNvPr>
              <p:cNvSpPr txBox="1"/>
              <p:nvPr/>
            </p:nvSpPr>
            <p:spPr>
              <a:xfrm>
                <a:off x="3525333" y="3992401"/>
                <a:ext cx="893706" cy="4579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GB" sz="2200" i="1" dirty="0" smtClean="0">
                              <a:solidFill>
                                <a:schemeClr val="bg1"/>
                              </a:solidFill>
                              <a:latin typeface="Cambria Math" panose="02040503050406030204" pitchFamily="18" charset="0"/>
                              <a:cs typeface="Microsoft Sans Serif" panose="020B0604020202020204" pitchFamily="34" charset="0"/>
                            </a:rPr>
                            <m:t>𝑒𝑓𝑓</m:t>
                          </m:r>
                          <m:r>
                            <a:rPr lang="en-US" sz="2200" b="0" i="1" dirty="0" smtClean="0">
                              <a:solidFill>
                                <a:schemeClr val="bg1"/>
                              </a:solidFill>
                              <a:latin typeface="Cambria Math" panose="02040503050406030204" pitchFamily="18" charset="0"/>
                              <a:cs typeface="Microsoft Sans Serif" panose="020B0604020202020204" pitchFamily="34" charset="0"/>
                            </a:rPr>
                            <m:t>2</m:t>
                          </m:r>
                        </m:sub>
                      </m:sSub>
                    </m:oMath>
                  </m:oMathPara>
                </a14:m>
                <a:endParaRPr lang="en-US" sz="2200" dirty="0">
                  <a:solidFill>
                    <a:schemeClr val="bg1"/>
                  </a:solidFill>
                </a:endParaRPr>
              </a:p>
            </p:txBody>
          </p:sp>
        </mc:Choice>
        <mc:Fallback xmlns="">
          <p:sp>
            <p:nvSpPr>
              <p:cNvPr id="15" name="TextBox 14">
                <a:extLst>
                  <a:ext uri="{FF2B5EF4-FFF2-40B4-BE49-F238E27FC236}">
                    <a16:creationId xmlns:a16="http://schemas.microsoft.com/office/drawing/2014/main" id="{A9119E7A-4101-A773-F59A-389A8386C381}"/>
                  </a:ext>
                </a:extLst>
              </p:cNvPr>
              <p:cNvSpPr txBox="1">
                <a:spLocks noRot="1" noChangeAspect="1" noMove="1" noResize="1" noEditPoints="1" noAdjustHandles="1" noChangeArrowheads="1" noChangeShapeType="1" noTextEdit="1"/>
              </p:cNvSpPr>
              <p:nvPr/>
            </p:nvSpPr>
            <p:spPr>
              <a:xfrm>
                <a:off x="3525333" y="3992401"/>
                <a:ext cx="893706" cy="457946"/>
              </a:xfrm>
              <a:prstGeom prst="rect">
                <a:avLst/>
              </a:prstGeom>
              <a:blipFill>
                <a:blip r:embed="rId7"/>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17F23B1-4C79-2599-00F0-7143D5161255}"/>
                  </a:ext>
                </a:extLst>
              </p:cNvPr>
              <p:cNvSpPr txBox="1"/>
              <p:nvPr/>
            </p:nvSpPr>
            <p:spPr>
              <a:xfrm>
                <a:off x="961919" y="4019460"/>
                <a:ext cx="53463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US" sz="2200" b="0" i="1" dirty="0" smtClean="0">
                              <a:solidFill>
                                <a:schemeClr val="bg1"/>
                              </a:solidFill>
                              <a:latin typeface="Cambria Math" panose="02040503050406030204" pitchFamily="18" charset="0"/>
                              <a:cs typeface="Microsoft Sans Serif" panose="020B0604020202020204" pitchFamily="34" charset="0"/>
                            </a:rPr>
                            <m:t>0</m:t>
                          </m:r>
                        </m:sub>
                      </m:sSub>
                    </m:oMath>
                  </m:oMathPara>
                </a14:m>
                <a:endParaRPr lang="en-US" sz="2200" dirty="0">
                  <a:solidFill>
                    <a:schemeClr val="bg1"/>
                  </a:solidFill>
                </a:endParaRPr>
              </a:p>
            </p:txBody>
          </p:sp>
        </mc:Choice>
        <mc:Fallback xmlns="">
          <p:sp>
            <p:nvSpPr>
              <p:cNvPr id="16" name="TextBox 15">
                <a:extLst>
                  <a:ext uri="{FF2B5EF4-FFF2-40B4-BE49-F238E27FC236}">
                    <a16:creationId xmlns:a16="http://schemas.microsoft.com/office/drawing/2014/main" id="{A17F23B1-4C79-2599-00F0-7143D5161255}"/>
                  </a:ext>
                </a:extLst>
              </p:cNvPr>
              <p:cNvSpPr txBox="1">
                <a:spLocks noRot="1" noChangeAspect="1" noMove="1" noResize="1" noEditPoints="1" noAdjustHandles="1" noChangeArrowheads="1" noChangeShapeType="1" noTextEdit="1"/>
              </p:cNvSpPr>
              <p:nvPr/>
            </p:nvSpPr>
            <p:spPr>
              <a:xfrm>
                <a:off x="961919" y="4019460"/>
                <a:ext cx="534634" cy="43088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E2CC6A6-5005-A85E-33A9-295858AEF1FD}"/>
                  </a:ext>
                </a:extLst>
              </p:cNvPr>
              <p:cNvSpPr txBox="1"/>
              <p:nvPr/>
            </p:nvSpPr>
            <p:spPr>
              <a:xfrm>
                <a:off x="4832422" y="4026643"/>
                <a:ext cx="776175"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200" b="0" i="0" dirty="0" smtClean="0">
                          <a:solidFill>
                            <a:schemeClr val="bg1"/>
                          </a:solidFill>
                          <a:latin typeface="Cambria Math" panose="02040503050406030204" pitchFamily="18" charset="0"/>
                          <a:cs typeface="Microsoft Sans Serif" panose="020B0604020202020204" pitchFamily="34" charset="0"/>
                        </a:rPr>
                        <m:t>DBR</m:t>
                      </m:r>
                    </m:oMath>
                  </m:oMathPara>
                </a14:m>
                <a:endParaRPr lang="en-US" sz="2200" dirty="0">
                  <a:solidFill>
                    <a:schemeClr val="bg1"/>
                  </a:solidFill>
                </a:endParaRPr>
              </a:p>
            </p:txBody>
          </p:sp>
        </mc:Choice>
        <mc:Fallback xmlns="">
          <p:sp>
            <p:nvSpPr>
              <p:cNvPr id="17" name="TextBox 16">
                <a:extLst>
                  <a:ext uri="{FF2B5EF4-FFF2-40B4-BE49-F238E27FC236}">
                    <a16:creationId xmlns:a16="http://schemas.microsoft.com/office/drawing/2014/main" id="{9E2CC6A6-5005-A85E-33A9-295858AEF1FD}"/>
                  </a:ext>
                </a:extLst>
              </p:cNvPr>
              <p:cNvSpPr txBox="1">
                <a:spLocks noRot="1" noChangeAspect="1" noMove="1" noResize="1" noEditPoints="1" noAdjustHandles="1" noChangeArrowheads="1" noChangeShapeType="1" noTextEdit="1"/>
              </p:cNvSpPr>
              <p:nvPr/>
            </p:nvSpPr>
            <p:spPr>
              <a:xfrm>
                <a:off x="4832422" y="4026643"/>
                <a:ext cx="776175" cy="43088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D3BC113-8C7B-2F3B-D753-7C6013C35397}"/>
                  </a:ext>
                </a:extLst>
              </p:cNvPr>
              <p:cNvSpPr txBox="1"/>
              <p:nvPr/>
            </p:nvSpPr>
            <p:spPr>
              <a:xfrm>
                <a:off x="8462052" y="4005930"/>
                <a:ext cx="893706" cy="4579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GB" sz="2200" i="1" dirty="0" smtClean="0">
                              <a:solidFill>
                                <a:schemeClr val="bg1"/>
                              </a:solidFill>
                              <a:latin typeface="Cambria Math" panose="02040503050406030204" pitchFamily="18" charset="0"/>
                              <a:cs typeface="Microsoft Sans Serif" panose="020B0604020202020204" pitchFamily="34" charset="0"/>
                            </a:rPr>
                            <m:t>𝑒𝑓𝑓</m:t>
                          </m:r>
                          <m:r>
                            <a:rPr lang="en-US" sz="2200" b="0" i="1" dirty="0" smtClean="0">
                              <a:solidFill>
                                <a:schemeClr val="bg1"/>
                              </a:solidFill>
                              <a:latin typeface="Cambria Math" panose="02040503050406030204" pitchFamily="18" charset="0"/>
                              <a:cs typeface="Microsoft Sans Serif" panose="020B0604020202020204" pitchFamily="34" charset="0"/>
                            </a:rPr>
                            <m:t>1</m:t>
                          </m:r>
                        </m:sub>
                      </m:sSub>
                    </m:oMath>
                  </m:oMathPara>
                </a14:m>
                <a:endParaRPr lang="en-US" sz="2200" dirty="0">
                  <a:solidFill>
                    <a:schemeClr val="bg1"/>
                  </a:solidFill>
                </a:endParaRPr>
              </a:p>
            </p:txBody>
          </p:sp>
        </mc:Choice>
        <mc:Fallback xmlns="">
          <p:sp>
            <p:nvSpPr>
              <p:cNvPr id="18" name="TextBox 17">
                <a:extLst>
                  <a:ext uri="{FF2B5EF4-FFF2-40B4-BE49-F238E27FC236}">
                    <a16:creationId xmlns:a16="http://schemas.microsoft.com/office/drawing/2014/main" id="{3D3BC113-8C7B-2F3B-D753-7C6013C35397}"/>
                  </a:ext>
                </a:extLst>
              </p:cNvPr>
              <p:cNvSpPr txBox="1">
                <a:spLocks noRot="1" noChangeAspect="1" noMove="1" noResize="1" noEditPoints="1" noAdjustHandles="1" noChangeArrowheads="1" noChangeShapeType="1" noTextEdit="1"/>
              </p:cNvSpPr>
              <p:nvPr/>
            </p:nvSpPr>
            <p:spPr>
              <a:xfrm>
                <a:off x="8462052" y="4005930"/>
                <a:ext cx="893706" cy="457946"/>
              </a:xfrm>
              <a:prstGeom prst="rect">
                <a:avLst/>
              </a:prstGeom>
              <a:blipFill>
                <a:blip r:embed="rId10"/>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058859D-CE8D-5913-0EBD-CE90F85C93ED}"/>
                  </a:ext>
                </a:extLst>
              </p:cNvPr>
              <p:cNvSpPr txBox="1"/>
              <p:nvPr/>
            </p:nvSpPr>
            <p:spPr>
              <a:xfrm>
                <a:off x="10021961" y="3992400"/>
                <a:ext cx="893706" cy="4579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GB" sz="2200" i="1" dirty="0" smtClean="0">
                              <a:solidFill>
                                <a:schemeClr val="bg1"/>
                              </a:solidFill>
                              <a:latin typeface="Cambria Math" panose="02040503050406030204" pitchFamily="18" charset="0"/>
                              <a:cs typeface="Microsoft Sans Serif" panose="020B0604020202020204" pitchFamily="34" charset="0"/>
                            </a:rPr>
                            <m:t>𝑒𝑓𝑓</m:t>
                          </m:r>
                          <m:r>
                            <a:rPr lang="en-US" sz="2200" b="0" i="1" dirty="0" smtClean="0">
                              <a:solidFill>
                                <a:schemeClr val="bg1"/>
                              </a:solidFill>
                              <a:latin typeface="Cambria Math" panose="02040503050406030204" pitchFamily="18" charset="0"/>
                              <a:cs typeface="Microsoft Sans Serif" panose="020B0604020202020204" pitchFamily="34" charset="0"/>
                            </a:rPr>
                            <m:t>2</m:t>
                          </m:r>
                        </m:sub>
                      </m:sSub>
                    </m:oMath>
                  </m:oMathPara>
                </a14:m>
                <a:endParaRPr lang="en-US" sz="2200" dirty="0">
                  <a:solidFill>
                    <a:schemeClr val="bg1"/>
                  </a:solidFill>
                </a:endParaRPr>
              </a:p>
            </p:txBody>
          </p:sp>
        </mc:Choice>
        <mc:Fallback xmlns="">
          <p:sp>
            <p:nvSpPr>
              <p:cNvPr id="19" name="TextBox 18">
                <a:extLst>
                  <a:ext uri="{FF2B5EF4-FFF2-40B4-BE49-F238E27FC236}">
                    <a16:creationId xmlns:a16="http://schemas.microsoft.com/office/drawing/2014/main" id="{2058859D-CE8D-5913-0EBD-CE90F85C93ED}"/>
                  </a:ext>
                </a:extLst>
              </p:cNvPr>
              <p:cNvSpPr txBox="1">
                <a:spLocks noRot="1" noChangeAspect="1" noMove="1" noResize="1" noEditPoints="1" noAdjustHandles="1" noChangeArrowheads="1" noChangeShapeType="1" noTextEdit="1"/>
              </p:cNvSpPr>
              <p:nvPr/>
            </p:nvSpPr>
            <p:spPr>
              <a:xfrm>
                <a:off x="10021961" y="3992400"/>
                <a:ext cx="893706" cy="457946"/>
              </a:xfrm>
              <a:prstGeom prst="rect">
                <a:avLst/>
              </a:prstGeom>
              <a:blipFill>
                <a:blip r:embed="rId11"/>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3189E21-A481-3D25-A287-666DA2803E3B}"/>
                  </a:ext>
                </a:extLst>
              </p:cNvPr>
              <p:cNvSpPr txBox="1"/>
              <p:nvPr/>
            </p:nvSpPr>
            <p:spPr>
              <a:xfrm>
                <a:off x="7006182" y="4005930"/>
                <a:ext cx="53463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US" sz="2200" b="0" i="1" dirty="0" smtClean="0">
                              <a:solidFill>
                                <a:schemeClr val="bg1"/>
                              </a:solidFill>
                              <a:latin typeface="Cambria Math" panose="02040503050406030204" pitchFamily="18" charset="0"/>
                              <a:cs typeface="Microsoft Sans Serif" panose="020B0604020202020204" pitchFamily="34" charset="0"/>
                            </a:rPr>
                            <m:t>0</m:t>
                          </m:r>
                        </m:sub>
                      </m:sSub>
                    </m:oMath>
                  </m:oMathPara>
                </a14:m>
                <a:endParaRPr lang="en-US" sz="2200" dirty="0">
                  <a:solidFill>
                    <a:schemeClr val="bg1"/>
                  </a:solidFill>
                </a:endParaRPr>
              </a:p>
            </p:txBody>
          </p:sp>
        </mc:Choice>
        <mc:Fallback xmlns="">
          <p:sp>
            <p:nvSpPr>
              <p:cNvPr id="20" name="TextBox 19">
                <a:extLst>
                  <a:ext uri="{FF2B5EF4-FFF2-40B4-BE49-F238E27FC236}">
                    <a16:creationId xmlns:a16="http://schemas.microsoft.com/office/drawing/2014/main" id="{F3189E21-A481-3D25-A287-666DA2803E3B}"/>
                  </a:ext>
                </a:extLst>
              </p:cNvPr>
              <p:cNvSpPr txBox="1">
                <a:spLocks noRot="1" noChangeAspect="1" noMove="1" noResize="1" noEditPoints="1" noAdjustHandles="1" noChangeArrowheads="1" noChangeShapeType="1" noTextEdit="1"/>
              </p:cNvSpPr>
              <p:nvPr/>
            </p:nvSpPr>
            <p:spPr>
              <a:xfrm>
                <a:off x="7006182" y="4005930"/>
                <a:ext cx="534634" cy="43088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C4C6D78-5E23-5CAB-F473-D08E0D686893}"/>
                  </a:ext>
                </a:extLst>
              </p:cNvPr>
              <p:cNvSpPr txBox="1"/>
              <p:nvPr/>
            </p:nvSpPr>
            <p:spPr>
              <a:xfrm>
                <a:off x="11219833" y="4026642"/>
                <a:ext cx="53463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US" sz="2200" b="0" i="1" dirty="0" smtClean="0">
                              <a:solidFill>
                                <a:schemeClr val="bg1"/>
                              </a:solidFill>
                              <a:latin typeface="Cambria Math" panose="02040503050406030204" pitchFamily="18" charset="0"/>
                              <a:cs typeface="Microsoft Sans Serif" panose="020B0604020202020204" pitchFamily="34" charset="0"/>
                            </a:rPr>
                            <m:t>0</m:t>
                          </m:r>
                        </m:sub>
                      </m:sSub>
                    </m:oMath>
                  </m:oMathPara>
                </a14:m>
                <a:endParaRPr lang="en-US" sz="2200" dirty="0">
                  <a:solidFill>
                    <a:schemeClr val="bg1"/>
                  </a:solidFill>
                </a:endParaRPr>
              </a:p>
            </p:txBody>
          </p:sp>
        </mc:Choice>
        <mc:Fallback xmlns="">
          <p:sp>
            <p:nvSpPr>
              <p:cNvPr id="21" name="TextBox 20">
                <a:extLst>
                  <a:ext uri="{FF2B5EF4-FFF2-40B4-BE49-F238E27FC236}">
                    <a16:creationId xmlns:a16="http://schemas.microsoft.com/office/drawing/2014/main" id="{1C4C6D78-5E23-5CAB-F473-D08E0D686893}"/>
                  </a:ext>
                </a:extLst>
              </p:cNvPr>
              <p:cNvSpPr txBox="1">
                <a:spLocks noRot="1" noChangeAspect="1" noMove="1" noResize="1" noEditPoints="1" noAdjustHandles="1" noChangeArrowheads="1" noChangeShapeType="1" noTextEdit="1"/>
              </p:cNvSpPr>
              <p:nvPr/>
            </p:nvSpPr>
            <p:spPr>
              <a:xfrm>
                <a:off x="11219833" y="4026642"/>
                <a:ext cx="534634" cy="430887"/>
              </a:xfrm>
              <a:prstGeom prst="rect">
                <a:avLst/>
              </a:prstGeom>
              <a:blipFill>
                <a:blip r:embed="rId13"/>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B19FF4B7-856D-5569-165B-DAA50F49B67E}"/>
              </a:ext>
            </a:extLst>
          </p:cNvPr>
          <p:cNvSpPr txBox="1"/>
          <p:nvPr/>
        </p:nvSpPr>
        <p:spPr>
          <a:xfrm>
            <a:off x="1941359" y="5435970"/>
            <a:ext cx="2186261" cy="369332"/>
          </a:xfrm>
          <a:prstGeom prst="rect">
            <a:avLst/>
          </a:prstGeom>
          <a:noFill/>
        </p:spPr>
        <p:txBody>
          <a:bodyPr wrap="square">
            <a:spAutoFit/>
          </a:bodyPr>
          <a:lstStyle/>
          <a:p>
            <a:pPr algn="ctr">
              <a:spcAft>
                <a:spcPts val="600"/>
              </a:spcAft>
            </a:pPr>
            <a:r>
              <a:rPr lang="en-GB" dirty="0">
                <a:solidFill>
                  <a:srgbClr val="EEEEEE"/>
                </a:solidFill>
                <a:latin typeface="Quicksand"/>
              </a:rPr>
              <a:t>a) Optical System 1</a:t>
            </a:r>
          </a:p>
        </p:txBody>
      </p:sp>
      <p:sp>
        <p:nvSpPr>
          <p:cNvPr id="6" name="TextBox 5">
            <a:extLst>
              <a:ext uri="{FF2B5EF4-FFF2-40B4-BE49-F238E27FC236}">
                <a16:creationId xmlns:a16="http://schemas.microsoft.com/office/drawing/2014/main" id="{F8DD3241-4B7C-3351-A779-C82DC3C2322F}"/>
              </a:ext>
            </a:extLst>
          </p:cNvPr>
          <p:cNvSpPr txBox="1"/>
          <p:nvPr/>
        </p:nvSpPr>
        <p:spPr>
          <a:xfrm>
            <a:off x="8262627" y="5435970"/>
            <a:ext cx="2186261" cy="369332"/>
          </a:xfrm>
          <a:prstGeom prst="rect">
            <a:avLst/>
          </a:prstGeom>
          <a:noFill/>
        </p:spPr>
        <p:txBody>
          <a:bodyPr wrap="square">
            <a:spAutoFit/>
          </a:bodyPr>
          <a:lstStyle/>
          <a:p>
            <a:pPr algn="ctr">
              <a:spcAft>
                <a:spcPts val="600"/>
              </a:spcAft>
            </a:pPr>
            <a:r>
              <a:rPr lang="en-GB" dirty="0">
                <a:solidFill>
                  <a:srgbClr val="EEEEEE"/>
                </a:solidFill>
                <a:latin typeface="Quicksand"/>
              </a:rPr>
              <a:t>b) Optical System 2</a:t>
            </a:r>
          </a:p>
        </p:txBody>
      </p:sp>
      <p:grpSp>
        <p:nvGrpSpPr>
          <p:cNvPr id="7" name="Group 6">
            <a:extLst>
              <a:ext uri="{FF2B5EF4-FFF2-40B4-BE49-F238E27FC236}">
                <a16:creationId xmlns:a16="http://schemas.microsoft.com/office/drawing/2014/main" id="{70E2029D-BFC8-22CA-0D0E-B7BD3A52C54F}"/>
              </a:ext>
            </a:extLst>
          </p:cNvPr>
          <p:cNvGrpSpPr/>
          <p:nvPr/>
        </p:nvGrpSpPr>
        <p:grpSpPr>
          <a:xfrm>
            <a:off x="-1" y="5806572"/>
            <a:ext cx="1102141" cy="1052444"/>
            <a:chOff x="-1" y="5806572"/>
            <a:chExt cx="1102141" cy="1052444"/>
          </a:xfrm>
        </p:grpSpPr>
        <p:pic>
          <p:nvPicPr>
            <p:cNvPr id="8" name="Picture 7">
              <a:extLst>
                <a:ext uri="{FF2B5EF4-FFF2-40B4-BE49-F238E27FC236}">
                  <a16:creationId xmlns:a16="http://schemas.microsoft.com/office/drawing/2014/main" id="{EE74143F-ECAD-0C72-486A-D4A4295FD089}"/>
                </a:ext>
              </a:extLst>
            </p:cNvPr>
            <p:cNvPicPr>
              <a:picLocks noChangeAspect="1"/>
            </p:cNvPicPr>
            <p:nvPr/>
          </p:nvPicPr>
          <p:blipFill rotWithShape="1">
            <a:blip r:embed="rId14"/>
            <a:srcRect l="49545" b="51820"/>
            <a:stretch/>
          </p:blipFill>
          <p:spPr>
            <a:xfrm>
              <a:off x="-1" y="5806572"/>
              <a:ext cx="1102141" cy="1052444"/>
            </a:xfrm>
            <a:prstGeom prst="rect">
              <a:avLst/>
            </a:prstGeom>
          </p:spPr>
        </p:pic>
        <p:sp>
          <p:nvSpPr>
            <p:cNvPr id="10" name="Title 1">
              <a:extLst>
                <a:ext uri="{FF2B5EF4-FFF2-40B4-BE49-F238E27FC236}">
                  <a16:creationId xmlns:a16="http://schemas.microsoft.com/office/drawing/2014/main" id="{4C138448-E0F6-0785-4D39-F26DB427C24D}"/>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12</a:t>
              </a:r>
            </a:p>
          </p:txBody>
        </p:sp>
      </p:grpSp>
    </p:spTree>
    <p:extLst>
      <p:ext uri="{BB962C8B-B14F-4D97-AF65-F5344CB8AC3E}">
        <p14:creationId xmlns:p14="http://schemas.microsoft.com/office/powerpoint/2010/main" val="1741014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lang="en-US" dirty="0">
                <a:latin typeface="DIN Alternate" panose="020B0500000000000000" pitchFamily="34" charset="77"/>
                <a:ea typeface="+mn-ea"/>
                <a:cs typeface="+mn-cs"/>
              </a:rPr>
              <a:t>T</a:t>
            </a:r>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he Systems</a:t>
            </a:r>
            <a:endParaRPr lang="en-US" dirty="0">
              <a:latin typeface="DIN Alternate" panose="020B0500000000000000" pitchFamily="34" charset="77"/>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CD0BAE1-EDDB-19BE-2127-E3D16E389016}"/>
                  </a:ext>
                </a:extLst>
              </p:cNvPr>
              <p:cNvSpPr txBox="1"/>
              <p:nvPr/>
            </p:nvSpPr>
            <p:spPr>
              <a:xfrm>
                <a:off x="2140784" y="3994626"/>
                <a:ext cx="893706" cy="4579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GB" sz="2200" i="1" dirty="0" smtClean="0">
                              <a:solidFill>
                                <a:schemeClr val="bg1"/>
                              </a:solidFill>
                              <a:latin typeface="Cambria Math" panose="02040503050406030204" pitchFamily="18" charset="0"/>
                              <a:cs typeface="Microsoft Sans Serif" panose="020B0604020202020204" pitchFamily="34" charset="0"/>
                            </a:rPr>
                            <m:t>𝑒𝑓𝑓</m:t>
                          </m:r>
                          <m:r>
                            <a:rPr lang="en-US" sz="2200" b="0" i="1" dirty="0" smtClean="0">
                              <a:solidFill>
                                <a:schemeClr val="bg1"/>
                              </a:solidFill>
                              <a:latin typeface="Cambria Math" panose="02040503050406030204" pitchFamily="18" charset="0"/>
                              <a:cs typeface="Microsoft Sans Serif" panose="020B0604020202020204" pitchFamily="34" charset="0"/>
                            </a:rPr>
                            <m:t>1</m:t>
                          </m:r>
                        </m:sub>
                      </m:sSub>
                    </m:oMath>
                  </m:oMathPara>
                </a14:m>
                <a:endParaRPr lang="en-US" sz="2200" dirty="0">
                  <a:solidFill>
                    <a:schemeClr val="bg1"/>
                  </a:solidFill>
                </a:endParaRPr>
              </a:p>
            </p:txBody>
          </p:sp>
        </mc:Choice>
        <mc:Fallback xmlns="">
          <p:sp>
            <p:nvSpPr>
              <p:cNvPr id="14" name="TextBox 13">
                <a:extLst>
                  <a:ext uri="{FF2B5EF4-FFF2-40B4-BE49-F238E27FC236}">
                    <a16:creationId xmlns:a16="http://schemas.microsoft.com/office/drawing/2014/main" id="{DCD0BAE1-EDDB-19BE-2127-E3D16E389016}"/>
                  </a:ext>
                </a:extLst>
              </p:cNvPr>
              <p:cNvSpPr txBox="1">
                <a:spLocks noRot="1" noChangeAspect="1" noMove="1" noResize="1" noEditPoints="1" noAdjustHandles="1" noChangeArrowheads="1" noChangeShapeType="1" noTextEdit="1"/>
              </p:cNvSpPr>
              <p:nvPr/>
            </p:nvSpPr>
            <p:spPr>
              <a:xfrm>
                <a:off x="2140784" y="3994626"/>
                <a:ext cx="893706" cy="457946"/>
              </a:xfrm>
              <a:prstGeom prst="rect">
                <a:avLst/>
              </a:prstGeom>
              <a:blipFill>
                <a:blip r:embed="rId3"/>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9119E7A-4101-A773-F59A-389A8386C381}"/>
                  </a:ext>
                </a:extLst>
              </p:cNvPr>
              <p:cNvSpPr txBox="1"/>
              <p:nvPr/>
            </p:nvSpPr>
            <p:spPr>
              <a:xfrm>
                <a:off x="3525333" y="3992401"/>
                <a:ext cx="893706" cy="4579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GB" sz="2200" i="1" dirty="0" smtClean="0">
                              <a:solidFill>
                                <a:schemeClr val="bg1"/>
                              </a:solidFill>
                              <a:latin typeface="Cambria Math" panose="02040503050406030204" pitchFamily="18" charset="0"/>
                              <a:cs typeface="Microsoft Sans Serif" panose="020B0604020202020204" pitchFamily="34" charset="0"/>
                            </a:rPr>
                            <m:t>𝑒𝑓𝑓</m:t>
                          </m:r>
                          <m:r>
                            <a:rPr lang="en-US" sz="2200" b="0" i="1" dirty="0" smtClean="0">
                              <a:solidFill>
                                <a:schemeClr val="bg1"/>
                              </a:solidFill>
                              <a:latin typeface="Cambria Math" panose="02040503050406030204" pitchFamily="18" charset="0"/>
                              <a:cs typeface="Microsoft Sans Serif" panose="020B0604020202020204" pitchFamily="34" charset="0"/>
                            </a:rPr>
                            <m:t>2</m:t>
                          </m:r>
                        </m:sub>
                      </m:sSub>
                    </m:oMath>
                  </m:oMathPara>
                </a14:m>
                <a:endParaRPr lang="en-US" sz="2200" dirty="0">
                  <a:solidFill>
                    <a:schemeClr val="bg1"/>
                  </a:solidFill>
                </a:endParaRPr>
              </a:p>
            </p:txBody>
          </p:sp>
        </mc:Choice>
        <mc:Fallback xmlns="">
          <p:sp>
            <p:nvSpPr>
              <p:cNvPr id="15" name="TextBox 14">
                <a:extLst>
                  <a:ext uri="{FF2B5EF4-FFF2-40B4-BE49-F238E27FC236}">
                    <a16:creationId xmlns:a16="http://schemas.microsoft.com/office/drawing/2014/main" id="{A9119E7A-4101-A773-F59A-389A8386C381}"/>
                  </a:ext>
                </a:extLst>
              </p:cNvPr>
              <p:cNvSpPr txBox="1">
                <a:spLocks noRot="1" noChangeAspect="1" noMove="1" noResize="1" noEditPoints="1" noAdjustHandles="1" noChangeArrowheads="1" noChangeShapeType="1" noTextEdit="1"/>
              </p:cNvSpPr>
              <p:nvPr/>
            </p:nvSpPr>
            <p:spPr>
              <a:xfrm>
                <a:off x="3525333" y="3992401"/>
                <a:ext cx="893706" cy="457946"/>
              </a:xfrm>
              <a:prstGeom prst="rect">
                <a:avLst/>
              </a:prstGeom>
              <a:blipFill>
                <a:blip r:embed="rId4"/>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17F23B1-4C79-2599-00F0-7143D5161255}"/>
                  </a:ext>
                </a:extLst>
              </p:cNvPr>
              <p:cNvSpPr txBox="1"/>
              <p:nvPr/>
            </p:nvSpPr>
            <p:spPr>
              <a:xfrm>
                <a:off x="961919" y="4019460"/>
                <a:ext cx="53463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US" sz="2200" b="0" i="1" dirty="0" smtClean="0">
                              <a:solidFill>
                                <a:schemeClr val="bg1"/>
                              </a:solidFill>
                              <a:latin typeface="Cambria Math" panose="02040503050406030204" pitchFamily="18" charset="0"/>
                              <a:cs typeface="Microsoft Sans Serif" panose="020B0604020202020204" pitchFamily="34" charset="0"/>
                            </a:rPr>
                            <m:t>0</m:t>
                          </m:r>
                        </m:sub>
                      </m:sSub>
                    </m:oMath>
                  </m:oMathPara>
                </a14:m>
                <a:endParaRPr lang="en-US" sz="2200" dirty="0">
                  <a:solidFill>
                    <a:schemeClr val="bg1"/>
                  </a:solidFill>
                </a:endParaRPr>
              </a:p>
            </p:txBody>
          </p:sp>
        </mc:Choice>
        <mc:Fallback xmlns="">
          <p:sp>
            <p:nvSpPr>
              <p:cNvPr id="16" name="TextBox 15">
                <a:extLst>
                  <a:ext uri="{FF2B5EF4-FFF2-40B4-BE49-F238E27FC236}">
                    <a16:creationId xmlns:a16="http://schemas.microsoft.com/office/drawing/2014/main" id="{A17F23B1-4C79-2599-00F0-7143D5161255}"/>
                  </a:ext>
                </a:extLst>
              </p:cNvPr>
              <p:cNvSpPr txBox="1">
                <a:spLocks noRot="1" noChangeAspect="1" noMove="1" noResize="1" noEditPoints="1" noAdjustHandles="1" noChangeArrowheads="1" noChangeShapeType="1" noTextEdit="1"/>
              </p:cNvSpPr>
              <p:nvPr/>
            </p:nvSpPr>
            <p:spPr>
              <a:xfrm>
                <a:off x="961919" y="4019460"/>
                <a:ext cx="534634"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E2CC6A6-5005-A85E-33A9-295858AEF1FD}"/>
                  </a:ext>
                </a:extLst>
              </p:cNvPr>
              <p:cNvSpPr txBox="1"/>
              <p:nvPr/>
            </p:nvSpPr>
            <p:spPr>
              <a:xfrm>
                <a:off x="4832422" y="4026643"/>
                <a:ext cx="776175"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200" b="0" i="0" dirty="0" smtClean="0">
                          <a:solidFill>
                            <a:schemeClr val="bg1"/>
                          </a:solidFill>
                          <a:latin typeface="Cambria Math" panose="02040503050406030204" pitchFamily="18" charset="0"/>
                          <a:cs typeface="Microsoft Sans Serif" panose="020B0604020202020204" pitchFamily="34" charset="0"/>
                        </a:rPr>
                        <m:t>DBR</m:t>
                      </m:r>
                    </m:oMath>
                  </m:oMathPara>
                </a14:m>
                <a:endParaRPr lang="en-US" sz="2200" dirty="0">
                  <a:solidFill>
                    <a:schemeClr val="bg1"/>
                  </a:solidFill>
                </a:endParaRPr>
              </a:p>
            </p:txBody>
          </p:sp>
        </mc:Choice>
        <mc:Fallback xmlns="">
          <p:sp>
            <p:nvSpPr>
              <p:cNvPr id="17" name="TextBox 16">
                <a:extLst>
                  <a:ext uri="{FF2B5EF4-FFF2-40B4-BE49-F238E27FC236}">
                    <a16:creationId xmlns:a16="http://schemas.microsoft.com/office/drawing/2014/main" id="{9E2CC6A6-5005-A85E-33A9-295858AEF1FD}"/>
                  </a:ext>
                </a:extLst>
              </p:cNvPr>
              <p:cNvSpPr txBox="1">
                <a:spLocks noRot="1" noChangeAspect="1" noMove="1" noResize="1" noEditPoints="1" noAdjustHandles="1" noChangeArrowheads="1" noChangeShapeType="1" noTextEdit="1"/>
              </p:cNvSpPr>
              <p:nvPr/>
            </p:nvSpPr>
            <p:spPr>
              <a:xfrm>
                <a:off x="4832422" y="4026643"/>
                <a:ext cx="776175" cy="43088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D3BC113-8C7B-2F3B-D753-7C6013C35397}"/>
                  </a:ext>
                </a:extLst>
              </p:cNvPr>
              <p:cNvSpPr txBox="1"/>
              <p:nvPr/>
            </p:nvSpPr>
            <p:spPr>
              <a:xfrm>
                <a:off x="8462052" y="4005930"/>
                <a:ext cx="893706" cy="4579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GB" sz="2200" i="1" dirty="0" smtClean="0">
                              <a:solidFill>
                                <a:schemeClr val="bg1"/>
                              </a:solidFill>
                              <a:latin typeface="Cambria Math" panose="02040503050406030204" pitchFamily="18" charset="0"/>
                              <a:cs typeface="Microsoft Sans Serif" panose="020B0604020202020204" pitchFamily="34" charset="0"/>
                            </a:rPr>
                            <m:t>𝑒𝑓𝑓</m:t>
                          </m:r>
                          <m:r>
                            <a:rPr lang="en-US" sz="2200" b="0" i="1" dirty="0" smtClean="0">
                              <a:solidFill>
                                <a:schemeClr val="bg1"/>
                              </a:solidFill>
                              <a:latin typeface="Cambria Math" panose="02040503050406030204" pitchFamily="18" charset="0"/>
                              <a:cs typeface="Microsoft Sans Serif" panose="020B0604020202020204" pitchFamily="34" charset="0"/>
                            </a:rPr>
                            <m:t>1</m:t>
                          </m:r>
                        </m:sub>
                      </m:sSub>
                    </m:oMath>
                  </m:oMathPara>
                </a14:m>
                <a:endParaRPr lang="en-US" sz="2200" dirty="0">
                  <a:solidFill>
                    <a:schemeClr val="bg1"/>
                  </a:solidFill>
                </a:endParaRPr>
              </a:p>
            </p:txBody>
          </p:sp>
        </mc:Choice>
        <mc:Fallback xmlns="">
          <p:sp>
            <p:nvSpPr>
              <p:cNvPr id="18" name="TextBox 17">
                <a:extLst>
                  <a:ext uri="{FF2B5EF4-FFF2-40B4-BE49-F238E27FC236}">
                    <a16:creationId xmlns:a16="http://schemas.microsoft.com/office/drawing/2014/main" id="{3D3BC113-8C7B-2F3B-D753-7C6013C35397}"/>
                  </a:ext>
                </a:extLst>
              </p:cNvPr>
              <p:cNvSpPr txBox="1">
                <a:spLocks noRot="1" noChangeAspect="1" noMove="1" noResize="1" noEditPoints="1" noAdjustHandles="1" noChangeArrowheads="1" noChangeShapeType="1" noTextEdit="1"/>
              </p:cNvSpPr>
              <p:nvPr/>
            </p:nvSpPr>
            <p:spPr>
              <a:xfrm>
                <a:off x="8462052" y="4005930"/>
                <a:ext cx="893706" cy="457946"/>
              </a:xfrm>
              <a:prstGeom prst="rect">
                <a:avLst/>
              </a:prstGeom>
              <a:blipFill>
                <a:blip r:embed="rId7"/>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058859D-CE8D-5913-0EBD-CE90F85C93ED}"/>
                  </a:ext>
                </a:extLst>
              </p:cNvPr>
              <p:cNvSpPr txBox="1"/>
              <p:nvPr/>
            </p:nvSpPr>
            <p:spPr>
              <a:xfrm>
                <a:off x="10021961" y="3992400"/>
                <a:ext cx="893706" cy="4579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GB" sz="2200" i="1" dirty="0" smtClean="0">
                              <a:solidFill>
                                <a:schemeClr val="bg1"/>
                              </a:solidFill>
                              <a:latin typeface="Cambria Math" panose="02040503050406030204" pitchFamily="18" charset="0"/>
                              <a:cs typeface="Microsoft Sans Serif" panose="020B0604020202020204" pitchFamily="34" charset="0"/>
                            </a:rPr>
                            <m:t>𝑒𝑓𝑓</m:t>
                          </m:r>
                          <m:r>
                            <a:rPr lang="en-US" sz="2200" b="0" i="1" dirty="0" smtClean="0">
                              <a:solidFill>
                                <a:schemeClr val="bg1"/>
                              </a:solidFill>
                              <a:latin typeface="Cambria Math" panose="02040503050406030204" pitchFamily="18" charset="0"/>
                              <a:cs typeface="Microsoft Sans Serif" panose="020B0604020202020204" pitchFamily="34" charset="0"/>
                            </a:rPr>
                            <m:t>2</m:t>
                          </m:r>
                        </m:sub>
                      </m:sSub>
                    </m:oMath>
                  </m:oMathPara>
                </a14:m>
                <a:endParaRPr lang="en-US" sz="2200" dirty="0">
                  <a:solidFill>
                    <a:schemeClr val="bg1"/>
                  </a:solidFill>
                </a:endParaRPr>
              </a:p>
            </p:txBody>
          </p:sp>
        </mc:Choice>
        <mc:Fallback xmlns="">
          <p:sp>
            <p:nvSpPr>
              <p:cNvPr id="19" name="TextBox 18">
                <a:extLst>
                  <a:ext uri="{FF2B5EF4-FFF2-40B4-BE49-F238E27FC236}">
                    <a16:creationId xmlns:a16="http://schemas.microsoft.com/office/drawing/2014/main" id="{2058859D-CE8D-5913-0EBD-CE90F85C93ED}"/>
                  </a:ext>
                </a:extLst>
              </p:cNvPr>
              <p:cNvSpPr txBox="1">
                <a:spLocks noRot="1" noChangeAspect="1" noMove="1" noResize="1" noEditPoints="1" noAdjustHandles="1" noChangeArrowheads="1" noChangeShapeType="1" noTextEdit="1"/>
              </p:cNvSpPr>
              <p:nvPr/>
            </p:nvSpPr>
            <p:spPr>
              <a:xfrm>
                <a:off x="10021961" y="3992400"/>
                <a:ext cx="893706" cy="457946"/>
              </a:xfrm>
              <a:prstGeom prst="rect">
                <a:avLst/>
              </a:prstGeom>
              <a:blipFill>
                <a:blip r:embed="rId8"/>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3189E21-A481-3D25-A287-666DA2803E3B}"/>
                  </a:ext>
                </a:extLst>
              </p:cNvPr>
              <p:cNvSpPr txBox="1"/>
              <p:nvPr/>
            </p:nvSpPr>
            <p:spPr>
              <a:xfrm>
                <a:off x="7006182" y="4005930"/>
                <a:ext cx="53463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US" sz="2200" b="0" i="1" dirty="0" smtClean="0">
                              <a:solidFill>
                                <a:schemeClr val="bg1"/>
                              </a:solidFill>
                              <a:latin typeface="Cambria Math" panose="02040503050406030204" pitchFamily="18" charset="0"/>
                              <a:cs typeface="Microsoft Sans Serif" panose="020B0604020202020204" pitchFamily="34" charset="0"/>
                            </a:rPr>
                            <m:t>0</m:t>
                          </m:r>
                        </m:sub>
                      </m:sSub>
                    </m:oMath>
                  </m:oMathPara>
                </a14:m>
                <a:endParaRPr lang="en-US" sz="2200" dirty="0">
                  <a:solidFill>
                    <a:schemeClr val="bg1"/>
                  </a:solidFill>
                </a:endParaRPr>
              </a:p>
            </p:txBody>
          </p:sp>
        </mc:Choice>
        <mc:Fallback xmlns="">
          <p:sp>
            <p:nvSpPr>
              <p:cNvPr id="20" name="TextBox 19">
                <a:extLst>
                  <a:ext uri="{FF2B5EF4-FFF2-40B4-BE49-F238E27FC236}">
                    <a16:creationId xmlns:a16="http://schemas.microsoft.com/office/drawing/2014/main" id="{F3189E21-A481-3D25-A287-666DA2803E3B}"/>
                  </a:ext>
                </a:extLst>
              </p:cNvPr>
              <p:cNvSpPr txBox="1">
                <a:spLocks noRot="1" noChangeAspect="1" noMove="1" noResize="1" noEditPoints="1" noAdjustHandles="1" noChangeArrowheads="1" noChangeShapeType="1" noTextEdit="1"/>
              </p:cNvSpPr>
              <p:nvPr/>
            </p:nvSpPr>
            <p:spPr>
              <a:xfrm>
                <a:off x="7006182" y="4005930"/>
                <a:ext cx="534634" cy="43088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C4C6D78-5E23-5CAB-F473-D08E0D686893}"/>
                  </a:ext>
                </a:extLst>
              </p:cNvPr>
              <p:cNvSpPr txBox="1"/>
              <p:nvPr/>
            </p:nvSpPr>
            <p:spPr>
              <a:xfrm>
                <a:off x="11219833" y="4026642"/>
                <a:ext cx="53463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solidFill>
                                <a:schemeClr val="bg1"/>
                              </a:solidFill>
                              <a:latin typeface="Cambria Math" panose="02040503050406030204" pitchFamily="18" charset="0"/>
                              <a:cs typeface="Microsoft Sans Serif" panose="020B0604020202020204" pitchFamily="34" charset="0"/>
                            </a:rPr>
                          </m:ctrlPr>
                        </m:sSubPr>
                        <m:e>
                          <m:r>
                            <a:rPr lang="en-GB" sz="2200" i="1" dirty="0" smtClean="0">
                              <a:solidFill>
                                <a:schemeClr val="bg1"/>
                              </a:solidFill>
                              <a:latin typeface="Cambria Math" panose="02040503050406030204" pitchFamily="18" charset="0"/>
                              <a:cs typeface="Microsoft Sans Serif" panose="020B0604020202020204" pitchFamily="34" charset="0"/>
                            </a:rPr>
                            <m:t>𝑛</m:t>
                          </m:r>
                        </m:e>
                        <m:sub>
                          <m:r>
                            <a:rPr lang="en-US" sz="2200" b="0" i="1" dirty="0" smtClean="0">
                              <a:solidFill>
                                <a:schemeClr val="bg1"/>
                              </a:solidFill>
                              <a:latin typeface="Cambria Math" panose="02040503050406030204" pitchFamily="18" charset="0"/>
                              <a:cs typeface="Microsoft Sans Serif" panose="020B0604020202020204" pitchFamily="34" charset="0"/>
                            </a:rPr>
                            <m:t>0</m:t>
                          </m:r>
                        </m:sub>
                      </m:sSub>
                    </m:oMath>
                  </m:oMathPara>
                </a14:m>
                <a:endParaRPr lang="en-US" sz="2200" dirty="0">
                  <a:solidFill>
                    <a:schemeClr val="bg1"/>
                  </a:solidFill>
                </a:endParaRPr>
              </a:p>
            </p:txBody>
          </p:sp>
        </mc:Choice>
        <mc:Fallback xmlns="">
          <p:sp>
            <p:nvSpPr>
              <p:cNvPr id="21" name="TextBox 20">
                <a:extLst>
                  <a:ext uri="{FF2B5EF4-FFF2-40B4-BE49-F238E27FC236}">
                    <a16:creationId xmlns:a16="http://schemas.microsoft.com/office/drawing/2014/main" id="{1C4C6D78-5E23-5CAB-F473-D08E0D686893}"/>
                  </a:ext>
                </a:extLst>
              </p:cNvPr>
              <p:cNvSpPr txBox="1">
                <a:spLocks noRot="1" noChangeAspect="1" noMove="1" noResize="1" noEditPoints="1" noAdjustHandles="1" noChangeArrowheads="1" noChangeShapeType="1" noTextEdit="1"/>
              </p:cNvSpPr>
              <p:nvPr/>
            </p:nvSpPr>
            <p:spPr>
              <a:xfrm>
                <a:off x="11219833" y="4026642"/>
                <a:ext cx="534634" cy="430887"/>
              </a:xfrm>
              <a:prstGeom prst="rect">
                <a:avLst/>
              </a:prstGeom>
              <a:blipFill>
                <a:blip r:embed="rId10"/>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314C121B-DB11-57BE-19B6-29A34B38BF18}"/>
              </a:ext>
            </a:extLst>
          </p:cNvPr>
          <p:cNvSpPr txBox="1"/>
          <p:nvPr/>
        </p:nvSpPr>
        <p:spPr>
          <a:xfrm>
            <a:off x="961918" y="5731552"/>
            <a:ext cx="9953749" cy="584775"/>
          </a:xfrm>
          <a:prstGeom prst="rect">
            <a:avLst/>
          </a:prstGeom>
          <a:noFill/>
        </p:spPr>
        <p:txBody>
          <a:bodyPr wrap="square">
            <a:spAutoFit/>
          </a:bodyPr>
          <a:lstStyle/>
          <a:p>
            <a:pPr algn="just">
              <a:spcAft>
                <a:spcPts val="600"/>
              </a:spcAft>
            </a:pPr>
            <a:r>
              <a:rPr lang="en-GB" sz="1600" dirty="0">
                <a:solidFill>
                  <a:srgbClr val="EEEEEE"/>
                </a:solidFill>
                <a:latin typeface="Quicksand"/>
              </a:rPr>
              <a:t>Fig. 10: Pulse intensities as a function of time and position for both systems. The dashed lines represent boundaries between crystals and the continuous line represents a boundary with the DBR. </a:t>
            </a:r>
          </a:p>
        </p:txBody>
      </p:sp>
      <p:sp>
        <p:nvSpPr>
          <p:cNvPr id="12" name="TextBox 11">
            <a:extLst>
              <a:ext uri="{FF2B5EF4-FFF2-40B4-BE49-F238E27FC236}">
                <a16:creationId xmlns:a16="http://schemas.microsoft.com/office/drawing/2014/main" id="{6B8E0582-292C-9C4E-9900-D126B5AC7244}"/>
              </a:ext>
            </a:extLst>
          </p:cNvPr>
          <p:cNvSpPr txBox="1"/>
          <p:nvPr/>
        </p:nvSpPr>
        <p:spPr>
          <a:xfrm>
            <a:off x="2275078" y="5275098"/>
            <a:ext cx="2186261" cy="369332"/>
          </a:xfrm>
          <a:prstGeom prst="rect">
            <a:avLst/>
          </a:prstGeom>
          <a:noFill/>
        </p:spPr>
        <p:txBody>
          <a:bodyPr wrap="square">
            <a:spAutoFit/>
          </a:bodyPr>
          <a:lstStyle/>
          <a:p>
            <a:pPr algn="ctr">
              <a:spcAft>
                <a:spcPts val="600"/>
              </a:spcAft>
            </a:pPr>
            <a:r>
              <a:rPr lang="en-GB" dirty="0">
                <a:solidFill>
                  <a:srgbClr val="EEEEEE"/>
                </a:solidFill>
                <a:latin typeface="Quicksand"/>
              </a:rPr>
              <a:t>a) Optical System 1</a:t>
            </a:r>
          </a:p>
        </p:txBody>
      </p:sp>
      <p:sp>
        <p:nvSpPr>
          <p:cNvPr id="22" name="TextBox 21">
            <a:extLst>
              <a:ext uri="{FF2B5EF4-FFF2-40B4-BE49-F238E27FC236}">
                <a16:creationId xmlns:a16="http://schemas.microsoft.com/office/drawing/2014/main" id="{74F1107C-EFC7-E5D2-4CE5-7F6CF7E8772E}"/>
              </a:ext>
            </a:extLst>
          </p:cNvPr>
          <p:cNvSpPr txBox="1"/>
          <p:nvPr/>
        </p:nvSpPr>
        <p:spPr>
          <a:xfrm>
            <a:off x="7730663" y="5275098"/>
            <a:ext cx="2186261" cy="369332"/>
          </a:xfrm>
          <a:prstGeom prst="rect">
            <a:avLst/>
          </a:prstGeom>
          <a:noFill/>
        </p:spPr>
        <p:txBody>
          <a:bodyPr wrap="square">
            <a:spAutoFit/>
          </a:bodyPr>
          <a:lstStyle/>
          <a:p>
            <a:pPr algn="ctr">
              <a:spcAft>
                <a:spcPts val="600"/>
              </a:spcAft>
            </a:pPr>
            <a:r>
              <a:rPr lang="en-GB" dirty="0">
                <a:solidFill>
                  <a:srgbClr val="EEEEEE"/>
                </a:solidFill>
                <a:latin typeface="Quicksand"/>
              </a:rPr>
              <a:t>b) Optical System 2</a:t>
            </a:r>
          </a:p>
        </p:txBody>
      </p:sp>
      <p:pic>
        <p:nvPicPr>
          <p:cNvPr id="23" name="Picture 22" descr="A blue graph with lines and numbers&#10;&#10;Description automatically generated with medium confidence">
            <a:extLst>
              <a:ext uri="{FF2B5EF4-FFF2-40B4-BE49-F238E27FC236}">
                <a16:creationId xmlns:a16="http://schemas.microsoft.com/office/drawing/2014/main" id="{E7C2258A-CD58-AC08-64A7-326D5EDBDB77}"/>
              </a:ext>
            </a:extLst>
          </p:cNvPr>
          <p:cNvPicPr>
            <a:picLocks noChangeAspect="1"/>
          </p:cNvPicPr>
          <p:nvPr/>
        </p:nvPicPr>
        <p:blipFill rotWithShape="1">
          <a:blip r:embed="rId11"/>
          <a:srcRect t="8832" r="5477"/>
          <a:stretch/>
        </p:blipFill>
        <p:spPr>
          <a:xfrm>
            <a:off x="838200" y="1250161"/>
            <a:ext cx="5060019" cy="3904361"/>
          </a:xfrm>
          <a:prstGeom prst="rect">
            <a:avLst/>
          </a:prstGeom>
        </p:spPr>
      </p:pic>
      <p:pic>
        <p:nvPicPr>
          <p:cNvPr id="24" name="Picture 23" descr="A blue graph with a line&#10;&#10;Description automatically generated">
            <a:extLst>
              <a:ext uri="{FF2B5EF4-FFF2-40B4-BE49-F238E27FC236}">
                <a16:creationId xmlns:a16="http://schemas.microsoft.com/office/drawing/2014/main" id="{8B6F7C29-B3E8-D224-1A1D-AD401CA68F81}"/>
              </a:ext>
            </a:extLst>
          </p:cNvPr>
          <p:cNvPicPr>
            <a:picLocks noChangeAspect="1"/>
          </p:cNvPicPr>
          <p:nvPr/>
        </p:nvPicPr>
        <p:blipFill rotWithShape="1">
          <a:blip r:embed="rId12"/>
          <a:srcRect t="8420" r="6458"/>
          <a:stretch/>
        </p:blipFill>
        <p:spPr>
          <a:xfrm>
            <a:off x="6293783" y="1265250"/>
            <a:ext cx="4965730" cy="3889272"/>
          </a:xfrm>
          <a:prstGeom prst="rect">
            <a:avLst/>
          </a:prstGeom>
        </p:spPr>
      </p:pic>
      <p:grpSp>
        <p:nvGrpSpPr>
          <p:cNvPr id="25" name="Group 24">
            <a:extLst>
              <a:ext uri="{FF2B5EF4-FFF2-40B4-BE49-F238E27FC236}">
                <a16:creationId xmlns:a16="http://schemas.microsoft.com/office/drawing/2014/main" id="{CCD9E057-C8B5-4FA9-DA09-2962AC900826}"/>
              </a:ext>
            </a:extLst>
          </p:cNvPr>
          <p:cNvGrpSpPr/>
          <p:nvPr/>
        </p:nvGrpSpPr>
        <p:grpSpPr>
          <a:xfrm>
            <a:off x="-1" y="5806572"/>
            <a:ext cx="1102141" cy="1052444"/>
            <a:chOff x="-1" y="5806572"/>
            <a:chExt cx="1102141" cy="1052444"/>
          </a:xfrm>
        </p:grpSpPr>
        <p:pic>
          <p:nvPicPr>
            <p:cNvPr id="26" name="Picture 25">
              <a:extLst>
                <a:ext uri="{FF2B5EF4-FFF2-40B4-BE49-F238E27FC236}">
                  <a16:creationId xmlns:a16="http://schemas.microsoft.com/office/drawing/2014/main" id="{06B0997D-F228-92CE-A06B-E2FF004B5F5B}"/>
                </a:ext>
              </a:extLst>
            </p:cNvPr>
            <p:cNvPicPr>
              <a:picLocks noChangeAspect="1"/>
            </p:cNvPicPr>
            <p:nvPr/>
          </p:nvPicPr>
          <p:blipFill rotWithShape="1">
            <a:blip r:embed="rId13"/>
            <a:srcRect l="49545" b="51820"/>
            <a:stretch/>
          </p:blipFill>
          <p:spPr>
            <a:xfrm>
              <a:off x="-1" y="5806572"/>
              <a:ext cx="1102141" cy="1052444"/>
            </a:xfrm>
            <a:prstGeom prst="rect">
              <a:avLst/>
            </a:prstGeom>
          </p:spPr>
        </p:pic>
        <p:sp>
          <p:nvSpPr>
            <p:cNvPr id="27" name="Title 1">
              <a:extLst>
                <a:ext uri="{FF2B5EF4-FFF2-40B4-BE49-F238E27FC236}">
                  <a16:creationId xmlns:a16="http://schemas.microsoft.com/office/drawing/2014/main" id="{2D773C9F-E336-00B5-46C2-F1073DDDFF52}"/>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13</a:t>
              </a:r>
            </a:p>
          </p:txBody>
        </p:sp>
      </p:grpSp>
    </p:spTree>
    <p:extLst>
      <p:ext uri="{BB962C8B-B14F-4D97-AF65-F5344CB8AC3E}">
        <p14:creationId xmlns:p14="http://schemas.microsoft.com/office/powerpoint/2010/main" val="2800302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F807-3623-4E4D-86D0-582E0EA1ACF7}"/>
              </a:ext>
            </a:extLst>
          </p:cNvPr>
          <p:cNvSpPr>
            <a:spLocks noGrp="1"/>
          </p:cNvSpPr>
          <p:nvPr>
            <p:ph type="title"/>
          </p:nvPr>
        </p:nvSpPr>
        <p:spPr>
          <a:xfrm>
            <a:off x="3378843" y="3289300"/>
            <a:ext cx="5434314" cy="1325563"/>
          </a:xfrm>
        </p:spPr>
        <p:txBody>
          <a:bodyPr>
            <a:normAutofit/>
          </a:bodyPr>
          <a:lstStyle/>
          <a:p>
            <a:pPr algn="ctr"/>
            <a:r>
              <a:rPr lang="en-US" sz="6000" dirty="0">
                <a:latin typeface="DIN Alternate" panose="020B0500000000000000" pitchFamily="34" charset="77"/>
              </a:rPr>
              <a:t>Measurements</a:t>
            </a:r>
            <a:endParaRPr lang="en-GB" sz="6000" dirty="0"/>
          </a:p>
        </p:txBody>
      </p:sp>
      <p:pic>
        <p:nvPicPr>
          <p:cNvPr id="5" name="Graphic 4" descr="Ruler with solid fill">
            <a:extLst>
              <a:ext uri="{FF2B5EF4-FFF2-40B4-BE49-F238E27FC236}">
                <a16:creationId xmlns:a16="http://schemas.microsoft.com/office/drawing/2014/main" id="{F326367E-981E-798B-64E7-CF8F50F9B3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800" y="2346325"/>
            <a:ext cx="914400" cy="914400"/>
          </a:xfrm>
          <a:prstGeom prst="rect">
            <a:avLst/>
          </a:prstGeom>
        </p:spPr>
      </p:pic>
    </p:spTree>
    <p:extLst>
      <p:ext uri="{BB962C8B-B14F-4D97-AF65-F5344CB8AC3E}">
        <p14:creationId xmlns:p14="http://schemas.microsoft.com/office/powerpoint/2010/main" val="3104555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Intensities</a:t>
            </a:r>
            <a:endParaRPr lang="en-US" dirty="0">
              <a:latin typeface="DIN Alternate" panose="020B0500000000000000" pitchFamily="34" charset="77"/>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200" y="1344180"/>
                <a:ext cx="3951515" cy="4906691"/>
              </a:xfrm>
            </p:spPr>
            <p:txBody>
              <a:bodyPr anchor="ctr">
                <a:normAutofit/>
              </a:bodyPr>
              <a:lstStyle/>
              <a:p>
                <a:pPr>
                  <a:spcAft>
                    <a:spcPts val="1200"/>
                  </a:spcAft>
                </a:pPr>
                <a:r>
                  <a:rPr lang="en-GB" sz="2000" dirty="0">
                    <a:latin typeface="Microsoft Sans Serif" panose="020B0604020202020204" pitchFamily="34" charset="0"/>
                    <a:cs typeface="Microsoft Sans Serif" panose="020B0604020202020204" pitchFamily="34" charset="0"/>
                  </a:rPr>
                  <a:t>Both systems are identical before the last crystal</a:t>
                </a:r>
              </a:p>
              <a:p>
                <a:pPr>
                  <a:spcAft>
                    <a:spcPts val="1200"/>
                  </a:spcAft>
                </a:pPr>
                <a:r>
                  <a:rPr lang="en-GB" sz="2000" dirty="0">
                    <a:latin typeface="Microsoft Sans Serif" panose="020B0604020202020204" pitchFamily="34" charset="0"/>
                    <a:cs typeface="Microsoft Sans Serif" panose="020B0604020202020204" pitchFamily="34" charset="0"/>
                  </a:rPr>
                  <a:t>Total field intensity attenuation with </a:t>
                </a:r>
                <a14:m>
                  <m:oMath xmlns:m="http://schemas.openxmlformats.org/officeDocument/2006/math">
                    <m:sSub>
                      <m:sSubPr>
                        <m:ctrlPr>
                          <a:rPr lang="en-US" sz="2000" b="0" i="1" dirty="0" smtClean="0">
                            <a:latin typeface="Cambria Math" panose="02040503050406030204" pitchFamily="18" charset="0"/>
                            <a:cs typeface="Microsoft Sans Serif" panose="020B0604020202020204" pitchFamily="34" charset="0"/>
                          </a:rPr>
                        </m:ctrlPr>
                      </m:sSubPr>
                      <m:e>
                        <m:r>
                          <a:rPr lang="en-GB" sz="2000" i="1" dirty="0" smtClean="0">
                            <a:latin typeface="Cambria Math" panose="02040503050406030204" pitchFamily="18" charset="0"/>
                            <a:cs typeface="Microsoft Sans Serif" panose="020B0604020202020204" pitchFamily="34" charset="0"/>
                          </a:rPr>
                          <m:t>𝑛</m:t>
                        </m:r>
                      </m:e>
                      <m:sub>
                        <m:r>
                          <a:rPr lang="en-GB" sz="2000" i="1" dirty="0" smtClean="0">
                            <a:latin typeface="Cambria Math" panose="02040503050406030204" pitchFamily="18" charset="0"/>
                            <a:cs typeface="Microsoft Sans Serif" panose="020B0604020202020204" pitchFamily="34" charset="0"/>
                          </a:rPr>
                          <m:t>𝑒𝑓𝑓</m:t>
                        </m:r>
                      </m:sub>
                    </m:sSub>
                  </m:oMath>
                </a14:m>
                <a:endParaRPr lang="en-GB" sz="2000" dirty="0">
                  <a:latin typeface="Microsoft Sans Serif" panose="020B0604020202020204" pitchFamily="34" charset="0"/>
                  <a:cs typeface="Microsoft Sans Serif" panose="020B0604020202020204" pitchFamily="34" charset="0"/>
                </a:endParaRPr>
              </a:p>
              <a:p>
                <a:pPr>
                  <a:spcAft>
                    <a:spcPts val="1200"/>
                  </a:spcAft>
                </a:pPr>
                <a:r>
                  <a:rPr lang="en-GB" sz="2000" dirty="0">
                    <a:latin typeface="Microsoft Sans Serif" panose="020B0604020202020204" pitchFamily="34" charset="0"/>
                    <a:cs typeface="Microsoft Sans Serif" panose="020B0604020202020204" pitchFamily="34" charset="0"/>
                  </a:rPr>
                  <a:t>Back-reflection counteracts forward momentum</a:t>
                </a:r>
              </a:p>
              <a:p>
                <a:pPr>
                  <a:spcAft>
                    <a:spcPts val="1200"/>
                  </a:spcAft>
                </a:pPr>
                <a:r>
                  <a:rPr lang="en-GB" sz="2000" dirty="0">
                    <a:latin typeface="Microsoft Sans Serif" panose="020B0604020202020204" pitchFamily="34" charset="0"/>
                    <a:cs typeface="Microsoft Sans Serif" panose="020B0604020202020204" pitchFamily="34" charset="0"/>
                  </a:rPr>
                  <a:t>Abraham-like behaviour</a:t>
                </a:r>
              </a:p>
              <a:p>
                <a:pPr>
                  <a:spcAft>
                    <a:spcPts val="1200"/>
                  </a:spcAft>
                </a:pPr>
                <a:r>
                  <a:rPr lang="en-GB" sz="2000" dirty="0">
                    <a:latin typeface="Microsoft Sans Serif" panose="020B0604020202020204" pitchFamily="34" charset="0"/>
                    <a:cs typeface="Microsoft Sans Serif" panose="020B0604020202020204" pitchFamily="34" charset="0"/>
                  </a:rPr>
                  <a:t>No </a:t>
                </a:r>
                <a14:m>
                  <m:oMath xmlns:m="http://schemas.openxmlformats.org/officeDocument/2006/math">
                    <m:r>
                      <a:rPr lang="en-US" sz="2000" b="0" i="1" dirty="0" smtClean="0">
                        <a:latin typeface="Cambria Math" panose="02040503050406030204" pitchFamily="18" charset="0"/>
                        <a:ea typeface="Cambria Math" panose="02040503050406030204" pitchFamily="18" charset="0"/>
                        <a:cs typeface="Microsoft Sans Serif" panose="020B0604020202020204" pitchFamily="34" charset="0"/>
                      </a:rPr>
                      <m:t>∝</m:t>
                    </m:r>
                    <m:f>
                      <m:fPr>
                        <m:ctrlPr>
                          <a:rPr lang="en-US" sz="2000" b="0" i="1" dirty="0" smtClean="0">
                            <a:latin typeface="Cambria Math" panose="02040503050406030204" pitchFamily="18" charset="0"/>
                            <a:cs typeface="Microsoft Sans Serif" panose="020B0604020202020204" pitchFamily="34" charset="0"/>
                          </a:rPr>
                        </m:ctrlPr>
                      </m:fPr>
                      <m:num>
                        <m:r>
                          <a:rPr lang="en-US" sz="2000" b="0" i="0" dirty="0" smtClean="0">
                            <a:latin typeface="Cambria Math" panose="02040503050406030204" pitchFamily="18" charset="0"/>
                            <a:cs typeface="Microsoft Sans Serif" panose="020B0604020202020204" pitchFamily="34" charset="0"/>
                          </a:rPr>
                          <m:t>1</m:t>
                        </m:r>
                      </m:num>
                      <m:den>
                        <m:sSub>
                          <m:sSubPr>
                            <m:ctrlPr>
                              <a:rPr lang="en-US" sz="2000" b="0" i="1" dirty="0" smtClean="0">
                                <a:latin typeface="Cambria Math" panose="02040503050406030204" pitchFamily="18" charset="0"/>
                                <a:cs typeface="Microsoft Sans Serif" panose="020B0604020202020204" pitchFamily="34" charset="0"/>
                              </a:rPr>
                            </m:ctrlPr>
                          </m:sSubPr>
                          <m:e>
                            <m:r>
                              <a:rPr lang="en-GB" sz="2000" i="1" dirty="0" smtClean="0">
                                <a:latin typeface="Cambria Math" panose="02040503050406030204" pitchFamily="18" charset="0"/>
                                <a:cs typeface="Microsoft Sans Serif" panose="020B0604020202020204" pitchFamily="34" charset="0"/>
                              </a:rPr>
                              <m:t>𝑛</m:t>
                            </m:r>
                          </m:e>
                          <m:sub>
                            <m:r>
                              <a:rPr lang="en-GB" sz="2000" i="1" dirty="0" smtClean="0">
                                <a:latin typeface="Cambria Math" panose="02040503050406030204" pitchFamily="18" charset="0"/>
                                <a:cs typeface="Microsoft Sans Serif" panose="020B0604020202020204" pitchFamily="34" charset="0"/>
                              </a:rPr>
                              <m:t>𝑒𝑓𝑓</m:t>
                            </m:r>
                          </m:sub>
                        </m:sSub>
                      </m:den>
                    </m:f>
                  </m:oMath>
                </a14:m>
                <a:r>
                  <a:rPr lang="en-GB" sz="2000" dirty="0">
                    <a:latin typeface="Microsoft Sans Serif" panose="020B0604020202020204" pitchFamily="34" charset="0"/>
                    <a:cs typeface="Microsoft Sans Serif" panose="020B0604020202020204" pitchFamily="34" charset="0"/>
                  </a:rPr>
                  <a:t> dependence</a:t>
                </a: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200" y="1344180"/>
                <a:ext cx="3951515" cy="4906691"/>
              </a:xfrm>
              <a:blipFill>
                <a:blip r:embed="rId3"/>
                <a:stretch>
                  <a:fillRect l="-1603" r="-3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207FB43-B524-8D6E-0B40-6E72DB4D352D}"/>
                  </a:ext>
                </a:extLst>
              </p:cNvPr>
              <p:cNvSpPr txBox="1"/>
              <p:nvPr/>
            </p:nvSpPr>
            <p:spPr>
              <a:xfrm>
                <a:off x="4882937" y="5221797"/>
                <a:ext cx="7036922" cy="584775"/>
              </a:xfrm>
              <a:prstGeom prst="rect">
                <a:avLst/>
              </a:prstGeom>
              <a:noFill/>
            </p:spPr>
            <p:txBody>
              <a:bodyPr wrap="square">
                <a:spAutoFit/>
              </a:bodyPr>
              <a:lstStyle/>
              <a:p>
                <a:pPr algn="just">
                  <a:spcAft>
                    <a:spcPts val="600"/>
                  </a:spcAft>
                </a:pPr>
                <a:r>
                  <a:rPr lang="en-GB" sz="1600" dirty="0"/>
                  <a:t>Fig. 11: I</a:t>
                </a:r>
                <a:r>
                  <a:rPr lang="en-GB" sz="1600" b="0" i="0" dirty="0">
                    <a:effectLst/>
                  </a:rPr>
                  <a:t>ntensities at </a:t>
                </a:r>
                <a14:m>
                  <m:oMath xmlns:m="http://schemas.openxmlformats.org/officeDocument/2006/math">
                    <m:r>
                      <a:rPr lang="en-GB" sz="1600" b="0" i="1" dirty="0" smtClean="0">
                        <a:effectLst/>
                        <a:latin typeface="Cambria Math" panose="02040503050406030204" pitchFamily="18" charset="0"/>
                      </a:rPr>
                      <m:t>𝑡</m:t>
                    </m:r>
                    <m:r>
                      <a:rPr lang="en-GB" sz="1600" b="0" i="1" dirty="0" smtClean="0">
                        <a:effectLst/>
                        <a:latin typeface="Cambria Math" panose="02040503050406030204" pitchFamily="18" charset="0"/>
                      </a:rPr>
                      <m:t>=2.50</m:t>
                    </m:r>
                  </m:oMath>
                </a14:m>
                <a:r>
                  <a:rPr lang="en-GB" sz="1600" b="0" i="0" dirty="0">
                    <a:effectLst/>
                  </a:rPr>
                  <a:t> arb. units (full line), </a:t>
                </a:r>
                <a14:m>
                  <m:oMath xmlns:m="http://schemas.openxmlformats.org/officeDocument/2006/math">
                    <m:r>
                      <a:rPr lang="en-GB" sz="1600" b="0" i="1" dirty="0" smtClean="0">
                        <a:effectLst/>
                        <a:latin typeface="Cambria Math" panose="02040503050406030204" pitchFamily="18" charset="0"/>
                      </a:rPr>
                      <m:t>𝑡</m:t>
                    </m:r>
                    <m:r>
                      <a:rPr lang="en-GB" sz="1600" b="0" i="1" dirty="0" smtClean="0">
                        <a:effectLst/>
                        <a:latin typeface="Cambria Math" panose="02040503050406030204" pitchFamily="18" charset="0"/>
                      </a:rPr>
                      <m:t>=9.00</m:t>
                    </m:r>
                  </m:oMath>
                </a14:m>
                <a:r>
                  <a:rPr lang="en-GB" sz="1600" b="0" i="0" dirty="0">
                    <a:effectLst/>
                  </a:rPr>
                  <a:t> (dot-dash line), and </a:t>
                </a:r>
                <a14:m>
                  <m:oMath xmlns:m="http://schemas.openxmlformats.org/officeDocument/2006/math">
                    <m:r>
                      <a:rPr lang="en-GB" sz="1600" b="0" i="1" dirty="0" smtClean="0">
                        <a:effectLst/>
                        <a:latin typeface="Cambria Math" panose="02040503050406030204" pitchFamily="18" charset="0"/>
                      </a:rPr>
                      <m:t>𝑡</m:t>
                    </m:r>
                    <m:r>
                      <a:rPr lang="en-GB" sz="1600" b="0" i="1" dirty="0" smtClean="0">
                        <a:effectLst/>
                        <a:latin typeface="Cambria Math" panose="02040503050406030204" pitchFamily="18" charset="0"/>
                      </a:rPr>
                      <m:t>=18.00</m:t>
                    </m:r>
                  </m:oMath>
                </a14:m>
                <a:r>
                  <a:rPr lang="en-GB" sz="1600" b="0" i="0" dirty="0">
                    <a:effectLst/>
                  </a:rPr>
                  <a:t> (dashed line).</a:t>
                </a:r>
                <a:endParaRPr lang="en-GB" sz="1600" dirty="0"/>
              </a:p>
            </p:txBody>
          </p:sp>
        </mc:Choice>
        <mc:Fallback xmlns="">
          <p:sp>
            <p:nvSpPr>
              <p:cNvPr id="9" name="TextBox 8">
                <a:extLst>
                  <a:ext uri="{FF2B5EF4-FFF2-40B4-BE49-F238E27FC236}">
                    <a16:creationId xmlns:a16="http://schemas.microsoft.com/office/drawing/2014/main" id="{B207FB43-B524-8D6E-0B40-6E72DB4D352D}"/>
                  </a:ext>
                </a:extLst>
              </p:cNvPr>
              <p:cNvSpPr txBox="1">
                <a:spLocks noRot="1" noChangeAspect="1" noMove="1" noResize="1" noEditPoints="1" noAdjustHandles="1" noChangeArrowheads="1" noChangeShapeType="1" noTextEdit="1"/>
              </p:cNvSpPr>
              <p:nvPr/>
            </p:nvSpPr>
            <p:spPr>
              <a:xfrm>
                <a:off x="4882937" y="5221797"/>
                <a:ext cx="7036922" cy="584775"/>
              </a:xfrm>
              <a:prstGeom prst="rect">
                <a:avLst/>
              </a:prstGeom>
              <a:blipFill>
                <a:blip r:embed="rId4"/>
                <a:stretch>
                  <a:fillRect l="-360" t="-4255" r="-541" b="-10638"/>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12E2464D-7519-5639-7389-5E76AF76EED6}"/>
              </a:ext>
            </a:extLst>
          </p:cNvPr>
          <p:cNvGrpSpPr/>
          <p:nvPr/>
        </p:nvGrpSpPr>
        <p:grpSpPr>
          <a:xfrm>
            <a:off x="-1" y="5806572"/>
            <a:ext cx="1102141" cy="1052444"/>
            <a:chOff x="-1" y="5806572"/>
            <a:chExt cx="1102141" cy="1052444"/>
          </a:xfrm>
        </p:grpSpPr>
        <p:pic>
          <p:nvPicPr>
            <p:cNvPr id="7" name="Picture 6">
              <a:extLst>
                <a:ext uri="{FF2B5EF4-FFF2-40B4-BE49-F238E27FC236}">
                  <a16:creationId xmlns:a16="http://schemas.microsoft.com/office/drawing/2014/main" id="{266DAC6A-3A8F-1EC1-A568-6BCCEFFA3EEB}"/>
                </a:ext>
              </a:extLst>
            </p:cNvPr>
            <p:cNvPicPr>
              <a:picLocks noChangeAspect="1"/>
            </p:cNvPicPr>
            <p:nvPr/>
          </p:nvPicPr>
          <p:blipFill rotWithShape="1">
            <a:blip r:embed="rId5"/>
            <a:srcRect l="49545" b="51820"/>
            <a:stretch/>
          </p:blipFill>
          <p:spPr>
            <a:xfrm>
              <a:off x="-1" y="5806572"/>
              <a:ext cx="1102141" cy="1052444"/>
            </a:xfrm>
            <a:prstGeom prst="rect">
              <a:avLst/>
            </a:prstGeom>
          </p:spPr>
        </p:pic>
        <p:sp>
          <p:nvSpPr>
            <p:cNvPr id="8" name="Title 1">
              <a:extLst>
                <a:ext uri="{FF2B5EF4-FFF2-40B4-BE49-F238E27FC236}">
                  <a16:creationId xmlns:a16="http://schemas.microsoft.com/office/drawing/2014/main" id="{AD86812A-74C2-35EC-B58B-83E43FE43C7B}"/>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15</a:t>
              </a:r>
            </a:p>
          </p:txBody>
        </p:sp>
      </p:grpSp>
      <p:pic>
        <p:nvPicPr>
          <p:cNvPr id="11" name="Picture 10" descr="A diagram of a normal distribution&#10;&#10;Description automatically generated">
            <a:extLst>
              <a:ext uri="{FF2B5EF4-FFF2-40B4-BE49-F238E27FC236}">
                <a16:creationId xmlns:a16="http://schemas.microsoft.com/office/drawing/2014/main" id="{A3F41B9F-6B31-55DC-661F-7F444E94021A}"/>
              </a:ext>
            </a:extLst>
          </p:cNvPr>
          <p:cNvPicPr>
            <a:picLocks noChangeAspect="1"/>
          </p:cNvPicPr>
          <p:nvPr/>
        </p:nvPicPr>
        <p:blipFill rotWithShape="1">
          <a:blip r:embed="rId6"/>
          <a:srcRect l="6478" t="5641" r="8571"/>
          <a:stretch/>
        </p:blipFill>
        <p:spPr>
          <a:xfrm>
            <a:off x="4947674" y="2090025"/>
            <a:ext cx="6972185" cy="3097678"/>
          </a:xfrm>
          <a:prstGeom prst="rect">
            <a:avLst/>
          </a:prstGeom>
        </p:spPr>
      </p:pic>
    </p:spTree>
    <p:extLst>
      <p:ext uri="{BB962C8B-B14F-4D97-AF65-F5344CB8AC3E}">
        <p14:creationId xmlns:p14="http://schemas.microsoft.com/office/powerpoint/2010/main" val="2756340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The Maxwell Stress </a:t>
            </a:r>
            <a:r>
              <a:rPr lang="en-US" sz="4400" dirty="0">
                <a:latin typeface="DIN Alternate" panose="020B0500000000000000" pitchFamily="34" charset="77"/>
                <a:ea typeface="+mn-ea"/>
                <a:cs typeface="+mn-cs"/>
              </a:rPr>
              <a:t>T</a:t>
            </a:r>
            <a:r>
              <a:rPr kumimoji="0" lang="en-US" sz="4400" b="0" i="0" u="none" strike="noStrike" kern="1200" cap="none" spc="0" normalizeH="0" baseline="0" noProof="0" dirty="0" err="1">
                <a:ln>
                  <a:noFill/>
                </a:ln>
                <a:effectLst/>
                <a:uLnTx/>
                <a:uFillTx/>
                <a:latin typeface="DIN Alternate" panose="020B0500000000000000" pitchFamily="34" charset="77"/>
                <a:ea typeface="+mn-ea"/>
                <a:cs typeface="+mn-cs"/>
              </a:rPr>
              <a:t>ensor</a:t>
            </a:r>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 (MST)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200" y="1633507"/>
                <a:ext cx="4764462" cy="4173065"/>
              </a:xfrm>
            </p:spPr>
            <p:txBody>
              <a:bodyPr anchor="ctr">
                <a:normAutofit/>
              </a:bodyPr>
              <a:lstStyle/>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Describes the distribution of EM forces per unit area acting on a surface</a:t>
                </a:r>
              </a:p>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The Momentum Continuity Equation relates </a:t>
                </a:r>
                <a14:m>
                  <m:oMath xmlns:m="http://schemas.openxmlformats.org/officeDocument/2006/math">
                    <m:acc>
                      <m:accPr>
                        <m:chr m:val="⃡"/>
                        <m:ctrlPr>
                          <a:rPr lang="en-GB" sz="2000" b="1" i="1" smtClean="0">
                            <a:latin typeface="Cambria Math" panose="02040503050406030204" pitchFamily="18" charset="0"/>
                          </a:rPr>
                        </m:ctrlPr>
                      </m:accPr>
                      <m:e>
                        <m:r>
                          <a:rPr lang="en-US" sz="2000" b="1">
                            <a:latin typeface="Cambria Math" panose="02040503050406030204" pitchFamily="18" charset="0"/>
                          </a:rPr>
                          <m:t>𝐓</m:t>
                        </m:r>
                      </m:e>
                    </m:acc>
                  </m:oMath>
                </a14:m>
                <a:r>
                  <a:rPr lang="en-GB" sz="2000" dirty="0">
                    <a:latin typeface="Microsoft Sans Serif" panose="020B0604020202020204" pitchFamily="34" charset="0"/>
                    <a:cs typeface="Microsoft Sans Serif" panose="020B0604020202020204" pitchFamily="34" charset="0"/>
                  </a:rPr>
                  <a:t> to momentum</a:t>
                </a:r>
              </a:p>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Different proposed forms in linear dielectrics which agree in vacuum</a:t>
                </a: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200" y="1633507"/>
                <a:ext cx="4764462" cy="4173065"/>
              </a:xfrm>
              <a:blipFill>
                <a:blip r:embed="rId3"/>
                <a:stretch>
                  <a:fillRect l="-1330" r="-23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F81A851-CFC1-A7A7-3E87-797053070148}"/>
                  </a:ext>
                </a:extLst>
              </p:cNvPr>
              <p:cNvSpPr txBox="1"/>
              <p:nvPr/>
            </p:nvSpPr>
            <p:spPr>
              <a:xfrm>
                <a:off x="5750822" y="2144442"/>
                <a:ext cx="6238952" cy="7853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1" i="1" smtClean="0">
                              <a:latin typeface="Cambria Math" panose="02040503050406030204" pitchFamily="18" charset="0"/>
                            </a:rPr>
                          </m:ctrlPr>
                        </m:sSubPr>
                        <m:e>
                          <m:acc>
                            <m:accPr>
                              <m:chr m:val="⃡"/>
                              <m:ctrlPr>
                                <a:rPr lang="en-GB" sz="2200" b="1" i="1" smtClean="0">
                                  <a:latin typeface="Cambria Math" panose="02040503050406030204" pitchFamily="18" charset="0"/>
                                </a:rPr>
                              </m:ctrlPr>
                            </m:accPr>
                            <m:e>
                              <m:r>
                                <a:rPr lang="en-US" sz="2200" b="1" i="0" smtClean="0">
                                  <a:latin typeface="Cambria Math" panose="02040503050406030204" pitchFamily="18" charset="0"/>
                                </a:rPr>
                                <m:t>𝐓</m:t>
                              </m:r>
                            </m:e>
                          </m:acc>
                        </m:e>
                        <m:sub>
                          <m:r>
                            <a:rPr lang="en-US" sz="2200" b="1" i="0" smtClean="0">
                              <a:latin typeface="Cambria Math" panose="02040503050406030204" pitchFamily="18" charset="0"/>
                            </a:rPr>
                            <m:t>𝐯𝐚𝐜</m:t>
                          </m:r>
                        </m:sub>
                      </m:sSub>
                      <m:r>
                        <a:rPr lang="en-GB" sz="2200" i="1">
                          <a:latin typeface="Cambria Math" panose="02040503050406030204" pitchFamily="18" charset="0"/>
                        </a:rPr>
                        <m:t>=</m:t>
                      </m:r>
                      <m:sSub>
                        <m:sSubPr>
                          <m:ctrlPr>
                            <a:rPr lang="en-GB" sz="2200" i="1">
                              <a:latin typeface="Cambria Math" panose="02040503050406030204" pitchFamily="18" charset="0"/>
                            </a:rPr>
                          </m:ctrlPr>
                        </m:sSubPr>
                        <m:e>
                          <m:r>
                            <a:rPr lang="en-GB" sz="2200" i="1">
                              <a:latin typeface="Cambria Math" panose="02040503050406030204" pitchFamily="18" charset="0"/>
                            </a:rPr>
                            <m:t>𝜀</m:t>
                          </m:r>
                        </m:e>
                        <m:sub>
                          <m:r>
                            <a:rPr lang="en-GB" sz="2200" i="1">
                              <a:latin typeface="Cambria Math" panose="02040503050406030204" pitchFamily="18" charset="0"/>
                            </a:rPr>
                            <m:t>0</m:t>
                          </m:r>
                        </m:sub>
                      </m:sSub>
                      <m:sSub>
                        <m:sSubPr>
                          <m:ctrlPr>
                            <a:rPr lang="en-GB" sz="2200" i="1">
                              <a:latin typeface="Cambria Math" panose="02040503050406030204" pitchFamily="18" charset="0"/>
                            </a:rPr>
                          </m:ctrlPr>
                        </m:sSubPr>
                        <m:e>
                          <m:r>
                            <a:rPr lang="en-GB" sz="2200" i="1">
                              <a:latin typeface="Cambria Math" panose="02040503050406030204" pitchFamily="18" charset="0"/>
                            </a:rPr>
                            <m:t>𝐸</m:t>
                          </m:r>
                        </m:e>
                        <m:sub>
                          <m:r>
                            <a:rPr lang="en-GB" sz="2200" i="1">
                              <a:latin typeface="Cambria Math" panose="02040503050406030204" pitchFamily="18" charset="0"/>
                            </a:rPr>
                            <m:t>𝑖</m:t>
                          </m:r>
                        </m:sub>
                      </m:sSub>
                      <m:sSub>
                        <m:sSubPr>
                          <m:ctrlPr>
                            <a:rPr lang="en-GB" sz="2200" i="1">
                              <a:latin typeface="Cambria Math" panose="02040503050406030204" pitchFamily="18" charset="0"/>
                            </a:rPr>
                          </m:ctrlPr>
                        </m:sSubPr>
                        <m:e>
                          <m:r>
                            <a:rPr lang="en-GB" sz="2200" i="1">
                              <a:latin typeface="Cambria Math" panose="02040503050406030204" pitchFamily="18" charset="0"/>
                            </a:rPr>
                            <m:t>𝐸</m:t>
                          </m:r>
                        </m:e>
                        <m:sub>
                          <m:r>
                            <a:rPr lang="en-GB" sz="2200" i="1">
                              <a:latin typeface="Cambria Math" panose="02040503050406030204" pitchFamily="18" charset="0"/>
                            </a:rPr>
                            <m:t>𝑗</m:t>
                          </m:r>
                        </m:sub>
                      </m:sSub>
                      <m:r>
                        <a:rPr lang="en-GB" sz="2200" i="1">
                          <a:latin typeface="Cambria Math" panose="02040503050406030204" pitchFamily="18" charset="0"/>
                        </a:rPr>
                        <m:t>+</m:t>
                      </m:r>
                      <m:f>
                        <m:fPr>
                          <m:ctrlPr>
                            <a:rPr lang="en-GB" sz="2200" i="1">
                              <a:latin typeface="Cambria Math" panose="02040503050406030204" pitchFamily="18" charset="0"/>
                            </a:rPr>
                          </m:ctrlPr>
                        </m:fPr>
                        <m:num>
                          <m:r>
                            <a:rPr lang="en-GB" sz="2200" i="1">
                              <a:latin typeface="Cambria Math" panose="02040503050406030204" pitchFamily="18" charset="0"/>
                            </a:rPr>
                            <m:t>1</m:t>
                          </m:r>
                        </m:num>
                        <m:den>
                          <m:sSub>
                            <m:sSubPr>
                              <m:ctrlPr>
                                <a:rPr lang="en-GB" sz="2200" i="1">
                                  <a:latin typeface="Cambria Math" panose="02040503050406030204" pitchFamily="18" charset="0"/>
                                </a:rPr>
                              </m:ctrlPr>
                            </m:sSubPr>
                            <m:e>
                              <m:r>
                                <a:rPr lang="en-GB" sz="2200" i="1">
                                  <a:latin typeface="Cambria Math" panose="02040503050406030204" pitchFamily="18" charset="0"/>
                                </a:rPr>
                                <m:t>𝜇</m:t>
                              </m:r>
                            </m:e>
                            <m:sub>
                              <m:r>
                                <a:rPr lang="en-GB" sz="2200" i="1">
                                  <a:latin typeface="Cambria Math" panose="02040503050406030204" pitchFamily="18" charset="0"/>
                                </a:rPr>
                                <m:t>0</m:t>
                              </m:r>
                            </m:sub>
                          </m:sSub>
                        </m:den>
                      </m:f>
                      <m:sSub>
                        <m:sSubPr>
                          <m:ctrlPr>
                            <a:rPr lang="en-GB" sz="2200" i="1">
                              <a:latin typeface="Cambria Math" panose="02040503050406030204" pitchFamily="18" charset="0"/>
                            </a:rPr>
                          </m:ctrlPr>
                        </m:sSubPr>
                        <m:e>
                          <m:r>
                            <a:rPr lang="en-GB" sz="2200" i="1">
                              <a:latin typeface="Cambria Math" panose="02040503050406030204" pitchFamily="18" charset="0"/>
                            </a:rPr>
                            <m:t>𝐵</m:t>
                          </m:r>
                        </m:e>
                        <m:sub>
                          <m:r>
                            <a:rPr lang="en-GB" sz="2200" i="1">
                              <a:latin typeface="Cambria Math" panose="02040503050406030204" pitchFamily="18" charset="0"/>
                            </a:rPr>
                            <m:t>𝑖</m:t>
                          </m:r>
                        </m:sub>
                      </m:sSub>
                      <m:sSub>
                        <m:sSubPr>
                          <m:ctrlPr>
                            <a:rPr lang="en-GB" sz="2200" i="1">
                              <a:latin typeface="Cambria Math" panose="02040503050406030204" pitchFamily="18" charset="0"/>
                            </a:rPr>
                          </m:ctrlPr>
                        </m:sSubPr>
                        <m:e>
                          <m:r>
                            <a:rPr lang="en-GB" sz="2200" i="1">
                              <a:latin typeface="Cambria Math" panose="02040503050406030204" pitchFamily="18" charset="0"/>
                            </a:rPr>
                            <m:t>𝐵</m:t>
                          </m:r>
                        </m:e>
                        <m:sub>
                          <m:r>
                            <a:rPr lang="en-GB" sz="2200" i="1">
                              <a:latin typeface="Cambria Math" panose="02040503050406030204" pitchFamily="18" charset="0"/>
                            </a:rPr>
                            <m:t>𝑗</m:t>
                          </m:r>
                        </m:sub>
                      </m:sSub>
                      <m:r>
                        <a:rPr lang="en-GB" sz="2200" i="1">
                          <a:latin typeface="Cambria Math" panose="02040503050406030204" pitchFamily="18" charset="0"/>
                        </a:rPr>
                        <m:t>−</m:t>
                      </m:r>
                      <m:f>
                        <m:fPr>
                          <m:ctrlPr>
                            <a:rPr lang="en-GB" sz="2200" i="1">
                              <a:latin typeface="Cambria Math" panose="02040503050406030204" pitchFamily="18" charset="0"/>
                            </a:rPr>
                          </m:ctrlPr>
                        </m:fPr>
                        <m:num>
                          <m:r>
                            <a:rPr lang="en-GB" sz="2200" i="1">
                              <a:latin typeface="Cambria Math" panose="02040503050406030204" pitchFamily="18" charset="0"/>
                            </a:rPr>
                            <m:t>1</m:t>
                          </m:r>
                        </m:num>
                        <m:den>
                          <m:r>
                            <a:rPr lang="en-GB" sz="2200" i="1">
                              <a:latin typeface="Cambria Math" panose="02040503050406030204" pitchFamily="18" charset="0"/>
                            </a:rPr>
                            <m:t>2</m:t>
                          </m:r>
                        </m:den>
                      </m:f>
                      <m:sSub>
                        <m:sSubPr>
                          <m:ctrlPr>
                            <a:rPr lang="en-GB" sz="2200" i="1">
                              <a:latin typeface="Cambria Math" panose="02040503050406030204" pitchFamily="18" charset="0"/>
                            </a:rPr>
                          </m:ctrlPr>
                        </m:sSubPr>
                        <m:e>
                          <m:r>
                            <a:rPr lang="en-GB" sz="2200" i="1">
                              <a:latin typeface="Cambria Math" panose="02040503050406030204" pitchFamily="18" charset="0"/>
                            </a:rPr>
                            <m:t>𝛿</m:t>
                          </m:r>
                        </m:e>
                        <m:sub>
                          <m:r>
                            <a:rPr lang="en-GB" sz="2200" i="1">
                              <a:latin typeface="Cambria Math" panose="02040503050406030204" pitchFamily="18" charset="0"/>
                            </a:rPr>
                            <m:t>𝑖𝑗</m:t>
                          </m:r>
                        </m:sub>
                      </m:sSub>
                      <m:d>
                        <m:dPr>
                          <m:ctrlPr>
                            <a:rPr lang="en-GB" sz="2200" b="1" i="1">
                              <a:latin typeface="Cambria Math" panose="02040503050406030204" pitchFamily="18" charset="0"/>
                            </a:rPr>
                          </m:ctrlPr>
                        </m:dPr>
                        <m:e>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𝜀</m:t>
                              </m:r>
                            </m:e>
                            <m:sub>
                              <m:r>
                                <a:rPr lang="en-US" sz="2200" b="0" i="1" smtClean="0">
                                  <a:latin typeface="Cambria Math" panose="02040503050406030204" pitchFamily="18" charset="0"/>
                                </a:rPr>
                                <m:t>𝑜</m:t>
                              </m:r>
                            </m:sub>
                          </m:sSub>
                          <m:r>
                            <a:rPr lang="en-US" sz="2200" b="1" i="0" smtClean="0">
                              <a:latin typeface="Cambria Math" panose="02040503050406030204" pitchFamily="18" charset="0"/>
                            </a:rPr>
                            <m:t>𝐄</m:t>
                          </m:r>
                          <m:r>
                            <a:rPr lang="en-US" sz="2200" b="1" i="1" smtClean="0">
                              <a:latin typeface="Cambria Math" panose="02040503050406030204" pitchFamily="18" charset="0"/>
                            </a:rPr>
                            <m:t>⋅</m:t>
                          </m:r>
                          <m:r>
                            <a:rPr lang="en-US" sz="2200" b="1" i="0" smtClean="0">
                              <a:latin typeface="Cambria Math" panose="02040503050406030204" pitchFamily="18" charset="0"/>
                            </a:rPr>
                            <m:t>𝐄</m:t>
                          </m:r>
                          <m:r>
                            <a:rPr lang="en-GB" sz="2200" b="1" i="1">
                              <a:latin typeface="Cambria Math" panose="02040503050406030204" pitchFamily="18" charset="0"/>
                            </a:rPr>
                            <m:t>+</m:t>
                          </m:r>
                          <m:f>
                            <m:fPr>
                              <m:ctrlPr>
                                <a:rPr lang="en-GB" sz="2200" b="1" i="1">
                                  <a:latin typeface="Cambria Math" panose="02040503050406030204" pitchFamily="18" charset="0"/>
                                </a:rPr>
                              </m:ctrlPr>
                            </m:fPr>
                            <m:num>
                              <m:r>
                                <a:rPr lang="en-GB" sz="2200" b="1" i="1">
                                  <a:latin typeface="Cambria Math" panose="02040503050406030204" pitchFamily="18" charset="0"/>
                                </a:rPr>
                                <m:t>𝟏</m:t>
                              </m:r>
                            </m:num>
                            <m:den>
                              <m:sSub>
                                <m:sSubPr>
                                  <m:ctrlPr>
                                    <a:rPr lang="en-GB" sz="2200" i="1">
                                      <a:latin typeface="Cambria Math" panose="02040503050406030204" pitchFamily="18" charset="0"/>
                                    </a:rPr>
                                  </m:ctrlPr>
                                </m:sSubPr>
                                <m:e>
                                  <m:r>
                                    <a:rPr lang="en-GB" sz="2200" b="0" i="1">
                                      <a:latin typeface="Cambria Math" panose="02040503050406030204" pitchFamily="18" charset="0"/>
                                    </a:rPr>
                                    <m:t>𝜇</m:t>
                                  </m:r>
                                </m:e>
                                <m:sub>
                                  <m:r>
                                    <a:rPr lang="en-GB" sz="2200" b="0" i="1">
                                      <a:latin typeface="Cambria Math" panose="02040503050406030204" pitchFamily="18" charset="0"/>
                                    </a:rPr>
                                    <m:t>0</m:t>
                                  </m:r>
                                </m:sub>
                              </m:sSub>
                            </m:den>
                          </m:f>
                          <m:r>
                            <a:rPr lang="en-US" sz="2200" b="1" i="0" smtClean="0">
                              <a:latin typeface="Cambria Math" panose="02040503050406030204" pitchFamily="18" charset="0"/>
                            </a:rPr>
                            <m:t>𝐁</m:t>
                          </m:r>
                          <m:r>
                            <a:rPr lang="en-US" sz="2200" b="1" i="1">
                              <a:latin typeface="Cambria Math" panose="02040503050406030204" pitchFamily="18" charset="0"/>
                            </a:rPr>
                            <m:t>⋅</m:t>
                          </m:r>
                          <m:r>
                            <a:rPr lang="en-US" sz="2200" b="1" i="0" smtClean="0">
                              <a:latin typeface="Cambria Math" panose="02040503050406030204" pitchFamily="18" charset="0"/>
                            </a:rPr>
                            <m:t>𝐁</m:t>
                          </m:r>
                        </m:e>
                      </m:d>
                    </m:oMath>
                  </m:oMathPara>
                </a14:m>
                <a:endParaRPr lang="en-US" sz="2200" b="1" dirty="0"/>
              </a:p>
            </p:txBody>
          </p:sp>
        </mc:Choice>
        <mc:Fallback xmlns="">
          <p:sp>
            <p:nvSpPr>
              <p:cNvPr id="5" name="TextBox 4">
                <a:extLst>
                  <a:ext uri="{FF2B5EF4-FFF2-40B4-BE49-F238E27FC236}">
                    <a16:creationId xmlns:a16="http://schemas.microsoft.com/office/drawing/2014/main" id="{BF81A851-CFC1-A7A7-3E87-797053070148}"/>
                  </a:ext>
                </a:extLst>
              </p:cNvPr>
              <p:cNvSpPr txBox="1">
                <a:spLocks noRot="1" noChangeAspect="1" noMove="1" noResize="1" noEditPoints="1" noAdjustHandles="1" noChangeArrowheads="1" noChangeShapeType="1" noTextEdit="1"/>
              </p:cNvSpPr>
              <p:nvPr/>
            </p:nvSpPr>
            <p:spPr>
              <a:xfrm>
                <a:off x="5750822" y="2144442"/>
                <a:ext cx="6238952" cy="785343"/>
              </a:xfrm>
              <a:prstGeom prst="rect">
                <a:avLst/>
              </a:prstGeom>
              <a:blipFill>
                <a:blip r:embed="rId4"/>
                <a:stretch>
                  <a:fillRect b="-63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DCA7373-7DBA-CA38-B5B0-7B470CD2070B}"/>
                  </a:ext>
                </a:extLst>
              </p:cNvPr>
              <p:cNvSpPr txBox="1"/>
              <p:nvPr/>
            </p:nvSpPr>
            <p:spPr>
              <a:xfrm>
                <a:off x="6242783" y="3718802"/>
                <a:ext cx="2261324" cy="7362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200" b="1" i="0" smtClean="0">
                          <a:latin typeface="Cambria Math" panose="02040503050406030204" pitchFamily="18" charset="0"/>
                        </a:rPr>
                        <m:t>𝛁</m:t>
                      </m:r>
                      <m:r>
                        <a:rPr lang="en-GB" sz="2200" b="1">
                          <a:latin typeface="Cambria Math" panose="02040503050406030204" pitchFamily="18" charset="0"/>
                        </a:rPr>
                        <m:t>∙</m:t>
                      </m:r>
                      <m:acc>
                        <m:accPr>
                          <m:chr m:val="⃡"/>
                          <m:ctrlPr>
                            <a:rPr lang="en-GB" sz="2200" b="1" i="1">
                              <a:latin typeface="Cambria Math" panose="02040503050406030204" pitchFamily="18" charset="0"/>
                            </a:rPr>
                          </m:ctrlPr>
                        </m:accPr>
                        <m:e>
                          <m:r>
                            <a:rPr lang="en-US" sz="2200" b="1" i="0" smtClean="0">
                              <a:latin typeface="Cambria Math" panose="02040503050406030204" pitchFamily="18" charset="0"/>
                            </a:rPr>
                            <m:t>𝐓</m:t>
                          </m:r>
                        </m:e>
                      </m:acc>
                      <m:r>
                        <a:rPr lang="en-GB" sz="2200" b="1" i="1">
                          <a:latin typeface="Cambria Math" panose="02040503050406030204" pitchFamily="18" charset="0"/>
                        </a:rPr>
                        <m:t>=</m:t>
                      </m:r>
                      <m:r>
                        <a:rPr lang="en-GB" sz="2200" b="1" i="1">
                          <a:latin typeface="Cambria Math" panose="02040503050406030204" pitchFamily="18" charset="0"/>
                        </a:rPr>
                        <m:t>𝐟</m:t>
                      </m:r>
                      <m:r>
                        <a:rPr lang="en-GB" sz="2200" b="1">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1</m:t>
                          </m:r>
                        </m:num>
                        <m:den>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𝑐</m:t>
                              </m:r>
                            </m:e>
                            <m:sup>
                              <m:r>
                                <a:rPr lang="en-US" sz="2200" b="0" i="1" smtClean="0">
                                  <a:latin typeface="Cambria Math" panose="02040503050406030204" pitchFamily="18" charset="0"/>
                                </a:rPr>
                                <m:t>2</m:t>
                              </m:r>
                            </m:sup>
                          </m:sSup>
                        </m:den>
                      </m:f>
                      <m:f>
                        <m:fPr>
                          <m:ctrlPr>
                            <a:rPr lang="en-GB" sz="2200" i="1">
                              <a:latin typeface="Cambria Math" panose="02040503050406030204" pitchFamily="18" charset="0"/>
                            </a:rPr>
                          </m:ctrlPr>
                        </m:fPr>
                        <m:num>
                          <m:r>
                            <a:rPr lang="en-GB" sz="2200" i="1">
                              <a:latin typeface="Cambria Math" panose="02040503050406030204" pitchFamily="18" charset="0"/>
                            </a:rPr>
                            <m:t>𝜕</m:t>
                          </m:r>
                          <m:r>
                            <a:rPr lang="en-US" sz="2200" b="1" i="0" smtClean="0">
                              <a:latin typeface="Cambria Math" panose="02040503050406030204" pitchFamily="18" charset="0"/>
                            </a:rPr>
                            <m:t>𝐒</m:t>
                          </m:r>
                        </m:num>
                        <m:den>
                          <m:r>
                            <a:rPr lang="en-GB" sz="2200" i="1">
                              <a:latin typeface="Cambria Math" panose="02040503050406030204" pitchFamily="18" charset="0"/>
                            </a:rPr>
                            <m:t>𝜕</m:t>
                          </m:r>
                          <m:r>
                            <a:rPr lang="en-GB" sz="2200" i="1">
                              <a:latin typeface="Cambria Math" panose="02040503050406030204" pitchFamily="18" charset="0"/>
                            </a:rPr>
                            <m:t>𝑡</m:t>
                          </m:r>
                        </m:den>
                      </m:f>
                    </m:oMath>
                  </m:oMathPara>
                </a14:m>
                <a:endParaRPr lang="en-US" sz="2200" dirty="0"/>
              </a:p>
            </p:txBody>
          </p:sp>
        </mc:Choice>
        <mc:Fallback xmlns="">
          <p:sp>
            <p:nvSpPr>
              <p:cNvPr id="7" name="TextBox 6">
                <a:extLst>
                  <a:ext uri="{FF2B5EF4-FFF2-40B4-BE49-F238E27FC236}">
                    <a16:creationId xmlns:a16="http://schemas.microsoft.com/office/drawing/2014/main" id="{4DCA7373-7DBA-CA38-B5B0-7B470CD2070B}"/>
                  </a:ext>
                </a:extLst>
              </p:cNvPr>
              <p:cNvSpPr txBox="1">
                <a:spLocks noRot="1" noChangeAspect="1" noMove="1" noResize="1" noEditPoints="1" noAdjustHandles="1" noChangeArrowheads="1" noChangeShapeType="1" noTextEdit="1"/>
              </p:cNvSpPr>
              <p:nvPr/>
            </p:nvSpPr>
            <p:spPr>
              <a:xfrm>
                <a:off x="6242783" y="3718802"/>
                <a:ext cx="2261324" cy="736227"/>
              </a:xfrm>
              <a:prstGeom prst="rect">
                <a:avLst/>
              </a:prstGeom>
              <a:blipFill>
                <a:blip r:embed="rId5"/>
                <a:stretch>
                  <a:fillRect b="-5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343EBC8-7F6B-AF84-C6A7-A86565F07F54}"/>
                  </a:ext>
                </a:extLst>
              </p:cNvPr>
              <p:cNvSpPr txBox="1"/>
              <p:nvPr/>
            </p:nvSpPr>
            <p:spPr>
              <a:xfrm>
                <a:off x="9630109" y="3718802"/>
                <a:ext cx="1374351" cy="7284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200" b="1" i="1" smtClean="0">
                              <a:latin typeface="Cambria Math" panose="02040503050406030204" pitchFamily="18" charset="0"/>
                            </a:rPr>
                          </m:ctrlPr>
                        </m:sSubPr>
                        <m:e>
                          <m:r>
                            <a:rPr lang="en-US" sz="2200" b="1" i="0" smtClean="0">
                              <a:latin typeface="Cambria Math" panose="02040503050406030204" pitchFamily="18" charset="0"/>
                            </a:rPr>
                            <m:t>𝐠</m:t>
                          </m:r>
                        </m:e>
                        <m:sub>
                          <m:r>
                            <a:rPr lang="en-US" sz="2200" b="1" i="0" smtClean="0">
                              <a:latin typeface="Cambria Math" panose="02040503050406030204" pitchFamily="18" charset="0"/>
                            </a:rPr>
                            <m:t>𝐯𝐚𝐜</m:t>
                          </m:r>
                        </m:sub>
                      </m:sSub>
                      <m:r>
                        <a:rPr lang="en-US" sz="2200" b="1" i="0" smtClean="0">
                          <a:latin typeface="Cambria Math" panose="02040503050406030204" pitchFamily="18" charset="0"/>
                        </a:rPr>
                        <m:t>=</m:t>
                      </m:r>
                      <m:f>
                        <m:fPr>
                          <m:ctrlPr>
                            <a:rPr lang="en-US" sz="2200" b="1" i="1" smtClean="0">
                              <a:latin typeface="Cambria Math" panose="02040503050406030204" pitchFamily="18" charset="0"/>
                            </a:rPr>
                          </m:ctrlPr>
                        </m:fPr>
                        <m:num>
                          <m:r>
                            <a:rPr lang="en-US" sz="2200" b="1" i="0" smtClean="0">
                              <a:latin typeface="Cambria Math" panose="02040503050406030204" pitchFamily="18" charset="0"/>
                            </a:rPr>
                            <m:t>𝐒</m:t>
                          </m:r>
                        </m:num>
                        <m:den>
                          <m:sSup>
                            <m:sSupPr>
                              <m:ctrlPr>
                                <a:rPr lang="en-US" sz="2200" b="0" i="1" smtClean="0">
                                  <a:latin typeface="Cambria Math" panose="02040503050406030204" pitchFamily="18" charset="0"/>
                                </a:rPr>
                              </m:ctrlPr>
                            </m:sSupPr>
                            <m:e>
                              <m:r>
                                <m:rPr>
                                  <m:sty m:val="p"/>
                                </m:rPr>
                                <a:rPr lang="en-US" sz="2200" b="0" i="0" smtClean="0">
                                  <a:latin typeface="Cambria Math" panose="02040503050406030204" pitchFamily="18" charset="0"/>
                                </a:rPr>
                                <m:t>c</m:t>
                              </m:r>
                            </m:e>
                            <m:sup>
                              <m:r>
                                <a:rPr lang="en-US" sz="2200" b="0" i="0" smtClean="0">
                                  <a:latin typeface="Cambria Math" panose="02040503050406030204" pitchFamily="18" charset="0"/>
                                </a:rPr>
                                <m:t>2</m:t>
                              </m:r>
                            </m:sup>
                          </m:sSup>
                        </m:den>
                      </m:f>
                    </m:oMath>
                  </m:oMathPara>
                </a14:m>
                <a:endParaRPr lang="en-US" sz="2200" dirty="0"/>
              </a:p>
            </p:txBody>
          </p:sp>
        </mc:Choice>
        <mc:Fallback xmlns="">
          <p:sp>
            <p:nvSpPr>
              <p:cNvPr id="8" name="TextBox 7">
                <a:extLst>
                  <a:ext uri="{FF2B5EF4-FFF2-40B4-BE49-F238E27FC236}">
                    <a16:creationId xmlns:a16="http://schemas.microsoft.com/office/drawing/2014/main" id="{7343EBC8-7F6B-AF84-C6A7-A86565F07F54}"/>
                  </a:ext>
                </a:extLst>
              </p:cNvPr>
              <p:cNvSpPr txBox="1">
                <a:spLocks noRot="1" noChangeAspect="1" noMove="1" noResize="1" noEditPoints="1" noAdjustHandles="1" noChangeArrowheads="1" noChangeShapeType="1" noTextEdit="1"/>
              </p:cNvSpPr>
              <p:nvPr/>
            </p:nvSpPr>
            <p:spPr>
              <a:xfrm>
                <a:off x="9630109" y="3718802"/>
                <a:ext cx="1374351" cy="728405"/>
              </a:xfrm>
              <a:prstGeom prst="rect">
                <a:avLst/>
              </a:prstGeom>
              <a:blipFill>
                <a:blip r:embed="rId6"/>
                <a:stretch>
                  <a:fillRect b="-1695"/>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AD0CDAED-5EB9-8F23-5572-0C6EA41063CF}"/>
              </a:ext>
            </a:extLst>
          </p:cNvPr>
          <p:cNvGrpSpPr/>
          <p:nvPr/>
        </p:nvGrpSpPr>
        <p:grpSpPr>
          <a:xfrm>
            <a:off x="-1" y="5806572"/>
            <a:ext cx="1102141" cy="1052444"/>
            <a:chOff x="-1" y="5806572"/>
            <a:chExt cx="1102141" cy="1052444"/>
          </a:xfrm>
        </p:grpSpPr>
        <p:pic>
          <p:nvPicPr>
            <p:cNvPr id="10" name="Picture 9">
              <a:extLst>
                <a:ext uri="{FF2B5EF4-FFF2-40B4-BE49-F238E27FC236}">
                  <a16:creationId xmlns:a16="http://schemas.microsoft.com/office/drawing/2014/main" id="{CE780B68-7A4B-CB6D-6AF5-F69F589AABCA}"/>
                </a:ext>
              </a:extLst>
            </p:cNvPr>
            <p:cNvPicPr>
              <a:picLocks noChangeAspect="1"/>
            </p:cNvPicPr>
            <p:nvPr/>
          </p:nvPicPr>
          <p:blipFill rotWithShape="1">
            <a:blip r:embed="rId7"/>
            <a:srcRect l="49545" b="51820"/>
            <a:stretch/>
          </p:blipFill>
          <p:spPr>
            <a:xfrm>
              <a:off x="-1" y="5806572"/>
              <a:ext cx="1102141" cy="1052444"/>
            </a:xfrm>
            <a:prstGeom prst="rect">
              <a:avLst/>
            </a:prstGeom>
          </p:spPr>
        </p:pic>
        <p:sp>
          <p:nvSpPr>
            <p:cNvPr id="11" name="Title 1">
              <a:extLst>
                <a:ext uri="{FF2B5EF4-FFF2-40B4-BE49-F238E27FC236}">
                  <a16:creationId xmlns:a16="http://schemas.microsoft.com/office/drawing/2014/main" id="{512AD074-0F01-B5CA-6CCB-34713660C676}"/>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16</a:t>
              </a:r>
            </a:p>
          </p:txBody>
        </p:sp>
      </p:grpSp>
    </p:spTree>
    <p:extLst>
      <p:ext uri="{BB962C8B-B14F-4D97-AF65-F5344CB8AC3E}">
        <p14:creationId xmlns:p14="http://schemas.microsoft.com/office/powerpoint/2010/main" val="926030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The Maxwell Stress </a:t>
            </a:r>
            <a:r>
              <a:rPr lang="en-US" sz="4400" dirty="0">
                <a:latin typeface="DIN Alternate" panose="020B0500000000000000" pitchFamily="34" charset="77"/>
                <a:ea typeface="+mn-ea"/>
                <a:cs typeface="+mn-cs"/>
              </a:rPr>
              <a:t>T</a:t>
            </a:r>
            <a:r>
              <a:rPr kumimoji="0" lang="en-US" sz="4400" b="0" i="0" u="none" strike="noStrike" kern="1200" cap="none" spc="0" normalizeH="0" baseline="0" noProof="0" dirty="0" err="1">
                <a:ln>
                  <a:noFill/>
                </a:ln>
                <a:effectLst/>
                <a:uLnTx/>
                <a:uFillTx/>
                <a:latin typeface="DIN Alternate" panose="020B0500000000000000" pitchFamily="34" charset="77"/>
                <a:ea typeface="+mn-ea"/>
                <a:cs typeface="+mn-cs"/>
              </a:rPr>
              <a:t>ensor</a:t>
            </a:r>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 (MST)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200" y="1633507"/>
                <a:ext cx="4764462" cy="1645737"/>
              </a:xfrm>
            </p:spPr>
            <p:txBody>
              <a:bodyPr anchor="ctr">
                <a:normAutofit/>
              </a:bodyPr>
              <a:lstStyle/>
              <a:p>
                <a:pPr>
                  <a:spcBef>
                    <a:spcPts val="2200"/>
                  </a:spcBef>
                  <a:spcAft>
                    <a:spcPts val="2200"/>
                  </a:spcAft>
                </a:pPr>
                <a:r>
                  <a:rPr lang="en-US" sz="2000" dirty="0">
                    <a:latin typeface="Microsoft Sans Serif" panose="020B0604020202020204" pitchFamily="34" charset="0"/>
                    <a:cs typeface="Microsoft Sans Serif" panose="020B0604020202020204" pitchFamily="34" charset="0"/>
                  </a:rPr>
                  <a:t>S</a:t>
                </a:r>
                <a:r>
                  <a:rPr kumimoji="0" lang="en-US" sz="2000" b="0" i="0" u="none" strike="noStrike" kern="1200" cap="none" spc="0" normalizeH="0" baseline="0" noProof="0" dirty="0" err="1">
                    <a:ln>
                      <a:noFill/>
                    </a:ln>
                    <a:effectLst/>
                    <a:uLnTx/>
                    <a:uFillTx/>
                    <a:latin typeface="Microsoft Sans Serif" panose="020B0604020202020204" pitchFamily="34" charset="0"/>
                    <a:cs typeface="Microsoft Sans Serif" panose="020B0604020202020204" pitchFamily="34" charset="0"/>
                  </a:rPr>
                  <a:t>urface</a:t>
                </a:r>
                <a:r>
                  <a:rPr kumimoji="0" lang="en-US" sz="2000" b="0" i="0" u="none" strike="noStrike" kern="1200" cap="none" spc="0" normalizeH="0" baseline="0" noProof="0" dirty="0">
                    <a:ln>
                      <a:noFill/>
                    </a:ln>
                    <a:effectLst/>
                    <a:uLnTx/>
                    <a:uFillTx/>
                    <a:latin typeface="Microsoft Sans Serif" panose="020B0604020202020204" pitchFamily="34" charset="0"/>
                    <a:cs typeface="Microsoft Sans Serif" panose="020B0604020202020204" pitchFamily="34" charset="0"/>
                  </a:rPr>
                  <a:t> integrals over the MSTs </a:t>
                </a:r>
                <a:r>
                  <a:rPr kumimoji="0" lang="en-US" sz="2000" b="0" i="0" u="none" strike="noStrike" kern="1200" cap="none" spc="0" normalizeH="0" baseline="0" noProof="0" dirty="0" err="1">
                    <a:ln>
                      <a:noFill/>
                    </a:ln>
                    <a:effectLst/>
                    <a:uLnTx/>
                    <a:uFillTx/>
                    <a:latin typeface="Microsoft Sans Serif" panose="020B0604020202020204" pitchFamily="34" charset="0"/>
                    <a:cs typeface="Microsoft Sans Serif" panose="020B0604020202020204" pitchFamily="34" charset="0"/>
                  </a:rPr>
                  <a:t>centred</a:t>
                </a:r>
                <a:r>
                  <a:rPr kumimoji="0" lang="en-US" sz="2000" b="0" i="0" u="none" strike="noStrike" kern="1200" cap="none" spc="0" normalizeH="0" baseline="0" noProof="0" dirty="0">
                    <a:ln>
                      <a:noFill/>
                    </a:ln>
                    <a:effectLst/>
                    <a:uLnTx/>
                    <a:uFillTx/>
                    <a:latin typeface="Microsoft Sans Serif" panose="020B0604020202020204" pitchFamily="34" charset="0"/>
                    <a:cs typeface="Microsoft Sans Serif" panose="020B0604020202020204" pitchFamily="34" charset="0"/>
                  </a:rPr>
                  <a:t> at each period </a:t>
                </a:r>
                <a14:m>
                  <m:oMath xmlns:m="http://schemas.openxmlformats.org/officeDocument/2006/math">
                    <m:r>
                      <a:rPr kumimoji="0" lang="en-US" sz="2000" b="0" i="1" u="none" strike="noStrike" kern="1200" cap="none" spc="0" normalizeH="0" baseline="0" noProof="0" smtClean="0">
                        <a:ln>
                          <a:noFill/>
                        </a:ln>
                        <a:effectLst/>
                        <a:uLnTx/>
                        <a:uFillTx/>
                        <a:latin typeface="Cambria Math" panose="02040503050406030204" pitchFamily="18" charset="0"/>
                      </a:rPr>
                      <m:t>→</m:t>
                    </m:r>
                  </m:oMath>
                </a14:m>
                <a:r>
                  <a:rPr kumimoji="0" lang="en-US" sz="2000" b="0" i="0" u="none" strike="noStrike" kern="1200" cap="none" spc="0" normalizeH="0" baseline="0" noProof="0" dirty="0">
                    <a:ln>
                      <a:noFill/>
                    </a:ln>
                    <a:effectLst/>
                    <a:uLnTx/>
                    <a:uFillTx/>
                    <a:latin typeface="Microsoft Sans Serif" panose="020B0604020202020204" pitchFamily="34" charset="0"/>
                    <a:cs typeface="Microsoft Sans Serif" panose="020B0604020202020204" pitchFamily="34" charset="0"/>
                  </a:rPr>
                  <a:t> </a:t>
                </a:r>
                <a:r>
                  <a:rPr lang="en-US" sz="2000" dirty="0">
                    <a:latin typeface="Microsoft Sans Serif" panose="020B0604020202020204" pitchFamily="34" charset="0"/>
                    <a:cs typeface="Microsoft Sans Serif" panose="020B0604020202020204" pitchFamily="34" charset="0"/>
                  </a:rPr>
                  <a:t>momentum flux into the medium layers</a:t>
                </a:r>
                <a:endParaRPr kumimoji="0" lang="en-US" sz="2000" b="0" i="0" u="none" strike="noStrike" kern="1200" cap="none" spc="0" normalizeH="0" baseline="0" noProof="0" dirty="0">
                  <a:ln>
                    <a:noFill/>
                  </a:ln>
                  <a:effectLst/>
                  <a:uLnTx/>
                  <a:uFillTx/>
                  <a:latin typeface="Microsoft Sans Serif" panose="020B0604020202020204" pitchFamily="34" charset="0"/>
                  <a:cs typeface="Microsoft Sans Serif" panose="020B0604020202020204" pitchFamily="34" charset="0"/>
                </a:endParaRP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200" y="1633507"/>
                <a:ext cx="4764462" cy="1645737"/>
              </a:xfrm>
              <a:blipFill>
                <a:blip r:embed="rId3"/>
                <a:stretch>
                  <a:fillRect l="-13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9C2053F-55F4-1030-2890-5EEFE99E46C6}"/>
                  </a:ext>
                </a:extLst>
              </p:cNvPr>
              <p:cNvSpPr txBox="1"/>
              <p:nvPr/>
            </p:nvSpPr>
            <p:spPr>
              <a:xfrm>
                <a:off x="6758632" y="5033655"/>
                <a:ext cx="4595168" cy="88364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nary>
                        <m:naryPr>
                          <m:chr m:val="∯"/>
                          <m:limLoc m:val="subSup"/>
                          <m:ctrlPr>
                            <a:rPr lang="en-GB" sz="22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𝑆</m:t>
                          </m:r>
                        </m:sub>
                        <m:sup/>
                        <m:e>
                          <m:sSub>
                            <m:sSub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GB" sz="2200" b="1" i="1" kern="100">
                                      <a:effectLst/>
                                      <a:latin typeface="Cambria Math" panose="02040503050406030204" pitchFamily="18" charset="0"/>
                                      <a:ea typeface="Times New Roman" panose="02020603050405020304" pitchFamily="18" charset="0"/>
                                      <a:cs typeface="Times New Roman" panose="02020603050405020304" pitchFamily="18" charset="0"/>
                                    </a:rPr>
                                    <m:t>𝐓</m:t>
                                  </m:r>
                                </m:e>
                              </m:acc>
                            </m:e>
                            <m:sub>
                              <m:r>
                                <a:rPr lang="en-GB" sz="2200" i="1" kern="100" smtClean="0">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22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𝑑</m:t>
                          </m:r>
                          <m:r>
                            <a:rPr lang="en-US" sz="2200" b="1" i="0" kern="100" smtClean="0">
                              <a:effectLst/>
                              <a:latin typeface="Cambria Math" panose="02040503050406030204" pitchFamily="18" charset="0"/>
                              <a:ea typeface="Times New Roman" panose="02020603050405020304" pitchFamily="18" charset="0"/>
                              <a:cs typeface="Times New Roman" panose="02020603050405020304" pitchFamily="18" charset="0"/>
                            </a:rPr>
                            <m:t>𝐒</m:t>
                          </m:r>
                        </m:e>
                      </m:nary>
                      <m: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2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sSub>
                            <m:sSub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GB" sz="2200" b="1" i="1" kern="100">
                                      <a:effectLst/>
                                      <a:latin typeface="Cambria Math" panose="02040503050406030204" pitchFamily="18" charset="0"/>
                                      <a:ea typeface="Times New Roman" panose="02020603050405020304" pitchFamily="18" charset="0"/>
                                      <a:cs typeface="Times New Roman" panose="02020603050405020304" pitchFamily="18" charset="0"/>
                                    </a:rPr>
                                    <m:t>𝐓</m:t>
                                  </m:r>
                                </m:e>
                              </m:acc>
                            </m:e>
                            <m:sub>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22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𝑝</m:t>
                              </m:r>
                            </m:sub>
                          </m:sSub>
                        </m:e>
                        <m:sub>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GB" sz="2200" b="1"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GB" sz="2200" b="1" i="0" kern="100">
                                  <a:effectLst/>
                                  <a:latin typeface="Cambria Math" panose="02040503050406030204" pitchFamily="18" charset="0"/>
                                  <a:ea typeface="Times New Roman" panose="02020603050405020304" pitchFamily="18" charset="0"/>
                                  <a:cs typeface="Times New Roman" panose="02020603050405020304" pitchFamily="18" charset="0"/>
                                </a:rPr>
                                <m:t>𝐳</m:t>
                              </m:r>
                            </m:e>
                          </m:acc>
                        </m:e>
                      </m:d>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sSub>
                            <m:sSub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GB" sz="2200" b="1" i="1" kern="100">
                                      <a:effectLst/>
                                      <a:latin typeface="Cambria Math" panose="02040503050406030204" pitchFamily="18" charset="0"/>
                                      <a:ea typeface="Times New Roman" panose="02020603050405020304" pitchFamily="18" charset="0"/>
                                      <a:cs typeface="Times New Roman" panose="02020603050405020304" pitchFamily="18" charset="0"/>
                                    </a:rPr>
                                    <m:t>𝐓</m:t>
                                  </m:r>
                                </m:e>
                              </m:acc>
                            </m:e>
                            <m:sub>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22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𝑝</m:t>
                              </m:r>
                            </m:sub>
                          </m:sSub>
                        </m:e>
                        <m:sub>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𝑅</m:t>
                          </m:r>
                        </m:sub>
                      </m:sSub>
                      <m: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GB" sz="2200" b="1"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GB" sz="2200" b="1" i="0" kern="100">
                              <a:effectLst/>
                              <a:latin typeface="Cambria Math" panose="02040503050406030204" pitchFamily="18" charset="0"/>
                              <a:ea typeface="Times New Roman" panose="02020603050405020304" pitchFamily="18" charset="0"/>
                              <a:cs typeface="Times New Roman" panose="02020603050405020304" pitchFamily="18" charset="0"/>
                            </a:rPr>
                            <m:t>𝐳</m:t>
                          </m:r>
                        </m:e>
                      </m:acc>
                    </m:oMath>
                  </m:oMathPara>
                </a14:m>
                <a:endParaRPr lang="en-GB" sz="2200" b="1"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99C2053F-55F4-1030-2890-5EEFE99E46C6}"/>
                  </a:ext>
                </a:extLst>
              </p:cNvPr>
              <p:cNvSpPr txBox="1">
                <a:spLocks noRot="1" noChangeAspect="1" noMove="1" noResize="1" noEditPoints="1" noAdjustHandles="1" noChangeArrowheads="1" noChangeShapeType="1" noTextEdit="1"/>
              </p:cNvSpPr>
              <p:nvPr/>
            </p:nvSpPr>
            <p:spPr>
              <a:xfrm>
                <a:off x="6758632" y="5033655"/>
                <a:ext cx="4595168" cy="883640"/>
              </a:xfrm>
              <a:prstGeom prst="rect">
                <a:avLst/>
              </a:prstGeom>
              <a:blipFill>
                <a:blip r:embed="rId4"/>
                <a:stretch>
                  <a:fillRect l="-23416" t="-145070" b="-221127"/>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515A2B61-9B24-8E48-E261-A851CEA256D2}"/>
              </a:ext>
            </a:extLst>
          </p:cNvPr>
          <p:cNvGrpSpPr/>
          <p:nvPr/>
        </p:nvGrpSpPr>
        <p:grpSpPr>
          <a:xfrm>
            <a:off x="1025090" y="3298540"/>
            <a:ext cx="4595168" cy="2954452"/>
            <a:chOff x="1025090" y="3793840"/>
            <a:chExt cx="4595168" cy="2954452"/>
          </a:xfrm>
        </p:grpSpPr>
        <p:sp>
          <p:nvSpPr>
            <p:cNvPr id="9" name="TextBox 8">
              <a:extLst>
                <a:ext uri="{FF2B5EF4-FFF2-40B4-BE49-F238E27FC236}">
                  <a16:creationId xmlns:a16="http://schemas.microsoft.com/office/drawing/2014/main" id="{9C19F079-29B7-8CC7-89CE-6A78221CF657}"/>
                </a:ext>
              </a:extLst>
            </p:cNvPr>
            <p:cNvSpPr txBox="1"/>
            <p:nvPr/>
          </p:nvSpPr>
          <p:spPr>
            <a:xfrm>
              <a:off x="1025090" y="5917295"/>
              <a:ext cx="4595168" cy="830997"/>
            </a:xfrm>
            <a:prstGeom prst="rect">
              <a:avLst/>
            </a:prstGeom>
            <a:noFill/>
          </p:spPr>
          <p:txBody>
            <a:bodyPr wrap="square">
              <a:spAutoFit/>
            </a:bodyPr>
            <a:lstStyle/>
            <a:p>
              <a:pPr>
                <a:spcAft>
                  <a:spcPts val="600"/>
                </a:spcAft>
              </a:pPr>
              <a:r>
                <a:rPr lang="en-GB" sz="1600" dirty="0">
                  <a:solidFill>
                    <a:srgbClr val="EEEEEE"/>
                  </a:solidFill>
                  <a:latin typeface="Quicksand"/>
                </a:rPr>
                <a:t>Fig. 5: A diagram illustrating the microscopic composition of the simulated photonic crystals in an example optical system. </a:t>
              </a:r>
              <a:endParaRPr lang="en-GB" sz="1600" b="0" i="0" dirty="0">
                <a:solidFill>
                  <a:srgbClr val="EEEEEE"/>
                </a:solidFill>
                <a:effectLst/>
                <a:latin typeface="Quicksand"/>
              </a:endParaRPr>
            </a:p>
          </p:txBody>
        </p:sp>
        <p:pic>
          <p:nvPicPr>
            <p:cNvPr id="10" name="Picture 9" descr="A diagram of a system&#10;&#10;Description automatically generated">
              <a:extLst>
                <a:ext uri="{FF2B5EF4-FFF2-40B4-BE49-F238E27FC236}">
                  <a16:creationId xmlns:a16="http://schemas.microsoft.com/office/drawing/2014/main" id="{C421F76F-04E6-CCAA-03B3-F0025DAD1F38}"/>
                </a:ext>
              </a:extLst>
            </p:cNvPr>
            <p:cNvPicPr>
              <a:picLocks noChangeAspect="1"/>
            </p:cNvPicPr>
            <p:nvPr/>
          </p:nvPicPr>
          <p:blipFill>
            <a:blip r:embed="rId5"/>
            <a:stretch>
              <a:fillRect/>
            </a:stretch>
          </p:blipFill>
          <p:spPr>
            <a:xfrm>
              <a:off x="1102140" y="3793840"/>
              <a:ext cx="4492281" cy="2100372"/>
            </a:xfrm>
            <a:prstGeom prst="rect">
              <a:avLst/>
            </a:prstGeom>
            <a:ln w="38100">
              <a:solidFill>
                <a:schemeClr val="tx1">
                  <a:lumMod val="65000"/>
                </a:schemeClr>
              </a:solidFill>
              <a:miter lim="800000"/>
            </a:ln>
          </p:spPr>
        </p:pic>
      </p:grpSp>
      <p:grpSp>
        <p:nvGrpSpPr>
          <p:cNvPr id="11" name="Group 10">
            <a:extLst>
              <a:ext uri="{FF2B5EF4-FFF2-40B4-BE49-F238E27FC236}">
                <a16:creationId xmlns:a16="http://schemas.microsoft.com/office/drawing/2014/main" id="{316540E9-3FF9-CD85-29E0-9CCAD58E7D2B}"/>
              </a:ext>
            </a:extLst>
          </p:cNvPr>
          <p:cNvGrpSpPr/>
          <p:nvPr/>
        </p:nvGrpSpPr>
        <p:grpSpPr>
          <a:xfrm>
            <a:off x="-1" y="5806572"/>
            <a:ext cx="1102141" cy="1052444"/>
            <a:chOff x="-1" y="5806572"/>
            <a:chExt cx="1102141" cy="1052444"/>
          </a:xfrm>
        </p:grpSpPr>
        <p:pic>
          <p:nvPicPr>
            <p:cNvPr id="12" name="Picture 11">
              <a:extLst>
                <a:ext uri="{FF2B5EF4-FFF2-40B4-BE49-F238E27FC236}">
                  <a16:creationId xmlns:a16="http://schemas.microsoft.com/office/drawing/2014/main" id="{FAFFC4FC-553F-D1D5-52D2-D4D44994CDA8}"/>
                </a:ext>
              </a:extLst>
            </p:cNvPr>
            <p:cNvPicPr>
              <a:picLocks noChangeAspect="1"/>
            </p:cNvPicPr>
            <p:nvPr/>
          </p:nvPicPr>
          <p:blipFill rotWithShape="1">
            <a:blip r:embed="rId6"/>
            <a:srcRect l="49545" b="51820"/>
            <a:stretch/>
          </p:blipFill>
          <p:spPr>
            <a:xfrm>
              <a:off x="-1" y="5806572"/>
              <a:ext cx="1102141" cy="1052444"/>
            </a:xfrm>
            <a:prstGeom prst="rect">
              <a:avLst/>
            </a:prstGeom>
          </p:spPr>
        </p:pic>
        <p:sp>
          <p:nvSpPr>
            <p:cNvPr id="13" name="Title 1">
              <a:extLst>
                <a:ext uri="{FF2B5EF4-FFF2-40B4-BE49-F238E27FC236}">
                  <a16:creationId xmlns:a16="http://schemas.microsoft.com/office/drawing/2014/main" id="{61099F3A-D561-AB25-E11D-5AA503478826}"/>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17</a:t>
              </a:r>
            </a:p>
          </p:txBody>
        </p: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C8EDCB3-E680-F0A4-A8B7-4C3B2C218D1A}"/>
                  </a:ext>
                </a:extLst>
              </p:cNvPr>
              <p:cNvSpPr txBox="1"/>
              <p:nvPr/>
            </p:nvSpPr>
            <p:spPr>
              <a:xfrm>
                <a:off x="8084740" y="1502569"/>
                <a:ext cx="2261325" cy="7362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200" b="1" i="0" smtClean="0">
                          <a:latin typeface="Cambria Math" panose="02040503050406030204" pitchFamily="18" charset="0"/>
                        </a:rPr>
                        <m:t>𝛁</m:t>
                      </m:r>
                      <m:r>
                        <a:rPr lang="en-GB" sz="2200" b="1">
                          <a:latin typeface="Cambria Math" panose="02040503050406030204" pitchFamily="18" charset="0"/>
                        </a:rPr>
                        <m:t>∙</m:t>
                      </m:r>
                      <m:acc>
                        <m:accPr>
                          <m:chr m:val="⃡"/>
                          <m:ctrlPr>
                            <a:rPr lang="en-GB" sz="2200" b="1" i="1">
                              <a:latin typeface="Cambria Math" panose="02040503050406030204" pitchFamily="18" charset="0"/>
                            </a:rPr>
                          </m:ctrlPr>
                        </m:accPr>
                        <m:e>
                          <m:r>
                            <a:rPr lang="en-US" sz="2200" b="1" i="0" smtClean="0">
                              <a:latin typeface="Cambria Math" panose="02040503050406030204" pitchFamily="18" charset="0"/>
                            </a:rPr>
                            <m:t>𝐓</m:t>
                          </m:r>
                        </m:e>
                      </m:acc>
                      <m:r>
                        <a:rPr lang="en-GB" sz="2200" b="1" i="1">
                          <a:latin typeface="Cambria Math" panose="02040503050406030204" pitchFamily="18" charset="0"/>
                        </a:rPr>
                        <m:t>=</m:t>
                      </m:r>
                      <m:r>
                        <a:rPr lang="en-US" sz="2200" b="1" kern="100">
                          <a:latin typeface="Cambria Math" panose="02040503050406030204" pitchFamily="18" charset="0"/>
                          <a:cs typeface="Times New Roman" panose="02020603050405020304" pitchFamily="18" charset="0"/>
                        </a:rPr>
                        <m:t>𝐟</m:t>
                      </m:r>
                      <m:r>
                        <a:rPr lang="en-US" sz="2200" b="1" kern="100">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Microsoft Sans Serif" panose="020B0604020202020204" pitchFamily="34" charset="0"/>
                            </a:rPr>
                          </m:ctrlPr>
                        </m:fPr>
                        <m:num>
                          <m:r>
                            <a:rPr lang="en-US" sz="2200" i="1">
                              <a:latin typeface="Cambria Math" panose="02040503050406030204" pitchFamily="18" charset="0"/>
                              <a:cs typeface="Microsoft Sans Serif" panose="020B0604020202020204" pitchFamily="34" charset="0"/>
                            </a:rPr>
                            <m:t>1</m:t>
                          </m:r>
                        </m:num>
                        <m:den>
                          <m:sSup>
                            <m:sSupPr>
                              <m:ctrlPr>
                                <a:rPr lang="en-US" sz="2200" i="1">
                                  <a:latin typeface="Cambria Math" panose="02040503050406030204" pitchFamily="18" charset="0"/>
                                  <a:cs typeface="Microsoft Sans Serif" panose="020B0604020202020204" pitchFamily="34" charset="0"/>
                                </a:rPr>
                              </m:ctrlPr>
                            </m:sSupPr>
                            <m:e>
                              <m:r>
                                <a:rPr lang="en-US" sz="2200" i="1">
                                  <a:latin typeface="Cambria Math" panose="02040503050406030204" pitchFamily="18" charset="0"/>
                                  <a:cs typeface="Microsoft Sans Serif" panose="020B0604020202020204" pitchFamily="34" charset="0"/>
                                </a:rPr>
                                <m:t>𝑐</m:t>
                              </m:r>
                            </m:e>
                            <m:sup>
                              <m:r>
                                <a:rPr lang="en-US" sz="2200" i="1">
                                  <a:latin typeface="Cambria Math" panose="02040503050406030204" pitchFamily="18" charset="0"/>
                                  <a:cs typeface="Microsoft Sans Serif" panose="020B0604020202020204" pitchFamily="34" charset="0"/>
                                </a:rPr>
                                <m:t>2</m:t>
                              </m:r>
                            </m:sup>
                          </m:sSup>
                        </m:den>
                      </m:f>
                      <m:f>
                        <m:fPr>
                          <m:ctrlPr>
                            <a:rPr lang="en-US" sz="2200" i="1">
                              <a:latin typeface="Cambria Math" panose="02040503050406030204" pitchFamily="18" charset="0"/>
                              <a:cs typeface="Microsoft Sans Serif" panose="020B0604020202020204" pitchFamily="34" charset="0"/>
                            </a:rPr>
                          </m:ctrlPr>
                        </m:fPr>
                        <m:num>
                          <m:r>
                            <a:rPr lang="en-US" sz="2200" i="1">
                              <a:latin typeface="Cambria Math" panose="02040503050406030204" pitchFamily="18" charset="0"/>
                              <a:cs typeface="Microsoft Sans Serif" panose="020B0604020202020204" pitchFamily="34" charset="0"/>
                            </a:rPr>
                            <m:t>𝜕</m:t>
                          </m:r>
                          <m:r>
                            <a:rPr lang="en-US" sz="2200" b="1">
                              <a:latin typeface="Cambria Math" panose="02040503050406030204" pitchFamily="18" charset="0"/>
                              <a:cs typeface="Microsoft Sans Serif" panose="020B0604020202020204" pitchFamily="34" charset="0"/>
                            </a:rPr>
                            <m:t>𝐒</m:t>
                          </m:r>
                        </m:num>
                        <m:den>
                          <m:r>
                            <a:rPr lang="en-US" sz="2200" i="1">
                              <a:latin typeface="Cambria Math" panose="02040503050406030204" pitchFamily="18" charset="0"/>
                              <a:cs typeface="Microsoft Sans Serif" panose="020B0604020202020204" pitchFamily="34" charset="0"/>
                            </a:rPr>
                            <m:t>𝜕</m:t>
                          </m:r>
                          <m:r>
                            <a:rPr lang="en-US" sz="2200" i="1">
                              <a:latin typeface="Cambria Math" panose="02040503050406030204" pitchFamily="18" charset="0"/>
                              <a:cs typeface="Microsoft Sans Serif" panose="020B0604020202020204" pitchFamily="34" charset="0"/>
                            </a:rPr>
                            <m:t>𝑡</m:t>
                          </m:r>
                        </m:den>
                      </m:f>
                    </m:oMath>
                  </m:oMathPara>
                </a14:m>
                <a:endParaRPr lang="en-US" sz="2200" dirty="0"/>
              </a:p>
            </p:txBody>
          </p:sp>
        </mc:Choice>
        <mc:Fallback xmlns="">
          <p:sp>
            <p:nvSpPr>
              <p:cNvPr id="7" name="TextBox 6">
                <a:extLst>
                  <a:ext uri="{FF2B5EF4-FFF2-40B4-BE49-F238E27FC236}">
                    <a16:creationId xmlns:a16="http://schemas.microsoft.com/office/drawing/2014/main" id="{FC8EDCB3-E680-F0A4-A8B7-4C3B2C218D1A}"/>
                  </a:ext>
                </a:extLst>
              </p:cNvPr>
              <p:cNvSpPr txBox="1">
                <a:spLocks noRot="1" noChangeAspect="1" noMove="1" noResize="1" noEditPoints="1" noAdjustHandles="1" noChangeArrowheads="1" noChangeShapeType="1" noTextEdit="1"/>
              </p:cNvSpPr>
              <p:nvPr/>
            </p:nvSpPr>
            <p:spPr>
              <a:xfrm>
                <a:off x="8084740" y="1502569"/>
                <a:ext cx="2261325" cy="736227"/>
              </a:xfrm>
              <a:prstGeom prst="rect">
                <a:avLst/>
              </a:prstGeom>
              <a:blipFill>
                <a:blip r:embed="rId7"/>
                <a:stretch>
                  <a:fillRect b="-50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FC5B18-0677-B6C4-1720-0B9ADB8809B0}"/>
                  </a:ext>
                </a:extLst>
              </p:cNvPr>
              <p:cNvSpPr txBox="1"/>
              <p:nvPr/>
            </p:nvSpPr>
            <p:spPr>
              <a:xfrm>
                <a:off x="6639469" y="3249380"/>
                <a:ext cx="4833494" cy="8836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limLoc m:val="subSup"/>
                          <m:ctrlPr>
                            <a:rPr lang="en-GB" sz="22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𝑆</m:t>
                          </m:r>
                        </m:sub>
                        <m:sup/>
                        <m:e>
                          <m:acc>
                            <m:accPr>
                              <m:chr m:val="⃡"/>
                              <m:ctrlPr>
                                <a:rPr lang="en-GB" sz="2200" b="1" i="1">
                                  <a:latin typeface="Cambria Math" panose="02040503050406030204" pitchFamily="18" charset="0"/>
                                </a:rPr>
                              </m:ctrlPr>
                            </m:accPr>
                            <m:e>
                              <m:r>
                                <a:rPr lang="en-US" sz="2200" b="1">
                                  <a:latin typeface="Cambria Math" panose="02040503050406030204" pitchFamily="18" charset="0"/>
                                </a:rPr>
                                <m:t>𝐓</m:t>
                              </m:r>
                            </m:e>
                          </m:acc>
                          <m: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𝑑</m:t>
                          </m:r>
                          <m:r>
                            <a:rPr lang="en-US" sz="2200" b="1" i="0" kern="100" smtClean="0">
                              <a:effectLst/>
                              <a:latin typeface="Cambria Math" panose="02040503050406030204" pitchFamily="18" charset="0"/>
                              <a:ea typeface="Times New Roman" panose="02020603050405020304" pitchFamily="18" charset="0"/>
                              <a:cs typeface="Times New Roman" panose="02020603050405020304" pitchFamily="18" charset="0"/>
                            </a:rPr>
                            <m:t>𝐒</m:t>
                          </m:r>
                        </m:e>
                      </m:nary>
                      <m:r>
                        <a:rPr lang="en-US" sz="2200" b="0" i="0" kern="100" smtClean="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ctrlPr>
                            <a:rPr lang="en-US" sz="2200" b="0" i="1" kern="100" smtClean="0">
                              <a:effectLst/>
                              <a:latin typeface="Cambria Math" panose="02040503050406030204" pitchFamily="18" charset="0"/>
                              <a:cs typeface="Times New Roman" panose="02020603050405020304" pitchFamily="18" charset="0"/>
                            </a:rPr>
                          </m:ctrlPr>
                        </m:naryPr>
                        <m:sub>
                          <m:r>
                            <m:rPr>
                              <m:brk m:alnAt="23"/>
                            </m:rPr>
                            <a:rPr lang="en-US" sz="2200" b="0" i="1" kern="100" smtClean="0">
                              <a:effectLst/>
                              <a:latin typeface="Cambria Math" panose="02040503050406030204" pitchFamily="18" charset="0"/>
                              <a:cs typeface="Times New Roman" panose="02020603050405020304" pitchFamily="18" charset="0"/>
                            </a:rPr>
                            <m:t>𝑉</m:t>
                          </m:r>
                        </m:sub>
                        <m:sup/>
                        <m:e>
                          <m:d>
                            <m:dPr>
                              <m:ctrlPr>
                                <a:rPr lang="en-US" sz="2200" b="0" i="1" kern="100" smtClean="0">
                                  <a:effectLst/>
                                  <a:latin typeface="Cambria Math" panose="02040503050406030204" pitchFamily="18" charset="0"/>
                                  <a:cs typeface="Times New Roman" panose="02020603050405020304" pitchFamily="18" charset="0"/>
                                </a:rPr>
                              </m:ctrlPr>
                            </m:dPr>
                            <m:e>
                              <m:r>
                                <a:rPr lang="en-US" sz="2200" b="1" kern="100">
                                  <a:latin typeface="Cambria Math" panose="02040503050406030204" pitchFamily="18" charset="0"/>
                                  <a:cs typeface="Times New Roman" panose="02020603050405020304" pitchFamily="18" charset="0"/>
                                </a:rPr>
                                <m:t>𝐟</m:t>
                              </m:r>
                              <m:r>
                                <a:rPr lang="en-US" sz="2200" b="1" kern="100">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Microsoft Sans Serif" panose="020B0604020202020204" pitchFamily="34" charset="0"/>
                                    </a:rPr>
                                  </m:ctrlPr>
                                </m:fPr>
                                <m:num>
                                  <m:r>
                                    <a:rPr lang="en-US" sz="2200" i="1">
                                      <a:latin typeface="Cambria Math" panose="02040503050406030204" pitchFamily="18" charset="0"/>
                                      <a:cs typeface="Microsoft Sans Serif" panose="020B0604020202020204" pitchFamily="34" charset="0"/>
                                    </a:rPr>
                                    <m:t>1</m:t>
                                  </m:r>
                                </m:num>
                                <m:den>
                                  <m:sSup>
                                    <m:sSupPr>
                                      <m:ctrlPr>
                                        <a:rPr lang="en-US" sz="2200" i="1">
                                          <a:latin typeface="Cambria Math" panose="02040503050406030204" pitchFamily="18" charset="0"/>
                                          <a:cs typeface="Microsoft Sans Serif" panose="020B0604020202020204" pitchFamily="34" charset="0"/>
                                        </a:rPr>
                                      </m:ctrlPr>
                                    </m:sSupPr>
                                    <m:e>
                                      <m:r>
                                        <a:rPr lang="en-US" sz="2200" i="1">
                                          <a:latin typeface="Cambria Math" panose="02040503050406030204" pitchFamily="18" charset="0"/>
                                          <a:cs typeface="Microsoft Sans Serif" panose="020B0604020202020204" pitchFamily="34" charset="0"/>
                                        </a:rPr>
                                        <m:t>𝑐</m:t>
                                      </m:r>
                                    </m:e>
                                    <m:sup>
                                      <m:r>
                                        <a:rPr lang="en-US" sz="2200" i="1">
                                          <a:latin typeface="Cambria Math" panose="02040503050406030204" pitchFamily="18" charset="0"/>
                                          <a:cs typeface="Microsoft Sans Serif" panose="020B0604020202020204" pitchFamily="34" charset="0"/>
                                        </a:rPr>
                                        <m:t>2</m:t>
                                      </m:r>
                                    </m:sup>
                                  </m:sSup>
                                </m:den>
                              </m:f>
                              <m:f>
                                <m:fPr>
                                  <m:ctrlPr>
                                    <a:rPr lang="en-US" sz="2200" i="1">
                                      <a:latin typeface="Cambria Math" panose="02040503050406030204" pitchFamily="18" charset="0"/>
                                      <a:cs typeface="Microsoft Sans Serif" panose="020B0604020202020204" pitchFamily="34" charset="0"/>
                                    </a:rPr>
                                  </m:ctrlPr>
                                </m:fPr>
                                <m:num>
                                  <m:r>
                                    <a:rPr lang="en-US" sz="2200" i="1">
                                      <a:latin typeface="Cambria Math" panose="02040503050406030204" pitchFamily="18" charset="0"/>
                                      <a:cs typeface="Microsoft Sans Serif" panose="020B0604020202020204" pitchFamily="34" charset="0"/>
                                    </a:rPr>
                                    <m:t>𝜕</m:t>
                                  </m:r>
                                  <m:r>
                                    <a:rPr lang="en-US" sz="2200" b="1">
                                      <a:latin typeface="Cambria Math" panose="02040503050406030204" pitchFamily="18" charset="0"/>
                                      <a:cs typeface="Microsoft Sans Serif" panose="020B0604020202020204" pitchFamily="34" charset="0"/>
                                    </a:rPr>
                                    <m:t>𝐒</m:t>
                                  </m:r>
                                </m:num>
                                <m:den>
                                  <m:r>
                                    <a:rPr lang="en-US" sz="2200" i="1">
                                      <a:latin typeface="Cambria Math" panose="02040503050406030204" pitchFamily="18" charset="0"/>
                                      <a:cs typeface="Microsoft Sans Serif" panose="020B0604020202020204" pitchFamily="34" charset="0"/>
                                    </a:rPr>
                                    <m:t>𝜕</m:t>
                                  </m:r>
                                  <m:r>
                                    <a:rPr lang="en-US" sz="2200" i="1">
                                      <a:latin typeface="Cambria Math" panose="02040503050406030204" pitchFamily="18" charset="0"/>
                                      <a:cs typeface="Microsoft Sans Serif" panose="020B0604020202020204" pitchFamily="34" charset="0"/>
                                    </a:rPr>
                                    <m:t>𝑡</m:t>
                                  </m:r>
                                </m:den>
                              </m:f>
                            </m:e>
                          </m:d>
                          <m:r>
                            <a:rPr lang="en-US" sz="2200" b="0" i="1" kern="100" smtClean="0">
                              <a:effectLst/>
                              <a:latin typeface="Cambria Math" panose="02040503050406030204" pitchFamily="18" charset="0"/>
                              <a:cs typeface="Times New Roman" panose="02020603050405020304" pitchFamily="18" charset="0"/>
                            </a:rPr>
                            <m:t>𝑑𝑉</m:t>
                          </m:r>
                        </m:e>
                      </m:nary>
                    </m:oMath>
                  </m:oMathPara>
                </a14:m>
                <a:endParaRPr lang="en-US" sz="2200" dirty="0"/>
              </a:p>
            </p:txBody>
          </p:sp>
        </mc:Choice>
        <mc:Fallback xmlns="">
          <p:sp>
            <p:nvSpPr>
              <p:cNvPr id="8" name="TextBox 7">
                <a:extLst>
                  <a:ext uri="{FF2B5EF4-FFF2-40B4-BE49-F238E27FC236}">
                    <a16:creationId xmlns:a16="http://schemas.microsoft.com/office/drawing/2014/main" id="{79FC5B18-0677-B6C4-1720-0B9ADB8809B0}"/>
                  </a:ext>
                </a:extLst>
              </p:cNvPr>
              <p:cNvSpPr txBox="1">
                <a:spLocks noRot="1" noChangeAspect="1" noMove="1" noResize="1" noEditPoints="1" noAdjustHandles="1" noChangeArrowheads="1" noChangeShapeType="1" noTextEdit="1"/>
              </p:cNvSpPr>
              <p:nvPr/>
            </p:nvSpPr>
            <p:spPr>
              <a:xfrm>
                <a:off x="6639469" y="3249380"/>
                <a:ext cx="4833494" cy="883640"/>
              </a:xfrm>
              <a:prstGeom prst="rect">
                <a:avLst/>
              </a:prstGeom>
              <a:blipFill>
                <a:blip r:embed="rId8"/>
                <a:stretch>
                  <a:fillRect l="-15969" t="-143662" b="-221127"/>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EAAB391C-953D-95AA-8367-98F39222CDD4}"/>
              </a:ext>
            </a:extLst>
          </p:cNvPr>
          <p:cNvCxnSpPr/>
          <p:nvPr/>
        </p:nvCxnSpPr>
        <p:spPr>
          <a:xfrm>
            <a:off x="8966787" y="2479311"/>
            <a:ext cx="0" cy="51036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CB5C18D-E95E-AE85-8263-DDC78D686481}"/>
              </a:ext>
            </a:extLst>
          </p:cNvPr>
          <p:cNvCxnSpPr/>
          <p:nvPr/>
        </p:nvCxnSpPr>
        <p:spPr>
          <a:xfrm>
            <a:off x="8966787" y="4523292"/>
            <a:ext cx="0" cy="51036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Content Placeholder 2">
            <a:extLst>
              <a:ext uri="{FF2B5EF4-FFF2-40B4-BE49-F238E27FC236}">
                <a16:creationId xmlns:a16="http://schemas.microsoft.com/office/drawing/2014/main" id="{EA60A7FC-48D7-9130-4CAE-AEBE8EAE0FBC}"/>
              </a:ext>
            </a:extLst>
          </p:cNvPr>
          <p:cNvSpPr txBox="1">
            <a:spLocks/>
          </p:cNvSpPr>
          <p:nvPr/>
        </p:nvSpPr>
        <p:spPr>
          <a:xfrm>
            <a:off x="6874135" y="2408315"/>
            <a:ext cx="2076223" cy="58543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2200"/>
              </a:spcBef>
              <a:spcAft>
                <a:spcPts val="2200"/>
              </a:spcAft>
              <a:buNone/>
            </a:pPr>
            <a:r>
              <a:rPr lang="en-US" sz="1600" dirty="0">
                <a:latin typeface="Microsoft Sans Serif" panose="020B0604020202020204" pitchFamily="34" charset="0"/>
                <a:cs typeface="Microsoft Sans Serif" panose="020B0604020202020204" pitchFamily="34" charset="0"/>
              </a:rPr>
              <a:t>Volume integral</a:t>
            </a:r>
          </a:p>
        </p:txBody>
      </p: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997007C3-CC18-9B81-31D8-CED0ABE02E4B}"/>
                  </a:ext>
                </a:extLst>
              </p:cNvPr>
              <p:cNvSpPr txBox="1">
                <a:spLocks/>
              </p:cNvSpPr>
              <p:nvPr/>
            </p:nvSpPr>
            <p:spPr>
              <a:xfrm>
                <a:off x="9156701" y="4465317"/>
                <a:ext cx="1666681" cy="58543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2200"/>
                  </a:spcBef>
                  <a:spcAft>
                    <a:spcPts val="2200"/>
                  </a:spcAft>
                  <a:buNone/>
                </a:pPr>
                <a:r>
                  <a:rPr lang="en-US" sz="1600" dirty="0">
                    <a:latin typeface="Microsoft Sans Serif" panose="020B0604020202020204" pitchFamily="34" charset="0"/>
                    <a:cs typeface="Microsoft Sans Serif" panose="020B0604020202020204" pitchFamily="34" charset="0"/>
                  </a:rPr>
                  <a:t>1D and </a:t>
                </a:r>
                <a14:m>
                  <m:oMath xmlns:m="http://schemas.openxmlformats.org/officeDocument/2006/math">
                    <m:r>
                      <a:rPr lang="en-US" sz="1600" b="0" i="1" smtClean="0">
                        <a:latin typeface="Cambria Math" panose="02040503050406030204" pitchFamily="18" charset="0"/>
                        <a:cs typeface="Microsoft Sans Serif" panose="020B0604020202020204" pitchFamily="34" charset="0"/>
                      </a:rPr>
                      <m:t>𝜃</m:t>
                    </m:r>
                    <m:r>
                      <a:rPr lang="en-US" sz="1600" b="0" i="1" smtClean="0">
                        <a:latin typeface="Cambria Math" panose="02040503050406030204" pitchFamily="18" charset="0"/>
                        <a:cs typeface="Microsoft Sans Serif" panose="020B0604020202020204" pitchFamily="34" charset="0"/>
                      </a:rPr>
                      <m:t>=0</m:t>
                    </m:r>
                  </m:oMath>
                </a14:m>
                <a:endParaRPr lang="en-US" sz="1600" dirty="0">
                  <a:latin typeface="Microsoft Sans Serif" panose="020B0604020202020204" pitchFamily="34" charset="0"/>
                  <a:cs typeface="Microsoft Sans Serif" panose="020B0604020202020204" pitchFamily="34" charset="0"/>
                </a:endParaRPr>
              </a:p>
            </p:txBody>
          </p:sp>
        </mc:Choice>
        <mc:Fallback xmlns="">
          <p:sp>
            <p:nvSpPr>
              <p:cNvPr id="19" name="Content Placeholder 2">
                <a:extLst>
                  <a:ext uri="{FF2B5EF4-FFF2-40B4-BE49-F238E27FC236}">
                    <a16:creationId xmlns:a16="http://schemas.microsoft.com/office/drawing/2014/main" id="{997007C3-CC18-9B81-31D8-CED0ABE02E4B}"/>
                  </a:ext>
                </a:extLst>
              </p:cNvPr>
              <p:cNvSpPr txBox="1">
                <a:spLocks noRot="1" noChangeAspect="1" noMove="1" noResize="1" noEditPoints="1" noAdjustHandles="1" noChangeArrowheads="1" noChangeShapeType="1" noTextEdit="1"/>
              </p:cNvSpPr>
              <p:nvPr/>
            </p:nvSpPr>
            <p:spPr>
              <a:xfrm>
                <a:off x="9156701" y="4465317"/>
                <a:ext cx="1666681" cy="585430"/>
              </a:xfrm>
              <a:prstGeom prst="rect">
                <a:avLst/>
              </a:prstGeom>
              <a:blipFill>
                <a:blip r:embed="rId9"/>
                <a:stretch>
                  <a:fillRect/>
                </a:stretch>
              </a:blipFill>
            </p:spPr>
            <p:txBody>
              <a:bodyPr/>
              <a:lstStyle/>
              <a:p>
                <a:r>
                  <a:rPr lang="en-US">
                    <a:noFill/>
                  </a:rPr>
                  <a:t> </a:t>
                </a:r>
              </a:p>
            </p:txBody>
          </p:sp>
        </mc:Fallback>
      </mc:AlternateContent>
      <p:sp>
        <p:nvSpPr>
          <p:cNvPr id="20" name="Content Placeholder 2">
            <a:extLst>
              <a:ext uri="{FF2B5EF4-FFF2-40B4-BE49-F238E27FC236}">
                <a16:creationId xmlns:a16="http://schemas.microsoft.com/office/drawing/2014/main" id="{CFC53258-AB1D-BDA2-A8FC-DA1B2695725E}"/>
              </a:ext>
            </a:extLst>
          </p:cNvPr>
          <p:cNvSpPr txBox="1">
            <a:spLocks/>
          </p:cNvSpPr>
          <p:nvPr/>
        </p:nvSpPr>
        <p:spPr>
          <a:xfrm>
            <a:off x="9156701" y="2411238"/>
            <a:ext cx="2316262" cy="58543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2200"/>
              </a:spcBef>
              <a:spcAft>
                <a:spcPts val="2200"/>
              </a:spcAft>
              <a:buNone/>
            </a:pPr>
            <a:r>
              <a:rPr lang="en-US" sz="1600" dirty="0">
                <a:latin typeface="Microsoft Sans Serif" panose="020B0604020202020204" pitchFamily="34" charset="0"/>
                <a:cs typeface="Microsoft Sans Serif" panose="020B0604020202020204" pitchFamily="34" charset="0"/>
              </a:rPr>
              <a:t>+ divergence theorem</a:t>
            </a:r>
          </a:p>
        </p:txBody>
      </p:sp>
    </p:spTree>
    <p:extLst>
      <p:ext uri="{BB962C8B-B14F-4D97-AF65-F5344CB8AC3E}">
        <p14:creationId xmlns:p14="http://schemas.microsoft.com/office/powerpoint/2010/main" val="4040056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The Maxwell Stress </a:t>
            </a:r>
            <a:r>
              <a:rPr lang="en-US" sz="4400" dirty="0">
                <a:latin typeface="DIN Alternate" panose="020B0500000000000000" pitchFamily="34" charset="77"/>
                <a:ea typeface="+mn-ea"/>
                <a:cs typeface="+mn-cs"/>
              </a:rPr>
              <a:t>T</a:t>
            </a:r>
            <a:r>
              <a:rPr kumimoji="0" lang="en-US" sz="4400" b="0" i="0" u="none" strike="noStrike" kern="1200" cap="none" spc="0" normalizeH="0" baseline="0" noProof="0" dirty="0" err="1">
                <a:ln>
                  <a:noFill/>
                </a:ln>
                <a:effectLst/>
                <a:uLnTx/>
                <a:uFillTx/>
                <a:latin typeface="DIN Alternate" panose="020B0500000000000000" pitchFamily="34" charset="77"/>
                <a:ea typeface="+mn-ea"/>
                <a:cs typeface="+mn-cs"/>
              </a:rPr>
              <a:t>ensor</a:t>
            </a:r>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 (MST)</a:t>
            </a:r>
            <a:endParaRPr lang="en-US" dirty="0">
              <a:latin typeface="DIN Alternate" panose="020B0500000000000000" pitchFamily="34" charset="77"/>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199" y="1598783"/>
                <a:ext cx="3951515" cy="4906691"/>
              </a:xfrm>
            </p:spPr>
            <p:txBody>
              <a:bodyPr anchor="ctr">
                <a:normAutofit/>
              </a:bodyPr>
              <a:lstStyle/>
              <a:p>
                <a:pPr>
                  <a:spcAft>
                    <a:spcPts val="1200"/>
                  </a:spcAft>
                </a:pPr>
                <a:r>
                  <a:rPr lang="en-GB" sz="2000" dirty="0">
                    <a:latin typeface="Microsoft Sans Serif" panose="020B0604020202020204" pitchFamily="34" charset="0"/>
                    <a:cs typeface="Microsoft Sans Serif" panose="020B0604020202020204" pitchFamily="34" charset="0"/>
                  </a:rPr>
                  <a:t>Both systems are identical before the last crystal</a:t>
                </a:r>
              </a:p>
              <a:p>
                <a:pPr>
                  <a:spcBef>
                    <a:spcPts val="1200"/>
                  </a:spcBef>
                  <a:spcAft>
                    <a:spcPts val="1200"/>
                  </a:spcAft>
                </a:pPr>
                <a:r>
                  <a:rPr lang="en-GB" sz="2000" dirty="0">
                    <a:effectLst/>
                    <a:latin typeface="Microsoft Sans Serif" panose="020B0604020202020204" pitchFamily="34" charset="0"/>
                    <a:cs typeface="Microsoft Sans Serif" panose="020B0604020202020204" pitchFamily="34" charset="0"/>
                  </a:rPr>
                  <a:t>Sharpening </a:t>
                </a:r>
                <a:r>
                  <a:rPr lang="en-GB" sz="2000" dirty="0">
                    <a:latin typeface="Microsoft Sans Serif" panose="020B0604020202020204" pitchFamily="34" charset="0"/>
                    <a:cs typeface="Microsoft Sans Serif" panose="020B0604020202020204" pitchFamily="34" charset="0"/>
                  </a:rPr>
                  <a:t>of momentum flux peaks with </a:t>
                </a:r>
                <a14:m>
                  <m:oMath xmlns:m="http://schemas.openxmlformats.org/officeDocument/2006/math">
                    <m:sSub>
                      <m:sSubPr>
                        <m:ctrlPr>
                          <a:rPr lang="en-US" sz="2000" b="0" i="1" dirty="0" smtClean="0">
                            <a:latin typeface="Cambria Math" panose="02040503050406030204" pitchFamily="18" charset="0"/>
                            <a:cs typeface="Microsoft Sans Serif" panose="020B0604020202020204" pitchFamily="34" charset="0"/>
                          </a:rPr>
                        </m:ctrlPr>
                      </m:sSubPr>
                      <m:e>
                        <m:r>
                          <a:rPr lang="en-GB" sz="2000" i="1" dirty="0" smtClean="0">
                            <a:latin typeface="Cambria Math" panose="02040503050406030204" pitchFamily="18" charset="0"/>
                            <a:cs typeface="Microsoft Sans Serif" panose="020B0604020202020204" pitchFamily="34" charset="0"/>
                          </a:rPr>
                          <m:t>𝑛</m:t>
                        </m:r>
                      </m:e>
                      <m:sub>
                        <m:r>
                          <a:rPr lang="en-GB" sz="2000" i="1" dirty="0" smtClean="0">
                            <a:latin typeface="Cambria Math" panose="02040503050406030204" pitchFamily="18" charset="0"/>
                            <a:cs typeface="Microsoft Sans Serif" panose="020B0604020202020204" pitchFamily="34" charset="0"/>
                          </a:rPr>
                          <m:t>𝑒𝑓𝑓</m:t>
                        </m:r>
                      </m:sub>
                    </m:sSub>
                  </m:oMath>
                </a14:m>
                <a:endParaRPr lang="en-GB" sz="2000" dirty="0">
                  <a:effectLst/>
                  <a:latin typeface="Microsoft Sans Serif" panose="020B0604020202020204" pitchFamily="34" charset="0"/>
                  <a:cs typeface="Microsoft Sans Serif" panose="020B0604020202020204" pitchFamily="34" charset="0"/>
                </a:endParaRPr>
              </a:p>
              <a:p>
                <a:pPr>
                  <a:spcBef>
                    <a:spcPts val="1200"/>
                  </a:spcBef>
                  <a:spcAft>
                    <a:spcPts val="1200"/>
                  </a:spcAft>
                </a:pPr>
                <a:r>
                  <a:rPr lang="en-GB" sz="2000" dirty="0">
                    <a:effectLst/>
                    <a:latin typeface="Microsoft Sans Serif" panose="020B0604020202020204" pitchFamily="34" charset="0"/>
                    <a:cs typeface="Microsoft Sans Serif" panose="020B0604020202020204" pitchFamily="34" charset="0"/>
                  </a:rPr>
                  <a:t>Minkowski-like behaviour </a:t>
                </a:r>
              </a:p>
              <a:p>
                <a:pPr>
                  <a:spcAft>
                    <a:spcPts val="1200"/>
                  </a:spcAft>
                </a:pPr>
                <a:r>
                  <a:rPr lang="en-GB" sz="2000" dirty="0">
                    <a:latin typeface="Microsoft Sans Serif" panose="020B0604020202020204" pitchFamily="34" charset="0"/>
                    <a:cs typeface="Microsoft Sans Serif" panose="020B0604020202020204" pitchFamily="34" charset="0"/>
                  </a:rPr>
                  <a:t>No </a:t>
                </a:r>
                <a14:m>
                  <m:oMath xmlns:m="http://schemas.openxmlformats.org/officeDocument/2006/math">
                    <m:r>
                      <a:rPr lang="en-US" sz="2000" i="1" dirty="0">
                        <a:latin typeface="Cambria Math" panose="02040503050406030204" pitchFamily="18" charset="0"/>
                        <a:ea typeface="Cambria Math" panose="02040503050406030204" pitchFamily="18" charset="0"/>
                        <a:cs typeface="Microsoft Sans Serif" panose="020B0604020202020204" pitchFamily="34" charset="0"/>
                      </a:rPr>
                      <m:t>∝</m:t>
                    </m:r>
                    <m:sSub>
                      <m:sSubPr>
                        <m:ctrlPr>
                          <a:rPr lang="en-US" sz="2000" i="1" dirty="0">
                            <a:latin typeface="Cambria Math" panose="02040503050406030204" pitchFamily="18" charset="0"/>
                            <a:cs typeface="Microsoft Sans Serif" panose="020B0604020202020204" pitchFamily="34" charset="0"/>
                          </a:rPr>
                        </m:ctrlPr>
                      </m:sSubPr>
                      <m:e>
                        <m:r>
                          <a:rPr lang="en-GB" sz="2000" i="1" dirty="0">
                            <a:latin typeface="Cambria Math" panose="02040503050406030204" pitchFamily="18" charset="0"/>
                            <a:cs typeface="Microsoft Sans Serif" panose="020B0604020202020204" pitchFamily="34" charset="0"/>
                          </a:rPr>
                          <m:t>𝑛</m:t>
                        </m:r>
                      </m:e>
                      <m:sub>
                        <m:r>
                          <a:rPr lang="en-GB" sz="2000" i="1" dirty="0">
                            <a:latin typeface="Cambria Math" panose="02040503050406030204" pitchFamily="18" charset="0"/>
                            <a:cs typeface="Microsoft Sans Serif" panose="020B0604020202020204" pitchFamily="34" charset="0"/>
                          </a:rPr>
                          <m:t>𝑒𝑓𝑓</m:t>
                        </m:r>
                      </m:sub>
                    </m:sSub>
                  </m:oMath>
                </a14:m>
                <a:r>
                  <a:rPr lang="en-GB" sz="2000" dirty="0">
                    <a:latin typeface="Microsoft Sans Serif" panose="020B0604020202020204" pitchFamily="34" charset="0"/>
                    <a:cs typeface="Microsoft Sans Serif" panose="020B0604020202020204" pitchFamily="34" charset="0"/>
                  </a:rPr>
                  <a:t> dependence</a:t>
                </a: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199" y="1598783"/>
                <a:ext cx="3951515" cy="4906691"/>
              </a:xfrm>
              <a:blipFill>
                <a:blip r:embed="rId3"/>
                <a:stretch>
                  <a:fillRect l="-1278"/>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207FB43-B524-8D6E-0B40-6E72DB4D352D}"/>
              </a:ext>
            </a:extLst>
          </p:cNvPr>
          <p:cNvSpPr txBox="1"/>
          <p:nvPr/>
        </p:nvSpPr>
        <p:spPr>
          <a:xfrm>
            <a:off x="4932174" y="5467371"/>
            <a:ext cx="6896170" cy="338554"/>
          </a:xfrm>
          <a:prstGeom prst="rect">
            <a:avLst/>
          </a:prstGeom>
          <a:noFill/>
        </p:spPr>
        <p:txBody>
          <a:bodyPr wrap="square">
            <a:spAutoFit/>
          </a:bodyPr>
          <a:lstStyle/>
          <a:p>
            <a:pPr algn="just">
              <a:spcAft>
                <a:spcPts val="600"/>
              </a:spcAft>
            </a:pPr>
            <a:r>
              <a:rPr lang="en-GB" sz="1600" dirty="0">
                <a:latin typeface="Quicksand"/>
              </a:rPr>
              <a:t>Fig. 12: Z-momentum fluxes in medium layers at different times before reflection.</a:t>
            </a:r>
          </a:p>
        </p:txBody>
      </p:sp>
      <p:pic>
        <p:nvPicPr>
          <p:cNvPr id="10" name="Picture 9" descr="A graph of a graph&#10;&#10;Description automatically generated with medium confidence">
            <a:extLst>
              <a:ext uri="{FF2B5EF4-FFF2-40B4-BE49-F238E27FC236}">
                <a16:creationId xmlns:a16="http://schemas.microsoft.com/office/drawing/2014/main" id="{47F9153C-1FEB-8E0C-9252-2DCDAF2EF669}"/>
              </a:ext>
            </a:extLst>
          </p:cNvPr>
          <p:cNvPicPr>
            <a:picLocks noChangeAspect="1"/>
          </p:cNvPicPr>
          <p:nvPr/>
        </p:nvPicPr>
        <p:blipFill rotWithShape="1">
          <a:blip r:embed="rId4"/>
          <a:srcRect l="4553" t="5827" r="9463"/>
          <a:stretch/>
        </p:blipFill>
        <p:spPr>
          <a:xfrm>
            <a:off x="4932173" y="2392153"/>
            <a:ext cx="6896171" cy="3021183"/>
          </a:xfrm>
          <a:prstGeom prst="rect">
            <a:avLst/>
          </a:prstGeom>
        </p:spPr>
      </p:pic>
      <p:grpSp>
        <p:nvGrpSpPr>
          <p:cNvPr id="6" name="Group 5">
            <a:extLst>
              <a:ext uri="{FF2B5EF4-FFF2-40B4-BE49-F238E27FC236}">
                <a16:creationId xmlns:a16="http://schemas.microsoft.com/office/drawing/2014/main" id="{720CB8B1-105C-E8F8-50C9-55A84EAEBDB1}"/>
              </a:ext>
            </a:extLst>
          </p:cNvPr>
          <p:cNvGrpSpPr/>
          <p:nvPr/>
        </p:nvGrpSpPr>
        <p:grpSpPr>
          <a:xfrm>
            <a:off x="-1" y="5806572"/>
            <a:ext cx="1102141" cy="1052444"/>
            <a:chOff x="-1" y="5806572"/>
            <a:chExt cx="1102141" cy="1052444"/>
          </a:xfrm>
        </p:grpSpPr>
        <p:pic>
          <p:nvPicPr>
            <p:cNvPr id="7" name="Picture 6">
              <a:extLst>
                <a:ext uri="{FF2B5EF4-FFF2-40B4-BE49-F238E27FC236}">
                  <a16:creationId xmlns:a16="http://schemas.microsoft.com/office/drawing/2014/main" id="{429DD3D4-6D18-2A7B-76C7-1FCA0CD5D0DD}"/>
                </a:ext>
              </a:extLst>
            </p:cNvPr>
            <p:cNvPicPr>
              <a:picLocks noChangeAspect="1"/>
            </p:cNvPicPr>
            <p:nvPr/>
          </p:nvPicPr>
          <p:blipFill rotWithShape="1">
            <a:blip r:embed="rId5"/>
            <a:srcRect l="49545" b="51820"/>
            <a:stretch/>
          </p:blipFill>
          <p:spPr>
            <a:xfrm>
              <a:off x="-1" y="5806572"/>
              <a:ext cx="1102141" cy="1052444"/>
            </a:xfrm>
            <a:prstGeom prst="rect">
              <a:avLst/>
            </a:prstGeom>
          </p:spPr>
        </p:pic>
        <p:sp>
          <p:nvSpPr>
            <p:cNvPr id="8" name="Title 1">
              <a:extLst>
                <a:ext uri="{FF2B5EF4-FFF2-40B4-BE49-F238E27FC236}">
                  <a16:creationId xmlns:a16="http://schemas.microsoft.com/office/drawing/2014/main" id="{65BAB70A-8110-C1B9-006F-C21EC6A82848}"/>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18</a:t>
              </a:r>
            </a:p>
          </p:txBody>
        </p:sp>
      </p:grpSp>
    </p:spTree>
    <p:extLst>
      <p:ext uri="{BB962C8B-B14F-4D97-AF65-F5344CB8AC3E}">
        <p14:creationId xmlns:p14="http://schemas.microsoft.com/office/powerpoint/2010/main" val="2033506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lang="en-US" sz="4400" dirty="0">
                <a:latin typeface="DIN Alternate" panose="020B0500000000000000" pitchFamily="34" charset="77"/>
              </a:rPr>
              <a:t>The Lorentz (Bulk) Force</a:t>
            </a:r>
            <a:endParaRPr kumimoji="0" lang="en-US" sz="4400" b="0" i="0" u="none" strike="noStrike" kern="1200" cap="none" spc="0" normalizeH="0" baseline="0" noProof="0" dirty="0">
              <a:ln>
                <a:noFill/>
              </a:ln>
              <a:effectLst/>
              <a:uLnTx/>
              <a:uFillTx/>
              <a:latin typeface="DIN Alternate" panose="020B0500000000000000" pitchFamily="34" charset="77"/>
              <a:ea typeface="+mn-ea"/>
              <a:cs typeface="+mn-cs"/>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200" y="1633507"/>
                <a:ext cx="4764462" cy="4906691"/>
              </a:xfrm>
            </p:spPr>
            <p:txBody>
              <a:bodyPr anchor="ctr">
                <a:normAutofit/>
              </a:bodyPr>
              <a:lstStyle/>
              <a:p>
                <a:pPr>
                  <a:spcBef>
                    <a:spcPts val="2000"/>
                  </a:spcBef>
                  <a:spcAft>
                    <a:spcPts val="2000"/>
                  </a:spcAft>
                </a:pPr>
                <a:r>
                  <a:rPr lang="en-GB" sz="2000" dirty="0">
                    <a:latin typeface="Microsoft Sans Serif" panose="020B0604020202020204" pitchFamily="34" charset="0"/>
                    <a:cs typeface="Microsoft Sans Serif" panose="020B0604020202020204" pitchFamily="34" charset="0"/>
                  </a:rPr>
                  <a:t>EM force acting on a charge distribution</a:t>
                </a:r>
              </a:p>
              <a:p>
                <a:pPr>
                  <a:spcBef>
                    <a:spcPts val="2000"/>
                  </a:spcBef>
                  <a:spcAft>
                    <a:spcPts val="2000"/>
                  </a:spcAft>
                </a:pPr>
                <a:r>
                  <a:rPr lang="en-GB" sz="2000" dirty="0">
                    <a:latin typeface="Microsoft Sans Serif" panose="020B0604020202020204" pitchFamily="34" charset="0"/>
                    <a:cs typeface="Microsoft Sans Serif" panose="020B0604020202020204" pitchFamily="34" charset="0"/>
                  </a:rPr>
                  <a:t>Formulation for the total force of radiation on a solid object</a:t>
                </a:r>
              </a:p>
              <a:p>
                <a:pPr>
                  <a:spcBef>
                    <a:spcPts val="2000"/>
                  </a:spcBef>
                  <a:spcAft>
                    <a:spcPts val="2000"/>
                  </a:spcAft>
                </a:pPr>
                <a:r>
                  <a:rPr lang="en-GB" sz="2000" dirty="0">
                    <a:latin typeface="Microsoft Sans Serif" panose="020B0604020202020204" pitchFamily="34" charset="0"/>
                    <a:cs typeface="Microsoft Sans Serif" panose="020B0604020202020204" pitchFamily="34" charset="0"/>
                  </a:rPr>
                  <a:t>Integration over the medium layer widths </a:t>
                </a:r>
                <a14:m>
                  <m:oMath xmlns:m="http://schemas.openxmlformats.org/officeDocument/2006/math">
                    <m:r>
                      <a:rPr lang="en-US" sz="2000" b="0" i="1" smtClean="0">
                        <a:latin typeface="Cambria Math" panose="02040503050406030204" pitchFamily="18" charset="0"/>
                        <a:cs typeface="Microsoft Sans Serif" panose="020B0604020202020204" pitchFamily="34" charset="0"/>
                      </a:rPr>
                      <m:t>→</m:t>
                    </m:r>
                  </m:oMath>
                </a14:m>
                <a:r>
                  <a:rPr lang="en-GB" sz="2000" dirty="0">
                    <a:latin typeface="Microsoft Sans Serif" panose="020B0604020202020204" pitchFamily="34" charset="0"/>
                    <a:cs typeface="Microsoft Sans Serif" panose="020B0604020202020204" pitchFamily="34" charset="0"/>
                  </a:rPr>
                  <a:t> force surface density in the medium layer</a:t>
                </a: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200" y="1633507"/>
                <a:ext cx="4764462" cy="4906691"/>
              </a:xfrm>
              <a:blipFill>
                <a:blip r:embed="rId3"/>
                <a:stretch>
                  <a:fillRect l="-13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5C109B1-A98E-B411-4D19-338C23B5B149}"/>
                  </a:ext>
                </a:extLst>
              </p:cNvPr>
              <p:cNvSpPr txBox="1"/>
              <p:nvPr/>
            </p:nvSpPr>
            <p:spPr>
              <a:xfrm>
                <a:off x="7119643" y="3271948"/>
                <a:ext cx="3826560" cy="590098"/>
              </a:xfrm>
              <a:prstGeom prst="rect">
                <a:avLst/>
              </a:prstGeom>
              <a:noFill/>
            </p:spPr>
            <p:txBody>
              <a:bodyPr wrap="none" rtlCol="0">
                <a:spAutoFit/>
              </a:bodyPr>
              <a:lstStyle/>
              <a:p>
                <a14:m>
                  <m:oMath xmlns:m="http://schemas.openxmlformats.org/officeDocument/2006/math">
                    <m:sSub>
                      <m:sSubPr>
                        <m:ctrlPr>
                          <a:rPr lang="en-US" sz="2200" b="1" i="1" smtClean="0">
                            <a:latin typeface="Cambria Math" panose="02040503050406030204" pitchFamily="18" charset="0"/>
                          </a:rPr>
                        </m:ctrlPr>
                      </m:sSubPr>
                      <m:e>
                        <m:r>
                          <a:rPr lang="en-US" sz="2200" b="1" i="0" smtClean="0">
                            <a:latin typeface="Cambria Math" panose="02040503050406030204" pitchFamily="18" charset="0"/>
                          </a:rPr>
                          <m:t>𝐟</m:t>
                        </m:r>
                      </m:e>
                      <m:sub>
                        <m:r>
                          <a:rPr lang="en-US" sz="2200" b="1" i="0" smtClean="0">
                            <a:latin typeface="Cambria Math" panose="02040503050406030204" pitchFamily="18" charset="0"/>
                          </a:rPr>
                          <m:t>𝐯</m:t>
                        </m:r>
                      </m:sub>
                    </m:sSub>
                    <m:r>
                      <a:rPr lang="en-US" sz="2200" b="1" i="0"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m:t>
                        </m:r>
                        <m:r>
                          <a:rPr lang="en-US" sz="2200" b="1" i="0" smtClean="0">
                            <a:latin typeface="Cambria Math" panose="02040503050406030204" pitchFamily="18" charset="0"/>
                          </a:rPr>
                          <m:t>𝐏</m:t>
                        </m:r>
                      </m:num>
                      <m:den>
                        <m:r>
                          <a:rPr lang="en-US" sz="2200" b="0" i="1" smtClean="0">
                            <a:latin typeface="Cambria Math" panose="02040503050406030204" pitchFamily="18" charset="0"/>
                          </a:rPr>
                          <m:t>𝜕</m:t>
                        </m:r>
                        <m:r>
                          <a:rPr lang="en-US" sz="2200" b="0" i="1" smtClean="0">
                            <a:latin typeface="Cambria Math" panose="02040503050406030204" pitchFamily="18" charset="0"/>
                          </a:rPr>
                          <m:t>𝑡</m:t>
                        </m:r>
                      </m:den>
                    </m:f>
                    <m:r>
                      <a:rPr lang="en-US" sz="2200" b="0" i="1" smtClean="0">
                        <a:latin typeface="Cambria Math" panose="02040503050406030204" pitchFamily="18" charset="0"/>
                      </a:rPr>
                      <m:t>×</m:t>
                    </m:r>
                    <m:r>
                      <a:rPr lang="en-US" sz="2200" b="1" i="0" smtClean="0">
                        <a:latin typeface="Cambria Math" panose="02040503050406030204" pitchFamily="18" charset="0"/>
                      </a:rPr>
                      <m:t>𝐁</m:t>
                    </m:r>
                  </m:oMath>
                </a14:m>
                <a:r>
                  <a:rPr lang="en-US" sz="2200" b="1" dirty="0"/>
                  <a:t> </a:t>
                </a:r>
                <a14:m>
                  <m:oMath xmlns:m="http://schemas.openxmlformats.org/officeDocument/2006/math">
                    <m:r>
                      <a:rPr lang="en-US" sz="2200" b="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𝜀</m:t>
                        </m:r>
                      </m:e>
                      <m:sub>
                        <m:r>
                          <a:rPr lang="en-US" sz="2200" i="1">
                            <a:latin typeface="Cambria Math" panose="02040503050406030204" pitchFamily="18" charset="0"/>
                          </a:rPr>
                          <m:t>0</m:t>
                        </m:r>
                      </m:sub>
                    </m:sSub>
                    <m:d>
                      <m:dPr>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r>
                              <a:rPr lang="en-US" sz="2200" i="1">
                                <a:latin typeface="Cambria Math" panose="02040503050406030204" pitchFamily="18" charset="0"/>
                              </a:rPr>
                              <m:t>𝑛</m:t>
                            </m:r>
                          </m:e>
                          <m:sup>
                            <m:r>
                              <a:rPr lang="en-US" sz="2200">
                                <a:latin typeface="Cambria Math" panose="02040503050406030204" pitchFamily="18" charset="0"/>
                              </a:rPr>
                              <m:t>2</m:t>
                            </m:r>
                          </m:sup>
                        </m:sSup>
                        <m:r>
                          <a:rPr lang="en-US" sz="2200">
                            <a:latin typeface="Cambria Math" panose="02040503050406030204" pitchFamily="18" charset="0"/>
                          </a:rPr>
                          <m:t>−1</m:t>
                        </m:r>
                      </m:e>
                    </m:d>
                    <m:f>
                      <m:fPr>
                        <m:ctrlPr>
                          <a:rPr lang="en-US" sz="2200" i="1">
                            <a:latin typeface="Cambria Math" panose="02040503050406030204" pitchFamily="18" charset="0"/>
                          </a:rPr>
                        </m:ctrlPr>
                      </m:fPr>
                      <m:num>
                        <m:r>
                          <a:rPr lang="en-US" sz="2200" i="1">
                            <a:latin typeface="Cambria Math" panose="02040503050406030204" pitchFamily="18" charset="0"/>
                          </a:rPr>
                          <m:t>𝜕</m:t>
                        </m:r>
                        <m:r>
                          <a:rPr lang="en-US" sz="2200" b="1">
                            <a:latin typeface="Cambria Math" panose="02040503050406030204" pitchFamily="18" charset="0"/>
                          </a:rPr>
                          <m:t>𝐄</m:t>
                        </m:r>
                      </m:num>
                      <m:den>
                        <m:r>
                          <a:rPr lang="en-US" sz="2200" i="1">
                            <a:latin typeface="Cambria Math" panose="02040503050406030204" pitchFamily="18" charset="0"/>
                          </a:rPr>
                          <m:t>𝜕</m:t>
                        </m:r>
                        <m:r>
                          <a:rPr lang="en-US" sz="2200" i="1">
                            <a:latin typeface="Cambria Math" panose="02040503050406030204" pitchFamily="18" charset="0"/>
                          </a:rPr>
                          <m:t>𝑡</m:t>
                        </m:r>
                      </m:den>
                    </m:f>
                    <m:r>
                      <a:rPr lang="en-US" sz="2200" i="1">
                        <a:latin typeface="Cambria Math" panose="02040503050406030204" pitchFamily="18" charset="0"/>
                      </a:rPr>
                      <m:t>×</m:t>
                    </m:r>
                    <m:r>
                      <a:rPr lang="en-US" sz="2200" b="1">
                        <a:latin typeface="Cambria Math" panose="02040503050406030204" pitchFamily="18" charset="0"/>
                      </a:rPr>
                      <m:t>𝐁</m:t>
                    </m:r>
                  </m:oMath>
                </a14:m>
                <a:endParaRPr lang="en-US" sz="2200" b="1" dirty="0"/>
              </a:p>
            </p:txBody>
          </p:sp>
        </mc:Choice>
        <mc:Fallback xmlns="">
          <p:sp>
            <p:nvSpPr>
              <p:cNvPr id="6" name="TextBox 5">
                <a:extLst>
                  <a:ext uri="{FF2B5EF4-FFF2-40B4-BE49-F238E27FC236}">
                    <a16:creationId xmlns:a16="http://schemas.microsoft.com/office/drawing/2014/main" id="{E5C109B1-A98E-B411-4D19-338C23B5B149}"/>
                  </a:ext>
                </a:extLst>
              </p:cNvPr>
              <p:cNvSpPr txBox="1">
                <a:spLocks noRot="1" noChangeAspect="1" noMove="1" noResize="1" noEditPoints="1" noAdjustHandles="1" noChangeArrowheads="1" noChangeShapeType="1" noTextEdit="1"/>
              </p:cNvSpPr>
              <p:nvPr/>
            </p:nvSpPr>
            <p:spPr>
              <a:xfrm>
                <a:off x="7119643" y="3271948"/>
                <a:ext cx="3826560" cy="590098"/>
              </a:xfrm>
              <a:prstGeom prst="rect">
                <a:avLst/>
              </a:prstGeom>
              <a:blipFill>
                <a:blip r:embed="rId4"/>
                <a:stretch>
                  <a:fillRect b="-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CCE7784-2467-9307-1753-595FDCF9D3FB}"/>
                  </a:ext>
                </a:extLst>
              </p:cNvPr>
              <p:cNvSpPr txBox="1"/>
              <p:nvPr/>
            </p:nvSpPr>
            <p:spPr>
              <a:xfrm>
                <a:off x="8094205" y="2247654"/>
                <a:ext cx="1877437"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1" i="0" smtClean="0">
                          <a:latin typeface="Cambria Math" panose="02040503050406030204" pitchFamily="18" charset="0"/>
                        </a:rPr>
                        <m:t>𝐟</m:t>
                      </m:r>
                      <m:r>
                        <a:rPr lang="en-US" sz="2200" b="1" i="0" smtClean="0">
                          <a:latin typeface="Cambria Math" panose="02040503050406030204" pitchFamily="18" charset="0"/>
                        </a:rPr>
                        <m:t>=</m:t>
                      </m:r>
                      <m:r>
                        <a:rPr lang="en-US" sz="2200" b="0" i="1" smtClean="0">
                          <a:latin typeface="Cambria Math" panose="02040503050406030204" pitchFamily="18" charset="0"/>
                        </a:rPr>
                        <m:t>𝜌</m:t>
                      </m:r>
                      <m:r>
                        <a:rPr lang="en-US" sz="2200" b="1" i="0" smtClean="0">
                          <a:latin typeface="Cambria Math" panose="02040503050406030204" pitchFamily="18" charset="0"/>
                        </a:rPr>
                        <m:t>𝐄</m:t>
                      </m:r>
                      <m:r>
                        <a:rPr lang="en-US" sz="2200" b="1" i="0" smtClean="0">
                          <a:latin typeface="Cambria Math" panose="02040503050406030204" pitchFamily="18" charset="0"/>
                        </a:rPr>
                        <m:t>+</m:t>
                      </m:r>
                      <m:r>
                        <a:rPr lang="en-US" sz="2200" b="1" i="0" smtClean="0">
                          <a:latin typeface="Cambria Math" panose="02040503050406030204" pitchFamily="18" charset="0"/>
                        </a:rPr>
                        <m:t>𝐉</m:t>
                      </m:r>
                      <m:r>
                        <a:rPr lang="en-US" sz="2200" b="1" i="0" smtClean="0">
                          <a:latin typeface="Cambria Math" panose="02040503050406030204" pitchFamily="18" charset="0"/>
                        </a:rPr>
                        <m:t>×</m:t>
                      </m:r>
                      <m:r>
                        <a:rPr lang="en-US" sz="2200" b="1" i="0" smtClean="0">
                          <a:latin typeface="Cambria Math" panose="02040503050406030204" pitchFamily="18" charset="0"/>
                        </a:rPr>
                        <m:t>𝐁</m:t>
                      </m:r>
                    </m:oMath>
                  </m:oMathPara>
                </a14:m>
                <a:endParaRPr lang="en-US" sz="2200" b="1" dirty="0"/>
              </a:p>
            </p:txBody>
          </p:sp>
        </mc:Choice>
        <mc:Fallback xmlns="">
          <p:sp>
            <p:nvSpPr>
              <p:cNvPr id="9" name="TextBox 8">
                <a:extLst>
                  <a:ext uri="{FF2B5EF4-FFF2-40B4-BE49-F238E27FC236}">
                    <a16:creationId xmlns:a16="http://schemas.microsoft.com/office/drawing/2014/main" id="{0CCE7784-2467-9307-1753-595FDCF9D3FB}"/>
                  </a:ext>
                </a:extLst>
              </p:cNvPr>
              <p:cNvSpPr txBox="1">
                <a:spLocks noRot="1" noChangeAspect="1" noMove="1" noResize="1" noEditPoints="1" noAdjustHandles="1" noChangeArrowheads="1" noChangeShapeType="1" noTextEdit="1"/>
              </p:cNvSpPr>
              <p:nvPr/>
            </p:nvSpPr>
            <p:spPr>
              <a:xfrm>
                <a:off x="8094205" y="2247654"/>
                <a:ext cx="1877437" cy="430887"/>
              </a:xfrm>
              <a:prstGeom prst="rect">
                <a:avLst/>
              </a:prstGeom>
              <a:blipFill>
                <a:blip r:embed="rId5"/>
                <a:stretch>
                  <a:fillRect b="-1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820F9E0-3EBB-0ECF-EDDC-D146314EBD4F}"/>
                  </a:ext>
                </a:extLst>
              </p:cNvPr>
              <p:cNvSpPr txBox="1"/>
              <p:nvPr/>
            </p:nvSpPr>
            <p:spPr>
              <a:xfrm>
                <a:off x="7367723" y="4940608"/>
                <a:ext cx="3330399" cy="7360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200" i="1" dirty="0" smtClean="0">
                              <a:latin typeface="Cambria Math" panose="02040503050406030204" pitchFamily="18" charset="0"/>
                              <a:cs typeface="Microsoft Sans Serif" panose="020B0604020202020204" pitchFamily="34" charset="0"/>
                            </a:rPr>
                          </m:ctrlPr>
                        </m:fPr>
                        <m:num>
                          <m:r>
                            <a:rPr lang="en-US" sz="2200" i="1" dirty="0">
                              <a:latin typeface="Cambria Math" panose="02040503050406030204" pitchFamily="18" charset="0"/>
                              <a:cs typeface="Microsoft Sans Serif" panose="020B0604020202020204" pitchFamily="34" charset="0"/>
                            </a:rPr>
                            <m:t>𝜕</m:t>
                          </m:r>
                        </m:num>
                        <m:den>
                          <m:r>
                            <a:rPr lang="en-US" sz="2200" i="1" dirty="0">
                              <a:latin typeface="Cambria Math" panose="02040503050406030204" pitchFamily="18" charset="0"/>
                              <a:cs typeface="Microsoft Sans Serif" panose="020B0604020202020204" pitchFamily="34" charset="0"/>
                            </a:rPr>
                            <m:t>𝜕</m:t>
                          </m:r>
                          <m:r>
                            <a:rPr lang="en-US" sz="2200" i="1" dirty="0">
                              <a:latin typeface="Cambria Math" panose="02040503050406030204" pitchFamily="18" charset="0"/>
                              <a:cs typeface="Microsoft Sans Serif" panose="020B0604020202020204" pitchFamily="34" charset="0"/>
                            </a:rPr>
                            <m:t>𝑡</m:t>
                          </m:r>
                        </m:den>
                      </m:f>
                      <m:sSub>
                        <m:sSubPr>
                          <m:ctrlPr>
                            <a:rPr lang="en-US" sz="2200" b="0" i="1" dirty="0" smtClean="0">
                              <a:latin typeface="Cambria Math" panose="02040503050406030204" pitchFamily="18" charset="0"/>
                              <a:cs typeface="Microsoft Sans Serif" panose="020B0604020202020204" pitchFamily="34" charset="0"/>
                            </a:rPr>
                          </m:ctrlPr>
                        </m:sSubPr>
                        <m:e>
                          <m:r>
                            <a:rPr lang="en-US" sz="2200" b="1" i="0" dirty="0" smtClean="0">
                              <a:latin typeface="Cambria Math" panose="02040503050406030204" pitchFamily="18" charset="0"/>
                              <a:cs typeface="Microsoft Sans Serif" panose="020B0604020202020204" pitchFamily="34" charset="0"/>
                            </a:rPr>
                            <m:t>𝐄</m:t>
                          </m:r>
                        </m:e>
                        <m:sub>
                          <m:r>
                            <a:rPr lang="en-US" sz="2200" b="0" i="1" dirty="0" smtClean="0">
                              <a:latin typeface="Cambria Math" panose="02040503050406030204" pitchFamily="18" charset="0"/>
                              <a:cs typeface="Microsoft Sans Serif" panose="020B0604020202020204" pitchFamily="34" charset="0"/>
                            </a:rPr>
                            <m:t>𝑘</m:t>
                          </m:r>
                        </m:sub>
                      </m:sSub>
                      <m:r>
                        <a:rPr lang="en-US" sz="2200" i="1" dirty="0">
                          <a:latin typeface="Cambria Math" panose="02040503050406030204" pitchFamily="18" charset="0"/>
                          <a:cs typeface="Microsoft Sans Serif" panose="020B0604020202020204" pitchFamily="34" charset="0"/>
                        </a:rPr>
                        <m:t>=</m:t>
                      </m:r>
                      <m:r>
                        <a:rPr lang="en-US" sz="2200" dirty="0">
                          <a:latin typeface="Cambria Math" panose="02040503050406030204" pitchFamily="18" charset="0"/>
                          <a:cs typeface="Microsoft Sans Serif" panose="020B0604020202020204" pitchFamily="34" charset="0"/>
                        </a:rPr>
                        <m:t>−</m:t>
                      </m:r>
                      <m:r>
                        <a:rPr lang="en-GB" sz="2200" dirty="0">
                          <a:latin typeface="Cambria Math" panose="02040503050406030204" pitchFamily="18" charset="0"/>
                          <a:cs typeface="Microsoft Sans Serif" panose="020B0604020202020204" pitchFamily="34" charset="0"/>
                        </a:rPr>
                        <m:t>𝑖</m:t>
                      </m:r>
                      <m:r>
                        <a:rPr lang="el-GR" sz="2200" dirty="0">
                          <a:latin typeface="Cambria Math" panose="02040503050406030204" pitchFamily="18" charset="0"/>
                          <a:cs typeface="Microsoft Sans Serif" panose="020B0604020202020204" pitchFamily="34" charset="0"/>
                        </a:rPr>
                        <m:t>𝜔</m:t>
                      </m:r>
                      <m:sSub>
                        <m:sSubPr>
                          <m:ctrlPr>
                            <a:rPr lang="en-US" sz="2200" i="1" dirty="0">
                              <a:latin typeface="Cambria Math" panose="02040503050406030204" pitchFamily="18" charset="0"/>
                              <a:cs typeface="Microsoft Sans Serif" panose="020B0604020202020204" pitchFamily="34" charset="0"/>
                            </a:rPr>
                          </m:ctrlPr>
                        </m:sSubPr>
                        <m:e>
                          <m:r>
                            <a:rPr lang="en-US" sz="2200" b="1" i="0" dirty="0" smtClean="0">
                              <a:latin typeface="Cambria Math" panose="02040503050406030204" pitchFamily="18" charset="0"/>
                              <a:cs typeface="Microsoft Sans Serif" panose="020B0604020202020204" pitchFamily="34" charset="0"/>
                            </a:rPr>
                            <m:t>𝐄</m:t>
                          </m:r>
                        </m:e>
                        <m:sub>
                          <m:r>
                            <a:rPr lang="en-US" sz="2200" i="1" dirty="0">
                              <a:latin typeface="Cambria Math" panose="02040503050406030204" pitchFamily="18" charset="0"/>
                              <a:cs typeface="Microsoft Sans Serif" panose="020B0604020202020204" pitchFamily="34" charset="0"/>
                            </a:rPr>
                            <m:t>𝑘</m:t>
                          </m:r>
                        </m:sub>
                      </m:sSub>
                      <m:r>
                        <a:rPr lang="en-US" sz="2200" i="1" dirty="0">
                          <a:latin typeface="Cambria Math" panose="02040503050406030204" pitchFamily="18" charset="0"/>
                          <a:cs typeface="Microsoft Sans Serif" panose="020B0604020202020204" pitchFamily="34" charset="0"/>
                        </a:rPr>
                        <m:t>=−</m:t>
                      </m:r>
                      <m:r>
                        <a:rPr lang="en-US" sz="2200" i="1" dirty="0">
                          <a:latin typeface="Cambria Math" panose="02040503050406030204" pitchFamily="18" charset="0"/>
                          <a:cs typeface="Microsoft Sans Serif" panose="020B0604020202020204" pitchFamily="34" charset="0"/>
                        </a:rPr>
                        <m:t>𝑖𝑐𝑘</m:t>
                      </m:r>
                      <m:sSub>
                        <m:sSubPr>
                          <m:ctrlPr>
                            <a:rPr lang="en-US" sz="2200" i="1" dirty="0">
                              <a:latin typeface="Cambria Math" panose="02040503050406030204" pitchFamily="18" charset="0"/>
                              <a:cs typeface="Microsoft Sans Serif" panose="020B0604020202020204" pitchFamily="34" charset="0"/>
                            </a:rPr>
                          </m:ctrlPr>
                        </m:sSubPr>
                        <m:e>
                          <m:r>
                            <a:rPr lang="en-US" sz="2200" b="1" i="0" dirty="0" smtClean="0">
                              <a:latin typeface="Cambria Math" panose="02040503050406030204" pitchFamily="18" charset="0"/>
                              <a:cs typeface="Microsoft Sans Serif" panose="020B0604020202020204" pitchFamily="34" charset="0"/>
                            </a:rPr>
                            <m:t>𝐄</m:t>
                          </m:r>
                        </m:e>
                        <m:sub>
                          <m:r>
                            <a:rPr lang="en-US" sz="2200" i="1" dirty="0">
                              <a:latin typeface="Cambria Math" panose="02040503050406030204" pitchFamily="18" charset="0"/>
                              <a:cs typeface="Microsoft Sans Serif" panose="020B0604020202020204" pitchFamily="34" charset="0"/>
                            </a:rPr>
                            <m:t>𝑘</m:t>
                          </m:r>
                        </m:sub>
                      </m:sSub>
                    </m:oMath>
                  </m:oMathPara>
                </a14:m>
                <a:endParaRPr lang="en-US" sz="2200" b="1" dirty="0"/>
              </a:p>
            </p:txBody>
          </p:sp>
        </mc:Choice>
        <mc:Fallback xmlns="">
          <p:sp>
            <p:nvSpPr>
              <p:cNvPr id="11" name="TextBox 10">
                <a:extLst>
                  <a:ext uri="{FF2B5EF4-FFF2-40B4-BE49-F238E27FC236}">
                    <a16:creationId xmlns:a16="http://schemas.microsoft.com/office/drawing/2014/main" id="{0820F9E0-3EBB-0ECF-EDDC-D146314EBD4F}"/>
                  </a:ext>
                </a:extLst>
              </p:cNvPr>
              <p:cNvSpPr txBox="1">
                <a:spLocks noRot="1" noChangeAspect="1" noMove="1" noResize="1" noEditPoints="1" noAdjustHandles="1" noChangeArrowheads="1" noChangeShapeType="1" noTextEdit="1"/>
              </p:cNvSpPr>
              <p:nvPr/>
            </p:nvSpPr>
            <p:spPr>
              <a:xfrm>
                <a:off x="7367723" y="4940608"/>
                <a:ext cx="3330399" cy="736099"/>
              </a:xfrm>
              <a:prstGeom prst="rect">
                <a:avLst/>
              </a:prstGeom>
              <a:blipFill>
                <a:blip r:embed="rId6"/>
                <a:stretch>
                  <a:fillRect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67A8476-805E-6F5E-056E-250BE9146AF1}"/>
                  </a:ext>
                </a:extLst>
              </p:cNvPr>
              <p:cNvSpPr txBox="1"/>
              <p:nvPr/>
            </p:nvSpPr>
            <p:spPr>
              <a:xfrm>
                <a:off x="7536506" y="4076993"/>
                <a:ext cx="2229520"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1" i="0" smtClean="0">
                          <a:latin typeface="Cambria Math" panose="02040503050406030204" pitchFamily="18" charset="0"/>
                        </a:rPr>
                        <m:t>𝐏</m:t>
                      </m:r>
                      <m:r>
                        <a:rPr lang="en-US" sz="2200" b="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𝜀</m:t>
                          </m:r>
                        </m:e>
                        <m:sub>
                          <m:r>
                            <a:rPr lang="en-US" sz="2200" i="1">
                              <a:latin typeface="Cambria Math" panose="02040503050406030204" pitchFamily="18" charset="0"/>
                            </a:rPr>
                            <m:t>0</m:t>
                          </m:r>
                        </m:sub>
                      </m:sSub>
                      <m:d>
                        <m:dPr>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r>
                                <a:rPr lang="en-US" sz="2200" i="1">
                                  <a:latin typeface="Cambria Math" panose="02040503050406030204" pitchFamily="18" charset="0"/>
                                </a:rPr>
                                <m:t>𝑛</m:t>
                              </m:r>
                            </m:e>
                            <m:sup>
                              <m:r>
                                <a:rPr lang="en-US" sz="2200">
                                  <a:latin typeface="Cambria Math" panose="02040503050406030204" pitchFamily="18" charset="0"/>
                                </a:rPr>
                                <m:t>2</m:t>
                              </m:r>
                            </m:sup>
                          </m:sSup>
                          <m:r>
                            <a:rPr lang="en-US" sz="2200">
                              <a:latin typeface="Cambria Math" panose="02040503050406030204" pitchFamily="18" charset="0"/>
                            </a:rPr>
                            <m:t>−1</m:t>
                          </m:r>
                        </m:e>
                      </m:d>
                      <m:r>
                        <a:rPr lang="en-US" sz="2200" b="1" i="0" smtClean="0">
                          <a:latin typeface="Cambria Math" panose="02040503050406030204" pitchFamily="18" charset="0"/>
                        </a:rPr>
                        <m:t>𝐄</m:t>
                      </m:r>
                    </m:oMath>
                  </m:oMathPara>
                </a14:m>
                <a:endParaRPr lang="en-US" sz="2200" b="1" dirty="0"/>
              </a:p>
            </p:txBody>
          </p:sp>
        </mc:Choice>
        <mc:Fallback xmlns="">
          <p:sp>
            <p:nvSpPr>
              <p:cNvPr id="12" name="TextBox 11">
                <a:extLst>
                  <a:ext uri="{FF2B5EF4-FFF2-40B4-BE49-F238E27FC236}">
                    <a16:creationId xmlns:a16="http://schemas.microsoft.com/office/drawing/2014/main" id="{267A8476-805E-6F5E-056E-250BE9146AF1}"/>
                  </a:ext>
                </a:extLst>
              </p:cNvPr>
              <p:cNvSpPr txBox="1">
                <a:spLocks noRot="1" noChangeAspect="1" noMove="1" noResize="1" noEditPoints="1" noAdjustHandles="1" noChangeArrowheads="1" noChangeShapeType="1" noTextEdit="1"/>
              </p:cNvSpPr>
              <p:nvPr/>
            </p:nvSpPr>
            <p:spPr>
              <a:xfrm>
                <a:off x="7536506" y="4076993"/>
                <a:ext cx="2229520" cy="430887"/>
              </a:xfrm>
              <a:prstGeom prst="rect">
                <a:avLst/>
              </a:prstGeom>
              <a:blipFill>
                <a:blip r:embed="rId7"/>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95B957A-1FD8-ED5E-350A-047645BFB8A9}"/>
                  </a:ext>
                </a:extLst>
              </p:cNvPr>
              <p:cNvSpPr txBox="1"/>
              <p:nvPr/>
            </p:nvSpPr>
            <p:spPr>
              <a:xfrm>
                <a:off x="8421075" y="3633731"/>
                <a:ext cx="460382"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3200" i="1" kern="100" smtClean="0">
                          <a:effectLst/>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GB" sz="3200" i="1"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C95B957A-1FD8-ED5E-350A-047645BFB8A9}"/>
                  </a:ext>
                </a:extLst>
              </p:cNvPr>
              <p:cNvSpPr txBox="1">
                <a:spLocks noRot="1" noChangeAspect="1" noMove="1" noResize="1" noEditPoints="1" noAdjustHandles="1" noChangeArrowheads="1" noChangeShapeType="1" noTextEdit="1"/>
              </p:cNvSpPr>
              <p:nvPr/>
            </p:nvSpPr>
            <p:spPr>
              <a:xfrm>
                <a:off x="8421075" y="3633731"/>
                <a:ext cx="460382" cy="584775"/>
              </a:xfrm>
              <a:prstGeom prst="rect">
                <a:avLst/>
              </a:prstGeom>
              <a:blipFill>
                <a:blip r:embed="rId8"/>
                <a:stretch>
                  <a:fillRect l="-2632" r="-2632"/>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5B10F0E7-C470-C0AF-823B-1D9EA2055DB8}"/>
              </a:ext>
            </a:extLst>
          </p:cNvPr>
          <p:cNvGrpSpPr/>
          <p:nvPr/>
        </p:nvGrpSpPr>
        <p:grpSpPr>
          <a:xfrm>
            <a:off x="-1" y="5806572"/>
            <a:ext cx="1102141" cy="1052444"/>
            <a:chOff x="-1" y="5806572"/>
            <a:chExt cx="1102141" cy="1052444"/>
          </a:xfrm>
        </p:grpSpPr>
        <p:pic>
          <p:nvPicPr>
            <p:cNvPr id="15" name="Picture 14">
              <a:extLst>
                <a:ext uri="{FF2B5EF4-FFF2-40B4-BE49-F238E27FC236}">
                  <a16:creationId xmlns:a16="http://schemas.microsoft.com/office/drawing/2014/main" id="{23F4469A-2B88-FED9-DA92-C28FA6FE6368}"/>
                </a:ext>
              </a:extLst>
            </p:cNvPr>
            <p:cNvPicPr>
              <a:picLocks noChangeAspect="1"/>
            </p:cNvPicPr>
            <p:nvPr/>
          </p:nvPicPr>
          <p:blipFill rotWithShape="1">
            <a:blip r:embed="rId9"/>
            <a:srcRect l="49545" b="51820"/>
            <a:stretch/>
          </p:blipFill>
          <p:spPr>
            <a:xfrm>
              <a:off x="-1" y="5806572"/>
              <a:ext cx="1102141" cy="1052444"/>
            </a:xfrm>
            <a:prstGeom prst="rect">
              <a:avLst/>
            </a:prstGeom>
          </p:spPr>
        </p:pic>
        <p:sp>
          <p:nvSpPr>
            <p:cNvPr id="16" name="Title 1">
              <a:extLst>
                <a:ext uri="{FF2B5EF4-FFF2-40B4-BE49-F238E27FC236}">
                  <a16:creationId xmlns:a16="http://schemas.microsoft.com/office/drawing/2014/main" id="{4FF7015A-AFED-3B9C-5480-53B3CE79166D}"/>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19</a:t>
              </a:r>
            </a:p>
          </p:txBody>
        </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2234B0-B8FD-E3B1-FDFA-E3C35CE08131}"/>
                  </a:ext>
                </a:extLst>
              </p:cNvPr>
              <p:cNvSpPr txBox="1"/>
              <p:nvPr/>
            </p:nvSpPr>
            <p:spPr>
              <a:xfrm>
                <a:off x="7471190" y="4455453"/>
                <a:ext cx="2430794" cy="369332"/>
              </a:xfrm>
              <a:prstGeom prst="rect">
                <a:avLst/>
              </a:prstGeom>
              <a:noFill/>
            </p:spPr>
            <p:txBody>
              <a:bodyPr wrap="none" rtlCol="0">
                <a:spAutoFit/>
              </a:bodyPr>
              <a:lstStyle/>
              <a:p>
                <a:r>
                  <a:rPr lang="en-GB" sz="1600" kern="100" dirty="0">
                    <a:ea typeface="Aptos" panose="020B0004020202020204" pitchFamily="34" charset="0"/>
                    <a:cs typeface="Times New Roman" panose="02020603050405020304" pitchFamily="18" charset="0"/>
                  </a:rPr>
                  <a:t>non-magnetisation </a:t>
                </a:r>
                <a14:m>
                  <m:oMath xmlns:m="http://schemas.openxmlformats.org/officeDocument/2006/math">
                    <m:r>
                      <a:rPr lang="en-GB" b="0" i="1" kern="100" smtClean="0">
                        <a:effectLst/>
                        <a:latin typeface="Cambria Math" panose="02040503050406030204" pitchFamily="18" charset="0"/>
                        <a:ea typeface="Aptos" panose="020B0004020202020204" pitchFamily="34" charset="0"/>
                        <a:cs typeface="Times New Roman" panose="02020603050405020304" pitchFamily="18" charset="0"/>
                      </a:rPr>
                      <m:t>𝜇</m:t>
                    </m:r>
                    <m:r>
                      <m:rPr>
                        <m:nor/>
                      </m:rPr>
                      <a:rPr lang="en-GB" b="0" i="0" kern="100" smtClean="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GB" b="0" i="1" kern="100" smtClean="0">
                            <a:effectLst/>
                            <a:latin typeface="Cambria Math" panose="02040503050406030204" pitchFamily="18" charset="0"/>
                            <a:ea typeface="Aptos" panose="020B0004020202020204" pitchFamily="34" charset="0"/>
                            <a:cs typeface="Times New Roman" panose="02020603050405020304" pitchFamily="18" charset="0"/>
                          </a:rPr>
                        </m:ctrlPr>
                      </m:sSubPr>
                      <m:e>
                        <m:r>
                          <a:rPr lang="en-GB" b="0" i="1" kern="100" smtClean="0">
                            <a:effectLst/>
                            <a:latin typeface="Cambria Math" panose="02040503050406030204" pitchFamily="18" charset="0"/>
                            <a:ea typeface="Aptos" panose="020B0004020202020204" pitchFamily="34" charset="0"/>
                            <a:cs typeface="Times New Roman" panose="02020603050405020304" pitchFamily="18" charset="0"/>
                          </a:rPr>
                          <m:t>𝜇</m:t>
                        </m:r>
                      </m:e>
                      <m:sub>
                        <m:r>
                          <a:rPr lang="en-GB" b="0" i="1" kern="100" smtClean="0">
                            <a:effectLst/>
                            <a:latin typeface="Cambria Math" panose="02040503050406030204" pitchFamily="18" charset="0"/>
                            <a:ea typeface="Aptos" panose="020B0004020202020204" pitchFamily="34" charset="0"/>
                            <a:cs typeface="Times New Roman" panose="02020603050405020304" pitchFamily="18" charset="0"/>
                          </a:rPr>
                          <m:t>0</m:t>
                        </m:r>
                      </m:sub>
                    </m:sSub>
                  </m:oMath>
                </a14:m>
                <a:endParaRPr lang="en-GB" i="1"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422234B0-B8FD-E3B1-FDFA-E3C35CE08131}"/>
                  </a:ext>
                </a:extLst>
              </p:cNvPr>
              <p:cNvSpPr txBox="1">
                <a:spLocks noRot="1" noChangeAspect="1" noMove="1" noResize="1" noEditPoints="1" noAdjustHandles="1" noChangeArrowheads="1" noChangeShapeType="1" noTextEdit="1"/>
              </p:cNvSpPr>
              <p:nvPr/>
            </p:nvSpPr>
            <p:spPr>
              <a:xfrm>
                <a:off x="7471190" y="4455453"/>
                <a:ext cx="2430794" cy="369332"/>
              </a:xfrm>
              <a:prstGeom prst="rect">
                <a:avLst/>
              </a:prstGeom>
              <a:blipFill>
                <a:blip r:embed="rId10"/>
                <a:stretch>
                  <a:fillRect l="-1563" b="-16667"/>
                </a:stretch>
              </a:blipFill>
            </p:spPr>
            <p:txBody>
              <a:bodyPr/>
              <a:lstStyle/>
              <a:p>
                <a:r>
                  <a:rPr lang="en-US">
                    <a:noFill/>
                  </a:rPr>
                  <a:t> </a:t>
                </a:r>
              </a:p>
            </p:txBody>
          </p:sp>
        </mc:Fallback>
      </mc:AlternateContent>
    </p:spTree>
    <p:extLst>
      <p:ext uri="{BB962C8B-B14F-4D97-AF65-F5344CB8AC3E}">
        <p14:creationId xmlns:p14="http://schemas.microsoft.com/office/powerpoint/2010/main" val="3764588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lang="en-US" sz="4400" dirty="0">
                <a:latin typeface="DIN Alternate" panose="020B0500000000000000" pitchFamily="34" charset="77"/>
              </a:rPr>
              <a:t>The Lorentz (Bulk) Force</a:t>
            </a:r>
            <a:endParaRPr lang="en-US" dirty="0">
              <a:latin typeface="DIN Alternate" panose="020B0500000000000000" pitchFamily="34" charset="77"/>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199" y="1598783"/>
                <a:ext cx="3951515" cy="4906691"/>
              </a:xfrm>
            </p:spPr>
            <p:txBody>
              <a:bodyPr anchor="ctr">
                <a:normAutofit/>
              </a:bodyPr>
              <a:lstStyle/>
              <a:p>
                <a:pPr>
                  <a:spcAft>
                    <a:spcPts val="1000"/>
                  </a:spcAft>
                </a:pPr>
                <a:r>
                  <a:rPr lang="en-GB" sz="2000" dirty="0">
                    <a:latin typeface="Microsoft Sans Serif" panose="020B0604020202020204" pitchFamily="34" charset="0"/>
                    <a:cs typeface="Microsoft Sans Serif" panose="020B0604020202020204" pitchFamily="34" charset="0"/>
                  </a:rPr>
                  <a:t>Both cases are identical before the last crystal</a:t>
                </a:r>
                <a:endParaRPr lang="en-GB" sz="2000" dirty="0">
                  <a:effectLst/>
                  <a:latin typeface="Microsoft Sans Serif" panose="020B0604020202020204" pitchFamily="34" charset="0"/>
                  <a:cs typeface="Microsoft Sans Serif" panose="020B0604020202020204" pitchFamily="34" charset="0"/>
                </a:endParaRPr>
              </a:p>
              <a:p>
                <a:pPr>
                  <a:spcAft>
                    <a:spcPts val="1000"/>
                  </a:spcAft>
                </a:pPr>
                <a:r>
                  <a:rPr lang="en-GB" sz="2000" dirty="0">
                    <a:effectLst/>
                    <a:latin typeface="Microsoft Sans Serif" panose="020B0604020202020204" pitchFamily="34" charset="0"/>
                    <a:cs typeface="Microsoft Sans Serif" panose="020B0604020202020204" pitchFamily="34" charset="0"/>
                  </a:rPr>
                  <a:t>Sharpening of force surface density peaks </a:t>
                </a:r>
                <a:r>
                  <a:rPr lang="en-GB" sz="2000" dirty="0">
                    <a:latin typeface="Microsoft Sans Serif" panose="020B0604020202020204" pitchFamily="34" charset="0"/>
                    <a:cs typeface="Microsoft Sans Serif" panose="020B0604020202020204" pitchFamily="34" charset="0"/>
                  </a:rPr>
                  <a:t>with </a:t>
                </a:r>
                <a14:m>
                  <m:oMath xmlns:m="http://schemas.openxmlformats.org/officeDocument/2006/math">
                    <m:sSub>
                      <m:sSubPr>
                        <m:ctrlPr>
                          <a:rPr lang="en-US" sz="2000" b="0" i="1" dirty="0" smtClean="0">
                            <a:latin typeface="Cambria Math" panose="02040503050406030204" pitchFamily="18" charset="0"/>
                            <a:cs typeface="Microsoft Sans Serif" panose="020B0604020202020204" pitchFamily="34" charset="0"/>
                          </a:rPr>
                        </m:ctrlPr>
                      </m:sSubPr>
                      <m:e>
                        <m:r>
                          <a:rPr lang="en-GB" sz="2000" i="1" dirty="0" smtClean="0">
                            <a:latin typeface="Cambria Math" panose="02040503050406030204" pitchFamily="18" charset="0"/>
                            <a:cs typeface="Microsoft Sans Serif" panose="020B0604020202020204" pitchFamily="34" charset="0"/>
                          </a:rPr>
                          <m:t>𝑛</m:t>
                        </m:r>
                      </m:e>
                      <m:sub>
                        <m:r>
                          <a:rPr lang="en-GB" sz="2000" i="1" dirty="0" smtClean="0">
                            <a:latin typeface="Cambria Math" panose="02040503050406030204" pitchFamily="18" charset="0"/>
                            <a:cs typeface="Microsoft Sans Serif" panose="020B0604020202020204" pitchFamily="34" charset="0"/>
                          </a:rPr>
                          <m:t>𝑒𝑓𝑓</m:t>
                        </m:r>
                      </m:sub>
                    </m:sSub>
                  </m:oMath>
                </a14:m>
                <a:endParaRPr lang="en-GB" sz="2000" dirty="0">
                  <a:effectLst/>
                  <a:latin typeface="Microsoft Sans Serif" panose="020B0604020202020204" pitchFamily="34" charset="0"/>
                  <a:cs typeface="Microsoft Sans Serif" panose="020B0604020202020204" pitchFamily="34" charset="0"/>
                </a:endParaRPr>
              </a:p>
              <a:p>
                <a:pPr>
                  <a:spcAft>
                    <a:spcPts val="1000"/>
                  </a:spcAft>
                </a:pPr>
                <a:r>
                  <a:rPr lang="en-GB" sz="2000" dirty="0">
                    <a:effectLst/>
                    <a:latin typeface="Microsoft Sans Serif" panose="020B0604020202020204" pitchFamily="34" charset="0"/>
                    <a:cs typeface="Microsoft Sans Serif" panose="020B0604020202020204" pitchFamily="34" charset="0"/>
                  </a:rPr>
                  <a:t>Minkowski-like behaviour </a:t>
                </a:r>
              </a:p>
              <a:p>
                <a:pPr>
                  <a:spcAft>
                    <a:spcPts val="1000"/>
                  </a:spcAft>
                </a:pPr>
                <a:r>
                  <a:rPr lang="en-GB" sz="2000" dirty="0">
                    <a:latin typeface="Microsoft Sans Serif" panose="020B0604020202020204" pitchFamily="34" charset="0"/>
                    <a:cs typeface="Microsoft Sans Serif" panose="020B0604020202020204" pitchFamily="34" charset="0"/>
                  </a:rPr>
                  <a:t>No </a:t>
                </a:r>
                <a14:m>
                  <m:oMath xmlns:m="http://schemas.openxmlformats.org/officeDocument/2006/math">
                    <m:r>
                      <a:rPr lang="en-US" sz="2000" i="1" dirty="0">
                        <a:latin typeface="Cambria Math" panose="02040503050406030204" pitchFamily="18" charset="0"/>
                        <a:ea typeface="Cambria Math" panose="02040503050406030204" pitchFamily="18" charset="0"/>
                        <a:cs typeface="Microsoft Sans Serif" panose="020B0604020202020204" pitchFamily="34" charset="0"/>
                      </a:rPr>
                      <m:t>∝</m:t>
                    </m:r>
                    <m:sSub>
                      <m:sSubPr>
                        <m:ctrlPr>
                          <a:rPr lang="en-US" sz="2000" i="1" dirty="0">
                            <a:latin typeface="Cambria Math" panose="02040503050406030204" pitchFamily="18" charset="0"/>
                            <a:cs typeface="Microsoft Sans Serif" panose="020B0604020202020204" pitchFamily="34" charset="0"/>
                          </a:rPr>
                        </m:ctrlPr>
                      </m:sSubPr>
                      <m:e>
                        <m:r>
                          <a:rPr lang="en-GB" sz="2000" i="1" dirty="0">
                            <a:latin typeface="Cambria Math" panose="02040503050406030204" pitchFamily="18" charset="0"/>
                            <a:cs typeface="Microsoft Sans Serif" panose="020B0604020202020204" pitchFamily="34" charset="0"/>
                          </a:rPr>
                          <m:t>𝑛</m:t>
                        </m:r>
                      </m:e>
                      <m:sub>
                        <m:r>
                          <a:rPr lang="en-GB" sz="2000" i="1" dirty="0">
                            <a:latin typeface="Cambria Math" panose="02040503050406030204" pitchFamily="18" charset="0"/>
                            <a:cs typeface="Microsoft Sans Serif" panose="020B0604020202020204" pitchFamily="34" charset="0"/>
                          </a:rPr>
                          <m:t>𝑒𝑓𝑓</m:t>
                        </m:r>
                      </m:sub>
                    </m:sSub>
                  </m:oMath>
                </a14:m>
                <a:r>
                  <a:rPr lang="en-GB" sz="2000" dirty="0">
                    <a:latin typeface="Microsoft Sans Serif" panose="020B0604020202020204" pitchFamily="34" charset="0"/>
                    <a:cs typeface="Microsoft Sans Serif" panose="020B0604020202020204" pitchFamily="34" charset="0"/>
                  </a:rPr>
                  <a:t> dependence</a:t>
                </a:r>
              </a:p>
              <a:p>
                <a:pPr>
                  <a:spcAft>
                    <a:spcPts val="1000"/>
                  </a:spcAft>
                </a:pPr>
                <a:r>
                  <a:rPr lang="en-GB" sz="2000" dirty="0">
                    <a:latin typeface="Microsoft Sans Serif" panose="020B0604020202020204" pitchFamily="34" charset="0"/>
                    <a:cs typeface="Microsoft Sans Serif" panose="020B0604020202020204" pitchFamily="34" charset="0"/>
                  </a:rPr>
                  <a:t>No force in vacuum</a:t>
                </a: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199" y="1598783"/>
                <a:ext cx="3951515" cy="4906691"/>
              </a:xfrm>
              <a:blipFill>
                <a:blip r:embed="rId3"/>
                <a:stretch>
                  <a:fillRect l="-1278" r="-159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207FB43-B524-8D6E-0B40-6E72DB4D352D}"/>
              </a:ext>
            </a:extLst>
          </p:cNvPr>
          <p:cNvSpPr txBox="1"/>
          <p:nvPr/>
        </p:nvSpPr>
        <p:spPr>
          <a:xfrm>
            <a:off x="5053276" y="5110498"/>
            <a:ext cx="6866581" cy="584775"/>
          </a:xfrm>
          <a:prstGeom prst="rect">
            <a:avLst/>
          </a:prstGeom>
          <a:noFill/>
        </p:spPr>
        <p:txBody>
          <a:bodyPr wrap="square">
            <a:spAutoFit/>
          </a:bodyPr>
          <a:lstStyle/>
          <a:p>
            <a:pPr algn="just">
              <a:spcAft>
                <a:spcPts val="600"/>
              </a:spcAft>
            </a:pPr>
            <a:r>
              <a:rPr lang="en-GB" sz="1600" dirty="0">
                <a:latin typeface="Quicksand"/>
              </a:rPr>
              <a:t>Fig. 13: Z-force surface densities in medium layers at different times before reflection.</a:t>
            </a:r>
          </a:p>
        </p:txBody>
      </p:sp>
      <p:pic>
        <p:nvPicPr>
          <p:cNvPr id="7" name="Picture 6" descr="A graph with a line graph&#10;&#10;Description automatically generated with medium confidence">
            <a:extLst>
              <a:ext uri="{FF2B5EF4-FFF2-40B4-BE49-F238E27FC236}">
                <a16:creationId xmlns:a16="http://schemas.microsoft.com/office/drawing/2014/main" id="{E0A024CD-5871-D1C6-1CB3-D1488C9B1E56}"/>
              </a:ext>
            </a:extLst>
          </p:cNvPr>
          <p:cNvPicPr>
            <a:picLocks noChangeAspect="1"/>
          </p:cNvPicPr>
          <p:nvPr/>
        </p:nvPicPr>
        <p:blipFill rotWithShape="1">
          <a:blip r:embed="rId4"/>
          <a:srcRect l="4731" t="5421" r="9285"/>
          <a:stretch/>
        </p:blipFill>
        <p:spPr>
          <a:xfrm>
            <a:off x="5053276" y="2046432"/>
            <a:ext cx="6866581" cy="3021184"/>
          </a:xfrm>
          <a:prstGeom prst="rect">
            <a:avLst/>
          </a:prstGeom>
        </p:spPr>
      </p:pic>
      <p:grpSp>
        <p:nvGrpSpPr>
          <p:cNvPr id="5" name="Group 4">
            <a:extLst>
              <a:ext uri="{FF2B5EF4-FFF2-40B4-BE49-F238E27FC236}">
                <a16:creationId xmlns:a16="http://schemas.microsoft.com/office/drawing/2014/main" id="{91DA8EC6-8821-B6AA-C204-796D8DBE2B6E}"/>
              </a:ext>
            </a:extLst>
          </p:cNvPr>
          <p:cNvGrpSpPr/>
          <p:nvPr/>
        </p:nvGrpSpPr>
        <p:grpSpPr>
          <a:xfrm>
            <a:off x="-1" y="5806572"/>
            <a:ext cx="1102141" cy="1052444"/>
            <a:chOff x="-1" y="5806572"/>
            <a:chExt cx="1102141" cy="1052444"/>
          </a:xfrm>
        </p:grpSpPr>
        <p:pic>
          <p:nvPicPr>
            <p:cNvPr id="6" name="Picture 5">
              <a:extLst>
                <a:ext uri="{FF2B5EF4-FFF2-40B4-BE49-F238E27FC236}">
                  <a16:creationId xmlns:a16="http://schemas.microsoft.com/office/drawing/2014/main" id="{9B454957-13F8-8F42-71AE-47DEA95A1A59}"/>
                </a:ext>
              </a:extLst>
            </p:cNvPr>
            <p:cNvPicPr>
              <a:picLocks noChangeAspect="1"/>
            </p:cNvPicPr>
            <p:nvPr/>
          </p:nvPicPr>
          <p:blipFill rotWithShape="1">
            <a:blip r:embed="rId5"/>
            <a:srcRect l="49545" b="51820"/>
            <a:stretch/>
          </p:blipFill>
          <p:spPr>
            <a:xfrm>
              <a:off x="-1" y="5806572"/>
              <a:ext cx="1102141" cy="1052444"/>
            </a:xfrm>
            <a:prstGeom prst="rect">
              <a:avLst/>
            </a:prstGeom>
          </p:spPr>
        </p:pic>
        <p:sp>
          <p:nvSpPr>
            <p:cNvPr id="8" name="Title 1">
              <a:extLst>
                <a:ext uri="{FF2B5EF4-FFF2-40B4-BE49-F238E27FC236}">
                  <a16:creationId xmlns:a16="http://schemas.microsoft.com/office/drawing/2014/main" id="{1DC4E095-547B-D615-002C-EECDA23AB21E}"/>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20</a:t>
              </a:r>
            </a:p>
          </p:txBody>
        </p:sp>
      </p:grpSp>
    </p:spTree>
    <p:extLst>
      <p:ext uri="{BB962C8B-B14F-4D97-AF65-F5344CB8AC3E}">
        <p14:creationId xmlns:p14="http://schemas.microsoft.com/office/powerpoint/2010/main" val="573950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Impulse</a:t>
            </a:r>
            <a:endParaRPr lang="en-US" dirty="0">
              <a:latin typeface="DIN Alternate" panose="020B0500000000000000" pitchFamily="34" charset="77"/>
            </a:endParaRPr>
          </a:p>
        </p:txBody>
      </p:sp>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199" y="1598783"/>
            <a:ext cx="5886692" cy="4906691"/>
          </a:xfrm>
        </p:spPr>
        <p:txBody>
          <a:bodyPr anchor="ctr">
            <a:normAutofit/>
          </a:bodyPr>
          <a:lstStyle/>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Numerical integration over time</a:t>
            </a:r>
          </a:p>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Sum over periods of an OS section for total impulse surface density imparted </a:t>
            </a:r>
          </a:p>
          <a:p>
            <a:pPr>
              <a:spcBef>
                <a:spcPts val="2200"/>
              </a:spcBef>
              <a:spcAft>
                <a:spcPts val="2200"/>
              </a:spcAft>
            </a:pPr>
            <a:r>
              <a:rPr lang="en-GB" sz="2000" dirty="0">
                <a:latin typeface="Microsoft Sans Serif" panose="020B0604020202020204" pitchFamily="34" charset="0"/>
                <a:cs typeface="Microsoft Sans Serif" panose="020B0604020202020204" pitchFamily="34" charset="0"/>
              </a:rPr>
              <a:t>Normalise with respect to the original momentum surface density of the pulse</a:t>
            </a:r>
            <a:endParaRPr lang="en-US" sz="2000" dirty="0">
              <a:latin typeface="Microsoft Sans Serif" panose="020B0604020202020204" pitchFamily="34" charset="0"/>
              <a:cs typeface="Microsoft Sans Serif"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CFB4D7-CD3A-4EC7-DF88-A0409B08335E}"/>
                  </a:ext>
                </a:extLst>
              </p:cNvPr>
              <p:cNvSpPr txBox="1"/>
              <p:nvPr/>
            </p:nvSpPr>
            <p:spPr>
              <a:xfrm>
                <a:off x="6899673" y="2335496"/>
                <a:ext cx="4674998" cy="10935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GB" sz="2200" kern="100" smtClean="0">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2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𝜂</m:t>
                          </m:r>
                        </m:e>
                        <m:sub>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𝑧</m:t>
                          </m:r>
                        </m:sub>
                      </m:sSub>
                      <m:d>
                        <m:d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m:t>
                      </m:r>
                      <m:nary>
                        <m:nary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naryPr>
                        <m:sub>
                          <m:sSub>
                            <m:sSub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sub>
                        <m:sup>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sup>
                        <m:e>
                          <m:sSub>
                            <m:sSub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f</m:t>
                              </m:r>
                            </m:e>
                            <m:sub>
                              <m:r>
                                <m:rPr>
                                  <m:sty m:val="p"/>
                                </m:rP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z</m:t>
                              </m:r>
                            </m:sub>
                          </m:sSub>
                          <m:d>
                            <m:d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p>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e>
                          </m:d>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𝑑</m:t>
                          </m:r>
                          <m:sSup>
                            <m:sSup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p>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e>
                      </m:nary>
                      <m: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naryPr>
                        <m:sub>
                          <m:sSup>
                            <m:sSup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p>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0</m:t>
                              </m:r>
                            </m:sub>
                          </m:sSub>
                        </m:sub>
                        <m:sup>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sup>
                        <m:e>
                          <m:sSub>
                            <m:sSub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f</m:t>
                              </m:r>
                            </m:e>
                            <m:sub>
                              <m:r>
                                <m:rPr>
                                  <m:sty m:val="p"/>
                                </m:rP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z</m:t>
                              </m:r>
                            </m:sub>
                          </m:sSub>
                          <m:d>
                            <m:d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p>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e>
                          </m:d>
                          <m:r>
                            <m:rPr>
                              <m:sty m:val="p"/>
                            </m:rP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Δ</m:t>
                          </m:r>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nary>
                    </m:oMath>
                  </m:oMathPara>
                </a14:m>
                <a:endParaRPr lang="en-GB" sz="22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11CFB4D7-CD3A-4EC7-DF88-A0409B08335E}"/>
                  </a:ext>
                </a:extLst>
              </p:cNvPr>
              <p:cNvSpPr txBox="1">
                <a:spLocks noRot="1" noChangeAspect="1" noMove="1" noResize="1" noEditPoints="1" noAdjustHandles="1" noChangeArrowheads="1" noChangeShapeType="1" noTextEdit="1"/>
              </p:cNvSpPr>
              <p:nvPr/>
            </p:nvSpPr>
            <p:spPr>
              <a:xfrm>
                <a:off x="6899673" y="2335496"/>
                <a:ext cx="4674998" cy="1093504"/>
              </a:xfrm>
              <a:prstGeom prst="rect">
                <a:avLst/>
              </a:prstGeom>
              <a:blipFill>
                <a:blip r:embed="rId3"/>
                <a:stretch>
                  <a:fillRect t="-110227" b="-1647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60BF1B6-7F7D-DF5F-BAA2-EC240AAECE82}"/>
                  </a:ext>
                </a:extLst>
              </p:cNvPr>
              <p:cNvSpPr txBox="1"/>
              <p:nvPr/>
            </p:nvSpPr>
            <p:spPr>
              <a:xfrm>
                <a:off x="6820425" y="4512353"/>
                <a:ext cx="4833494" cy="8836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limLoc m:val="subSup"/>
                          <m:ctrlPr>
                            <a:rPr lang="en-GB" sz="22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𝑆</m:t>
                          </m:r>
                        </m:sub>
                        <m:sup/>
                        <m:e>
                          <m:acc>
                            <m:accPr>
                              <m:chr m:val="⃡"/>
                              <m:ctrlPr>
                                <a:rPr lang="en-GB" sz="2200" b="1" i="1">
                                  <a:latin typeface="Cambria Math" panose="02040503050406030204" pitchFamily="18" charset="0"/>
                                </a:rPr>
                              </m:ctrlPr>
                            </m:accPr>
                            <m:e>
                              <m:r>
                                <a:rPr lang="en-US" sz="2200" b="1">
                                  <a:latin typeface="Cambria Math" panose="02040503050406030204" pitchFamily="18" charset="0"/>
                                </a:rPr>
                                <m:t>𝐓</m:t>
                              </m:r>
                            </m:e>
                          </m:acc>
                          <m:r>
                            <a:rPr lang="en-GB" sz="2200"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GB" sz="2200" i="1" kern="100">
                              <a:effectLst/>
                              <a:latin typeface="Cambria Math" panose="02040503050406030204" pitchFamily="18" charset="0"/>
                              <a:ea typeface="Times New Roman" panose="02020603050405020304" pitchFamily="18" charset="0"/>
                              <a:cs typeface="Times New Roman" panose="02020603050405020304" pitchFamily="18" charset="0"/>
                            </a:rPr>
                            <m:t>𝑑</m:t>
                          </m:r>
                          <m:r>
                            <a:rPr lang="en-US" sz="2200" b="1" i="0" kern="100" smtClean="0">
                              <a:effectLst/>
                              <a:latin typeface="Cambria Math" panose="02040503050406030204" pitchFamily="18" charset="0"/>
                              <a:ea typeface="Times New Roman" panose="02020603050405020304" pitchFamily="18" charset="0"/>
                              <a:cs typeface="Times New Roman" panose="02020603050405020304" pitchFamily="18" charset="0"/>
                            </a:rPr>
                            <m:t>𝐒</m:t>
                          </m:r>
                        </m:e>
                      </m:nary>
                      <m:r>
                        <a:rPr lang="en-US" sz="2200" b="0" i="0" kern="100" smtClean="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ctrlPr>
                            <a:rPr lang="en-US" sz="2200" b="0" i="1" kern="100" smtClean="0">
                              <a:effectLst/>
                              <a:latin typeface="Cambria Math" panose="02040503050406030204" pitchFamily="18" charset="0"/>
                              <a:cs typeface="Times New Roman" panose="02020603050405020304" pitchFamily="18" charset="0"/>
                            </a:rPr>
                          </m:ctrlPr>
                        </m:naryPr>
                        <m:sub>
                          <m:r>
                            <m:rPr>
                              <m:brk m:alnAt="23"/>
                            </m:rPr>
                            <a:rPr lang="en-US" sz="2200" b="0" i="1" kern="100" smtClean="0">
                              <a:effectLst/>
                              <a:latin typeface="Cambria Math" panose="02040503050406030204" pitchFamily="18" charset="0"/>
                              <a:cs typeface="Times New Roman" panose="02020603050405020304" pitchFamily="18" charset="0"/>
                            </a:rPr>
                            <m:t>𝑉</m:t>
                          </m:r>
                        </m:sub>
                        <m:sup/>
                        <m:e>
                          <m:d>
                            <m:dPr>
                              <m:ctrlPr>
                                <a:rPr lang="en-US" sz="2200" b="0" i="1" kern="100" smtClean="0">
                                  <a:effectLst/>
                                  <a:latin typeface="Cambria Math" panose="02040503050406030204" pitchFamily="18" charset="0"/>
                                  <a:cs typeface="Times New Roman" panose="02020603050405020304" pitchFamily="18" charset="0"/>
                                </a:rPr>
                              </m:ctrlPr>
                            </m:dPr>
                            <m:e>
                              <m:r>
                                <a:rPr lang="en-US" sz="2200" b="1" kern="100">
                                  <a:latin typeface="Cambria Math" panose="02040503050406030204" pitchFamily="18" charset="0"/>
                                  <a:cs typeface="Times New Roman" panose="02020603050405020304" pitchFamily="18" charset="0"/>
                                </a:rPr>
                                <m:t>𝐟</m:t>
                              </m:r>
                              <m:r>
                                <a:rPr lang="en-US" sz="2200" b="1" kern="100">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Microsoft Sans Serif" panose="020B0604020202020204" pitchFamily="34" charset="0"/>
                                    </a:rPr>
                                  </m:ctrlPr>
                                </m:fPr>
                                <m:num>
                                  <m:r>
                                    <a:rPr lang="en-US" sz="2200" i="1">
                                      <a:latin typeface="Cambria Math" panose="02040503050406030204" pitchFamily="18" charset="0"/>
                                      <a:cs typeface="Microsoft Sans Serif" panose="020B0604020202020204" pitchFamily="34" charset="0"/>
                                    </a:rPr>
                                    <m:t>1</m:t>
                                  </m:r>
                                </m:num>
                                <m:den>
                                  <m:sSup>
                                    <m:sSupPr>
                                      <m:ctrlPr>
                                        <a:rPr lang="en-US" sz="2200" i="1">
                                          <a:latin typeface="Cambria Math" panose="02040503050406030204" pitchFamily="18" charset="0"/>
                                          <a:cs typeface="Microsoft Sans Serif" panose="020B0604020202020204" pitchFamily="34" charset="0"/>
                                        </a:rPr>
                                      </m:ctrlPr>
                                    </m:sSupPr>
                                    <m:e>
                                      <m:r>
                                        <a:rPr lang="en-US" sz="2200" i="1">
                                          <a:latin typeface="Cambria Math" panose="02040503050406030204" pitchFamily="18" charset="0"/>
                                          <a:cs typeface="Microsoft Sans Serif" panose="020B0604020202020204" pitchFamily="34" charset="0"/>
                                        </a:rPr>
                                        <m:t>𝑐</m:t>
                                      </m:r>
                                    </m:e>
                                    <m:sup>
                                      <m:r>
                                        <a:rPr lang="en-US" sz="2200" i="1">
                                          <a:latin typeface="Cambria Math" panose="02040503050406030204" pitchFamily="18" charset="0"/>
                                          <a:cs typeface="Microsoft Sans Serif" panose="020B0604020202020204" pitchFamily="34" charset="0"/>
                                        </a:rPr>
                                        <m:t>2</m:t>
                                      </m:r>
                                    </m:sup>
                                  </m:sSup>
                                </m:den>
                              </m:f>
                              <m:f>
                                <m:fPr>
                                  <m:ctrlPr>
                                    <a:rPr lang="en-US" sz="2200" i="1">
                                      <a:latin typeface="Cambria Math" panose="02040503050406030204" pitchFamily="18" charset="0"/>
                                      <a:cs typeface="Microsoft Sans Serif" panose="020B0604020202020204" pitchFamily="34" charset="0"/>
                                    </a:rPr>
                                  </m:ctrlPr>
                                </m:fPr>
                                <m:num>
                                  <m:r>
                                    <a:rPr lang="en-US" sz="2200" i="1">
                                      <a:latin typeface="Cambria Math" panose="02040503050406030204" pitchFamily="18" charset="0"/>
                                      <a:cs typeface="Microsoft Sans Serif" panose="020B0604020202020204" pitchFamily="34" charset="0"/>
                                    </a:rPr>
                                    <m:t>𝜕</m:t>
                                  </m:r>
                                  <m:r>
                                    <a:rPr lang="en-US" sz="2200" b="1">
                                      <a:latin typeface="Cambria Math" panose="02040503050406030204" pitchFamily="18" charset="0"/>
                                      <a:cs typeface="Microsoft Sans Serif" panose="020B0604020202020204" pitchFamily="34" charset="0"/>
                                    </a:rPr>
                                    <m:t>𝐒</m:t>
                                  </m:r>
                                </m:num>
                                <m:den>
                                  <m:r>
                                    <a:rPr lang="en-US" sz="2200" i="1">
                                      <a:latin typeface="Cambria Math" panose="02040503050406030204" pitchFamily="18" charset="0"/>
                                      <a:cs typeface="Microsoft Sans Serif" panose="020B0604020202020204" pitchFamily="34" charset="0"/>
                                    </a:rPr>
                                    <m:t>𝜕</m:t>
                                  </m:r>
                                  <m:r>
                                    <a:rPr lang="en-US" sz="2200" i="1">
                                      <a:latin typeface="Cambria Math" panose="02040503050406030204" pitchFamily="18" charset="0"/>
                                      <a:cs typeface="Microsoft Sans Serif" panose="020B0604020202020204" pitchFamily="34" charset="0"/>
                                    </a:rPr>
                                    <m:t>𝑡</m:t>
                                  </m:r>
                                </m:den>
                              </m:f>
                            </m:e>
                          </m:d>
                          <m:r>
                            <a:rPr lang="en-US" sz="2200" b="0" i="1" kern="100" smtClean="0">
                              <a:effectLst/>
                              <a:latin typeface="Cambria Math" panose="02040503050406030204" pitchFamily="18" charset="0"/>
                              <a:cs typeface="Times New Roman" panose="02020603050405020304" pitchFamily="18" charset="0"/>
                            </a:rPr>
                            <m:t>𝑑𝑉</m:t>
                          </m:r>
                        </m:e>
                      </m:nary>
                    </m:oMath>
                  </m:oMathPara>
                </a14:m>
                <a:endParaRPr lang="en-US" sz="2200" dirty="0"/>
              </a:p>
            </p:txBody>
          </p:sp>
        </mc:Choice>
        <mc:Fallback xmlns="">
          <p:sp>
            <p:nvSpPr>
              <p:cNvPr id="7" name="TextBox 6">
                <a:extLst>
                  <a:ext uri="{FF2B5EF4-FFF2-40B4-BE49-F238E27FC236}">
                    <a16:creationId xmlns:a16="http://schemas.microsoft.com/office/drawing/2014/main" id="{360BF1B6-7F7D-DF5F-BAA2-EC240AAECE82}"/>
                  </a:ext>
                </a:extLst>
              </p:cNvPr>
              <p:cNvSpPr txBox="1">
                <a:spLocks noRot="1" noChangeAspect="1" noMove="1" noResize="1" noEditPoints="1" noAdjustHandles="1" noChangeArrowheads="1" noChangeShapeType="1" noTextEdit="1"/>
              </p:cNvSpPr>
              <p:nvPr/>
            </p:nvSpPr>
            <p:spPr>
              <a:xfrm>
                <a:off x="6820425" y="4512353"/>
                <a:ext cx="4833494" cy="883640"/>
              </a:xfrm>
              <a:prstGeom prst="rect">
                <a:avLst/>
              </a:prstGeom>
              <a:blipFill>
                <a:blip r:embed="rId4"/>
                <a:stretch>
                  <a:fillRect l="-16273" t="-147143" b="-225714"/>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8589CEC9-62A5-9C7C-1DA4-B2BC715D4937}"/>
              </a:ext>
            </a:extLst>
          </p:cNvPr>
          <p:cNvGrpSpPr/>
          <p:nvPr/>
        </p:nvGrpSpPr>
        <p:grpSpPr>
          <a:xfrm>
            <a:off x="-1" y="5806572"/>
            <a:ext cx="1102141" cy="1052444"/>
            <a:chOff x="-1" y="5806572"/>
            <a:chExt cx="1102141" cy="1052444"/>
          </a:xfrm>
        </p:grpSpPr>
        <p:pic>
          <p:nvPicPr>
            <p:cNvPr id="9" name="Picture 8">
              <a:extLst>
                <a:ext uri="{FF2B5EF4-FFF2-40B4-BE49-F238E27FC236}">
                  <a16:creationId xmlns:a16="http://schemas.microsoft.com/office/drawing/2014/main" id="{4F8FD19D-997A-B909-FFF3-FE3B3E010F6F}"/>
                </a:ext>
              </a:extLst>
            </p:cNvPr>
            <p:cNvPicPr>
              <a:picLocks noChangeAspect="1"/>
            </p:cNvPicPr>
            <p:nvPr/>
          </p:nvPicPr>
          <p:blipFill rotWithShape="1">
            <a:blip r:embed="rId5"/>
            <a:srcRect l="49545" b="51820"/>
            <a:stretch/>
          </p:blipFill>
          <p:spPr>
            <a:xfrm>
              <a:off x="-1" y="5806572"/>
              <a:ext cx="1102141" cy="1052444"/>
            </a:xfrm>
            <a:prstGeom prst="rect">
              <a:avLst/>
            </a:prstGeom>
          </p:spPr>
        </p:pic>
        <p:sp>
          <p:nvSpPr>
            <p:cNvPr id="10" name="Title 1">
              <a:extLst>
                <a:ext uri="{FF2B5EF4-FFF2-40B4-BE49-F238E27FC236}">
                  <a16:creationId xmlns:a16="http://schemas.microsoft.com/office/drawing/2014/main" id="{A24C567B-983F-C587-DC32-712583526F49}"/>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21</a:t>
              </a:r>
            </a:p>
          </p:txBody>
        </p:sp>
      </p:grpSp>
    </p:spTree>
    <p:extLst>
      <p:ext uri="{BB962C8B-B14F-4D97-AF65-F5344CB8AC3E}">
        <p14:creationId xmlns:p14="http://schemas.microsoft.com/office/powerpoint/2010/main" val="560493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Impulse</a:t>
            </a:r>
            <a:endParaRPr lang="en-US" dirty="0">
              <a:latin typeface="DIN Alternate" panose="020B0500000000000000" pitchFamily="34" charset="77"/>
            </a:endParaRPr>
          </a:p>
        </p:txBody>
      </p:sp>
      <p:grpSp>
        <p:nvGrpSpPr>
          <p:cNvPr id="12" name="Group 11">
            <a:extLst>
              <a:ext uri="{FF2B5EF4-FFF2-40B4-BE49-F238E27FC236}">
                <a16:creationId xmlns:a16="http://schemas.microsoft.com/office/drawing/2014/main" id="{490DD9EE-C537-5B12-3838-025A3F9B7397}"/>
              </a:ext>
            </a:extLst>
          </p:cNvPr>
          <p:cNvGrpSpPr/>
          <p:nvPr/>
        </p:nvGrpSpPr>
        <p:grpSpPr>
          <a:xfrm>
            <a:off x="-1" y="5806572"/>
            <a:ext cx="1102141" cy="1052444"/>
            <a:chOff x="-1" y="5806572"/>
            <a:chExt cx="1102141" cy="1052444"/>
          </a:xfrm>
        </p:grpSpPr>
        <p:pic>
          <p:nvPicPr>
            <p:cNvPr id="13" name="Picture 12">
              <a:extLst>
                <a:ext uri="{FF2B5EF4-FFF2-40B4-BE49-F238E27FC236}">
                  <a16:creationId xmlns:a16="http://schemas.microsoft.com/office/drawing/2014/main" id="{D4BD7EF4-A708-A044-FE06-DF43BF8D42A1}"/>
                </a:ext>
              </a:extLst>
            </p:cNvPr>
            <p:cNvPicPr>
              <a:picLocks noChangeAspect="1"/>
            </p:cNvPicPr>
            <p:nvPr/>
          </p:nvPicPr>
          <p:blipFill rotWithShape="1">
            <a:blip r:embed="rId3"/>
            <a:srcRect l="49545" b="51820"/>
            <a:stretch/>
          </p:blipFill>
          <p:spPr>
            <a:xfrm>
              <a:off x="-1" y="5806572"/>
              <a:ext cx="1102141" cy="1052444"/>
            </a:xfrm>
            <a:prstGeom prst="rect">
              <a:avLst/>
            </a:prstGeom>
          </p:spPr>
        </p:pic>
        <p:sp>
          <p:nvSpPr>
            <p:cNvPr id="14" name="Title 1">
              <a:extLst>
                <a:ext uri="{FF2B5EF4-FFF2-40B4-BE49-F238E27FC236}">
                  <a16:creationId xmlns:a16="http://schemas.microsoft.com/office/drawing/2014/main" id="{86B9F699-CD91-47D6-0D94-8117FEF74BF1}"/>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22</a:t>
              </a:r>
            </a:p>
          </p:txBody>
        </p:sp>
      </p:grpSp>
      <p:pic>
        <p:nvPicPr>
          <p:cNvPr id="33" name="Content Placeholder 32" descr="A graph with lines and numbers&#10;&#10;Description automatically generated with medium confidence">
            <a:extLst>
              <a:ext uri="{FF2B5EF4-FFF2-40B4-BE49-F238E27FC236}">
                <a16:creationId xmlns:a16="http://schemas.microsoft.com/office/drawing/2014/main" id="{D6D51843-AB27-0687-66D1-3F3C2B46B6C9}"/>
              </a:ext>
            </a:extLst>
          </p:cNvPr>
          <p:cNvPicPr>
            <a:picLocks noGrp="1" noChangeAspect="1"/>
          </p:cNvPicPr>
          <p:nvPr>
            <p:ph idx="1"/>
          </p:nvPr>
        </p:nvPicPr>
        <p:blipFill rotWithShape="1">
          <a:blip r:embed="rId4"/>
          <a:srcRect l="3507" t="5113" r="8510"/>
          <a:stretch/>
        </p:blipFill>
        <p:spPr>
          <a:xfrm>
            <a:off x="291401" y="2017846"/>
            <a:ext cx="5621075" cy="3031083"/>
          </a:xfrm>
        </p:spPr>
      </p:pic>
      <p:pic>
        <p:nvPicPr>
          <p:cNvPr id="39" name="Picture 38" descr="A graph of a graph showing a number of objects&#10;&#10;Description automatically generated with medium confidence">
            <a:extLst>
              <a:ext uri="{FF2B5EF4-FFF2-40B4-BE49-F238E27FC236}">
                <a16:creationId xmlns:a16="http://schemas.microsoft.com/office/drawing/2014/main" id="{973A0CE2-EBEE-A0D1-73CC-A414518FACAC}"/>
              </a:ext>
            </a:extLst>
          </p:cNvPr>
          <p:cNvPicPr>
            <a:picLocks noChangeAspect="1"/>
          </p:cNvPicPr>
          <p:nvPr/>
        </p:nvPicPr>
        <p:blipFill rotWithShape="1">
          <a:blip r:embed="rId5"/>
          <a:srcRect l="3507" t="5113" r="8510"/>
          <a:stretch/>
        </p:blipFill>
        <p:spPr>
          <a:xfrm>
            <a:off x="6279524" y="2017845"/>
            <a:ext cx="5621075" cy="3031083"/>
          </a:xfrm>
          <a:prstGeom prst="rect">
            <a:avLst/>
          </a:prstGeom>
        </p:spPr>
      </p:pic>
      <p:sp>
        <p:nvSpPr>
          <p:cNvPr id="3" name="TextBox 2">
            <a:extLst>
              <a:ext uri="{FF2B5EF4-FFF2-40B4-BE49-F238E27FC236}">
                <a16:creationId xmlns:a16="http://schemas.microsoft.com/office/drawing/2014/main" id="{F419A35B-CA36-0782-F56F-AFDA747FA364}"/>
              </a:ext>
            </a:extLst>
          </p:cNvPr>
          <p:cNvSpPr txBox="1"/>
          <p:nvPr/>
        </p:nvSpPr>
        <p:spPr>
          <a:xfrm>
            <a:off x="291401" y="5092681"/>
            <a:ext cx="11609198" cy="584775"/>
          </a:xfrm>
          <a:prstGeom prst="rect">
            <a:avLst/>
          </a:prstGeom>
          <a:noFill/>
        </p:spPr>
        <p:txBody>
          <a:bodyPr wrap="square">
            <a:spAutoFit/>
          </a:bodyPr>
          <a:lstStyle/>
          <a:p>
            <a:pPr algn="just">
              <a:spcAft>
                <a:spcPts val="600"/>
              </a:spcAft>
            </a:pPr>
            <a:r>
              <a:rPr lang="en-GB" sz="1600" dirty="0">
                <a:latin typeface="Quicksand"/>
              </a:rPr>
              <a:t>Fig. 14: Accumulated z-impulses as a function of time in crystals 1 and 2 for both optical systems and momentum flux calculation methods. The bands mark times of major boundary interactions.</a:t>
            </a:r>
          </a:p>
        </p:txBody>
      </p:sp>
      <p:sp>
        <p:nvSpPr>
          <p:cNvPr id="5" name="TextBox 4">
            <a:extLst>
              <a:ext uri="{FF2B5EF4-FFF2-40B4-BE49-F238E27FC236}">
                <a16:creationId xmlns:a16="http://schemas.microsoft.com/office/drawing/2014/main" id="{BA7EAE85-DC16-04B5-AE2C-F0AD7248EBC4}"/>
              </a:ext>
            </a:extLst>
          </p:cNvPr>
          <p:cNvSpPr txBox="1"/>
          <p:nvPr/>
        </p:nvSpPr>
        <p:spPr>
          <a:xfrm>
            <a:off x="7138250" y="6376119"/>
            <a:ext cx="5183848" cy="338554"/>
          </a:xfrm>
          <a:prstGeom prst="rect">
            <a:avLst/>
          </a:prstGeom>
          <a:noFill/>
        </p:spPr>
        <p:txBody>
          <a:bodyPr wrap="square">
            <a:spAutoFit/>
          </a:bodyPr>
          <a:lstStyle/>
          <a:p>
            <a:pPr algn="just">
              <a:spcAft>
                <a:spcPts val="600"/>
              </a:spcAft>
            </a:pPr>
            <a:r>
              <a:rPr lang="en-GB" sz="1600" dirty="0">
                <a:latin typeface="Quicksand"/>
              </a:rPr>
              <a:t>*The graphs are corrected versions of those in the report.</a:t>
            </a:r>
          </a:p>
        </p:txBody>
      </p:sp>
    </p:spTree>
    <p:extLst>
      <p:ext uri="{BB962C8B-B14F-4D97-AF65-F5344CB8AC3E}">
        <p14:creationId xmlns:p14="http://schemas.microsoft.com/office/powerpoint/2010/main" val="334100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Impulse</a:t>
            </a:r>
            <a:endParaRPr lang="en-US" dirty="0">
              <a:latin typeface="DIN Alternate" panose="020B0500000000000000" pitchFamily="34" charset="77"/>
            </a:endParaRPr>
          </a:p>
        </p:txBody>
      </p:sp>
      <p:grpSp>
        <p:nvGrpSpPr>
          <p:cNvPr id="12" name="Group 11">
            <a:extLst>
              <a:ext uri="{FF2B5EF4-FFF2-40B4-BE49-F238E27FC236}">
                <a16:creationId xmlns:a16="http://schemas.microsoft.com/office/drawing/2014/main" id="{490DD9EE-C537-5B12-3838-025A3F9B7397}"/>
              </a:ext>
            </a:extLst>
          </p:cNvPr>
          <p:cNvGrpSpPr/>
          <p:nvPr/>
        </p:nvGrpSpPr>
        <p:grpSpPr>
          <a:xfrm>
            <a:off x="-1" y="5806572"/>
            <a:ext cx="1102141" cy="1052444"/>
            <a:chOff x="-1" y="5806572"/>
            <a:chExt cx="1102141" cy="1052444"/>
          </a:xfrm>
        </p:grpSpPr>
        <p:pic>
          <p:nvPicPr>
            <p:cNvPr id="13" name="Picture 12">
              <a:extLst>
                <a:ext uri="{FF2B5EF4-FFF2-40B4-BE49-F238E27FC236}">
                  <a16:creationId xmlns:a16="http://schemas.microsoft.com/office/drawing/2014/main" id="{D4BD7EF4-A708-A044-FE06-DF43BF8D42A1}"/>
                </a:ext>
              </a:extLst>
            </p:cNvPr>
            <p:cNvPicPr>
              <a:picLocks noChangeAspect="1"/>
            </p:cNvPicPr>
            <p:nvPr/>
          </p:nvPicPr>
          <p:blipFill rotWithShape="1">
            <a:blip r:embed="rId3"/>
            <a:srcRect l="49545" b="51820"/>
            <a:stretch/>
          </p:blipFill>
          <p:spPr>
            <a:xfrm>
              <a:off x="-1" y="5806572"/>
              <a:ext cx="1102141" cy="1052444"/>
            </a:xfrm>
            <a:prstGeom prst="rect">
              <a:avLst/>
            </a:prstGeom>
          </p:spPr>
        </p:pic>
        <p:sp>
          <p:nvSpPr>
            <p:cNvPr id="14" name="Title 1">
              <a:extLst>
                <a:ext uri="{FF2B5EF4-FFF2-40B4-BE49-F238E27FC236}">
                  <a16:creationId xmlns:a16="http://schemas.microsoft.com/office/drawing/2014/main" id="{86B9F699-CD91-47D6-0D94-8117FEF74BF1}"/>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23</a:t>
              </a:r>
            </a:p>
          </p:txBody>
        </p:sp>
      </p:grpSp>
      <p:pic>
        <p:nvPicPr>
          <p:cNvPr id="37" name="Picture 36" descr="A graph with different colored lines&#10;&#10;Description automatically generated">
            <a:extLst>
              <a:ext uri="{FF2B5EF4-FFF2-40B4-BE49-F238E27FC236}">
                <a16:creationId xmlns:a16="http://schemas.microsoft.com/office/drawing/2014/main" id="{F7871A9A-667F-A1B2-2FF6-362958268E2A}"/>
              </a:ext>
            </a:extLst>
          </p:cNvPr>
          <p:cNvPicPr>
            <a:picLocks noChangeAspect="1"/>
          </p:cNvPicPr>
          <p:nvPr/>
        </p:nvPicPr>
        <p:blipFill rotWithShape="1">
          <a:blip r:embed="rId4"/>
          <a:srcRect l="3744" t="4809" r="8473"/>
          <a:stretch/>
        </p:blipFill>
        <p:spPr>
          <a:xfrm>
            <a:off x="6310202" y="2017845"/>
            <a:ext cx="5590399" cy="3031083"/>
          </a:xfrm>
          <a:prstGeom prst="rect">
            <a:avLst/>
          </a:prstGeom>
        </p:spPr>
      </p:pic>
      <p:sp>
        <p:nvSpPr>
          <p:cNvPr id="43" name="TextBox 42">
            <a:extLst>
              <a:ext uri="{FF2B5EF4-FFF2-40B4-BE49-F238E27FC236}">
                <a16:creationId xmlns:a16="http://schemas.microsoft.com/office/drawing/2014/main" id="{1875358F-986A-081E-D030-A5DE1BC4FD88}"/>
              </a:ext>
            </a:extLst>
          </p:cNvPr>
          <p:cNvSpPr txBox="1"/>
          <p:nvPr/>
        </p:nvSpPr>
        <p:spPr>
          <a:xfrm>
            <a:off x="291401" y="5092681"/>
            <a:ext cx="11609198" cy="584775"/>
          </a:xfrm>
          <a:prstGeom prst="rect">
            <a:avLst/>
          </a:prstGeom>
          <a:noFill/>
        </p:spPr>
        <p:txBody>
          <a:bodyPr wrap="square">
            <a:spAutoFit/>
          </a:bodyPr>
          <a:lstStyle/>
          <a:p>
            <a:pPr algn="just">
              <a:spcAft>
                <a:spcPts val="600"/>
              </a:spcAft>
            </a:pPr>
            <a:r>
              <a:rPr lang="en-GB" sz="1600" dirty="0">
                <a:latin typeface="Quicksand"/>
              </a:rPr>
              <a:t>Fig. 15: Accumulated z-impulses as a function of time in the DBR/final vacuum crystal and for the whole system for both optical systems and momentum flux calculation methods. The bands mark times of major boundary interactions.</a:t>
            </a:r>
          </a:p>
        </p:txBody>
      </p:sp>
      <p:pic>
        <p:nvPicPr>
          <p:cNvPr id="47" name="Picture 46" descr="A graph of a graph showing a number of different colors&#10;&#10;Description automatically generated with medium confidence">
            <a:extLst>
              <a:ext uri="{FF2B5EF4-FFF2-40B4-BE49-F238E27FC236}">
                <a16:creationId xmlns:a16="http://schemas.microsoft.com/office/drawing/2014/main" id="{18722CC0-69F9-F6FF-1FDB-B6B04161D648}"/>
              </a:ext>
            </a:extLst>
          </p:cNvPr>
          <p:cNvPicPr>
            <a:picLocks noChangeAspect="1"/>
          </p:cNvPicPr>
          <p:nvPr/>
        </p:nvPicPr>
        <p:blipFill rotWithShape="1">
          <a:blip r:embed="rId5"/>
          <a:srcRect l="4079" t="4655" r="6678"/>
          <a:stretch/>
        </p:blipFill>
        <p:spPr>
          <a:xfrm>
            <a:off x="174332" y="2017845"/>
            <a:ext cx="5707467" cy="3048898"/>
          </a:xfrm>
          <a:prstGeom prst="rect">
            <a:avLst/>
          </a:prstGeom>
        </p:spPr>
      </p:pic>
      <p:sp>
        <p:nvSpPr>
          <p:cNvPr id="3" name="TextBox 2">
            <a:extLst>
              <a:ext uri="{FF2B5EF4-FFF2-40B4-BE49-F238E27FC236}">
                <a16:creationId xmlns:a16="http://schemas.microsoft.com/office/drawing/2014/main" id="{D241A05E-0170-02E0-B1AD-7F445237B42F}"/>
              </a:ext>
            </a:extLst>
          </p:cNvPr>
          <p:cNvSpPr txBox="1"/>
          <p:nvPr/>
        </p:nvSpPr>
        <p:spPr>
          <a:xfrm>
            <a:off x="7138250" y="6376119"/>
            <a:ext cx="5183848" cy="338554"/>
          </a:xfrm>
          <a:prstGeom prst="rect">
            <a:avLst/>
          </a:prstGeom>
          <a:noFill/>
        </p:spPr>
        <p:txBody>
          <a:bodyPr wrap="square">
            <a:spAutoFit/>
          </a:bodyPr>
          <a:lstStyle/>
          <a:p>
            <a:pPr algn="just">
              <a:spcAft>
                <a:spcPts val="600"/>
              </a:spcAft>
            </a:pPr>
            <a:r>
              <a:rPr lang="en-GB" sz="1600" dirty="0">
                <a:latin typeface="Quicksand"/>
              </a:rPr>
              <a:t>*The graphs are corrected versions of those in the report.</a:t>
            </a:r>
          </a:p>
        </p:txBody>
      </p:sp>
    </p:spTree>
    <p:extLst>
      <p:ext uri="{BB962C8B-B14F-4D97-AF65-F5344CB8AC3E}">
        <p14:creationId xmlns:p14="http://schemas.microsoft.com/office/powerpoint/2010/main" val="47381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kumimoji="0" lang="en-US" sz="4400" b="0" i="0" u="none" strike="noStrike" kern="1200" cap="none" spc="0" normalizeH="0" baseline="0" noProof="0" dirty="0">
                <a:ln>
                  <a:noFill/>
                </a:ln>
                <a:effectLst/>
                <a:uLnTx/>
                <a:uFillTx/>
                <a:latin typeface="DIN Alternate" panose="020B0500000000000000" pitchFamily="34" charset="77"/>
                <a:ea typeface="+mn-ea"/>
                <a:cs typeface="+mn-cs"/>
              </a:rPr>
              <a:t>Impulse</a:t>
            </a:r>
            <a:endParaRPr lang="en-US" dirty="0">
              <a:latin typeface="DIN Alternate" panose="020B0500000000000000" pitchFamily="34" charset="77"/>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199" y="1598783"/>
                <a:ext cx="5475515" cy="4906691"/>
              </a:xfrm>
            </p:spPr>
            <p:txBody>
              <a:bodyPr anchor="ctr">
                <a:normAutofit/>
              </a:bodyPr>
              <a:lstStyle/>
              <a:p>
                <a:pPr>
                  <a:spcAft>
                    <a:spcPts val="1000"/>
                  </a:spcAft>
                </a:pPr>
                <a:r>
                  <a:rPr lang="en-GB" sz="2000" dirty="0">
                    <a:latin typeface="Microsoft Sans Serif" panose="020B0604020202020204" pitchFamily="34" charset="0"/>
                    <a:cs typeface="Microsoft Sans Serif" panose="020B0604020202020204" pitchFamily="34" charset="0"/>
                  </a:rPr>
                  <a:t>T</a:t>
                </a:r>
                <a:r>
                  <a:rPr lang="en-GB" sz="2000" dirty="0">
                    <a:effectLst/>
                    <a:latin typeface="Microsoft Sans Serif" panose="020B0604020202020204" pitchFamily="34" charset="0"/>
                    <a:cs typeface="Microsoft Sans Serif" panose="020B0604020202020204" pitchFamily="34" charset="0"/>
                  </a:rPr>
                  <a:t>ransient behaviour is different due to the non-uniqueness of the MST</a:t>
                </a:r>
              </a:p>
              <a:p>
                <a:pPr lvl="1">
                  <a:spcBef>
                    <a:spcPts val="1000"/>
                  </a:spcBef>
                  <a:spcAft>
                    <a:spcPts val="1000"/>
                  </a:spcAft>
                  <a:buFont typeface="Wingdings" pitchFamily="2" charset="2"/>
                  <a:buChar char="§"/>
                </a:pPr>
                <a14:m>
                  <m:oMath xmlns:m="http://schemas.openxmlformats.org/officeDocument/2006/math">
                    <m:r>
                      <a:rPr lang="en-US" sz="2000" b="1" smtClean="0">
                        <a:latin typeface="Cambria Math" panose="02040503050406030204" pitchFamily="18" charset="0"/>
                      </a:rPr>
                      <m:t>𝛁</m:t>
                    </m:r>
                    <m:r>
                      <a:rPr lang="en-US" sz="2000" b="1" i="1">
                        <a:latin typeface="Cambria Math" panose="02040503050406030204" pitchFamily="18" charset="0"/>
                      </a:rPr>
                      <m:t> ⋅</m:t>
                    </m:r>
                    <m:acc>
                      <m:accPr>
                        <m:chr m:val="⃡"/>
                        <m:ctrlPr>
                          <a:rPr lang="en-GB" sz="2000" b="1" i="1">
                            <a:latin typeface="Cambria Math" panose="02040503050406030204" pitchFamily="18" charset="0"/>
                          </a:rPr>
                        </m:ctrlPr>
                      </m:accPr>
                      <m:e>
                        <m:r>
                          <a:rPr lang="en-US" sz="2000" b="1">
                            <a:latin typeface="Cambria Math" panose="02040503050406030204" pitchFamily="18" charset="0"/>
                          </a:rPr>
                          <m:t>𝐓</m:t>
                        </m:r>
                      </m:e>
                    </m:acc>
                    <m:r>
                      <a:rPr lang="en-US" sz="2000" b="1">
                        <a:latin typeface="Cambria Math" panose="02040503050406030204" pitchFamily="18" charset="0"/>
                      </a:rPr>
                      <m:t>′</m:t>
                    </m:r>
                    <m:r>
                      <a:rPr lang="en-US" sz="2000" b="1" i="1">
                        <a:latin typeface="Cambria Math" panose="02040503050406030204" pitchFamily="18" charset="0"/>
                      </a:rPr>
                      <m:t>=</m:t>
                    </m:r>
                    <m:r>
                      <a:rPr lang="en-US" sz="2000" b="1" i="1" smtClean="0">
                        <a:latin typeface="Cambria Math" panose="02040503050406030204" pitchFamily="18" charset="0"/>
                      </a:rPr>
                      <m:t>𝟎</m:t>
                    </m:r>
                  </m:oMath>
                </a14:m>
                <a:r>
                  <a:rPr lang="en-US" sz="2000" dirty="0"/>
                  <a:t> </a:t>
                </a:r>
                <a:r>
                  <a:rPr lang="en-US" sz="2000" dirty="0">
                    <a:latin typeface="Microsoft Sans Serif" panose="020B0604020202020204" pitchFamily="34" charset="0"/>
                    <a:cs typeface="Microsoft Sans Serif" panose="020B0604020202020204" pitchFamily="34" charset="0"/>
                  </a:rPr>
                  <a:t>or</a:t>
                </a:r>
                <a:r>
                  <a:rPr lang="en-US" sz="2000" dirty="0"/>
                  <a:t> </a:t>
                </a:r>
                <a14:m>
                  <m:oMath xmlns:m="http://schemas.openxmlformats.org/officeDocument/2006/math">
                    <m:r>
                      <a:rPr lang="en-US" sz="2000" b="1">
                        <a:latin typeface="Cambria Math" panose="02040503050406030204" pitchFamily="18" charset="0"/>
                      </a:rPr>
                      <m:t>𝛁</m:t>
                    </m:r>
                    <m:r>
                      <a:rPr lang="en-US" sz="2000" b="1" i="1">
                        <a:latin typeface="Cambria Math" panose="02040503050406030204" pitchFamily="18" charset="0"/>
                      </a:rPr>
                      <m:t> ⋅</m:t>
                    </m:r>
                    <m:acc>
                      <m:accPr>
                        <m:chr m:val="⃡"/>
                        <m:ctrlPr>
                          <a:rPr lang="en-GB" sz="2000" b="1" i="1">
                            <a:latin typeface="Cambria Math" panose="02040503050406030204" pitchFamily="18" charset="0"/>
                          </a:rPr>
                        </m:ctrlPr>
                      </m:accPr>
                      <m:e>
                        <m:r>
                          <a:rPr lang="en-US" sz="2000" b="1">
                            <a:latin typeface="Cambria Math" panose="02040503050406030204" pitchFamily="18" charset="0"/>
                          </a:rPr>
                          <m:t>𝐓</m:t>
                        </m:r>
                      </m:e>
                    </m:acc>
                    <m:r>
                      <a:rPr lang="en-US" sz="2000" b="1">
                        <a:latin typeface="Cambria Math" panose="02040503050406030204" pitchFamily="18" charset="0"/>
                      </a:rPr>
                      <m:t>′</m:t>
                    </m:r>
                    <m:r>
                      <a:rPr lang="en-US" sz="2000" b="1" i="1">
                        <a:latin typeface="Cambria Math" panose="02040503050406030204" pitchFamily="18" charset="0"/>
                      </a:rPr>
                      <m:t>=−</m:t>
                    </m:r>
                    <m:f>
                      <m:fPr>
                        <m:ctrlPr>
                          <a:rPr lang="en-US" sz="2000" b="1" i="1">
                            <a:latin typeface="Cambria Math" panose="02040503050406030204" pitchFamily="18" charset="0"/>
                          </a:rPr>
                        </m:ctrlPr>
                      </m:fPr>
                      <m:num>
                        <m:r>
                          <a:rPr lang="en-US" sz="2000" b="1" i="1">
                            <a:latin typeface="Cambria Math" panose="02040503050406030204" pitchFamily="18" charset="0"/>
                          </a:rPr>
                          <m:t>𝝏</m:t>
                        </m:r>
                        <m:acc>
                          <m:accPr>
                            <m:chr m:val="⃡"/>
                            <m:ctrlPr>
                              <a:rPr lang="en-GB" sz="2000" b="1" i="1">
                                <a:latin typeface="Cambria Math" panose="02040503050406030204" pitchFamily="18" charset="0"/>
                              </a:rPr>
                            </m:ctrlPr>
                          </m:accPr>
                          <m:e>
                            <m:r>
                              <a:rPr lang="en-US" sz="2000" b="1">
                                <a:latin typeface="Cambria Math" panose="02040503050406030204" pitchFamily="18" charset="0"/>
                              </a:rPr>
                              <m:t>𝐓</m:t>
                            </m:r>
                          </m:e>
                        </m:acc>
                        <m:r>
                          <a:rPr lang="en-US" sz="2000" b="1">
                            <a:latin typeface="Cambria Math" panose="02040503050406030204" pitchFamily="18" charset="0"/>
                          </a:rPr>
                          <m:t>′</m:t>
                        </m:r>
                      </m:num>
                      <m:den>
                        <m:r>
                          <a:rPr lang="en-US" sz="2000" b="1" i="1">
                            <a:latin typeface="Cambria Math" panose="02040503050406030204" pitchFamily="18" charset="0"/>
                          </a:rPr>
                          <m:t>𝝏</m:t>
                        </m:r>
                        <m:r>
                          <a:rPr lang="en-US" sz="2000" b="1" i="1">
                            <a:latin typeface="Cambria Math" panose="02040503050406030204" pitchFamily="18" charset="0"/>
                          </a:rPr>
                          <m:t>𝒕</m:t>
                        </m:r>
                      </m:den>
                    </m:f>
                  </m:oMath>
                </a14:m>
                <a:r>
                  <a:rPr lang="en-US" sz="2000" dirty="0"/>
                  <a:t> </a:t>
                </a:r>
                <a:endParaRPr lang="en-GB" sz="2000" dirty="0">
                  <a:effectLst/>
                  <a:latin typeface="Microsoft Sans Serif" panose="020B0604020202020204" pitchFamily="34" charset="0"/>
                  <a:cs typeface="Microsoft Sans Serif" panose="020B0604020202020204" pitchFamily="34" charset="0"/>
                </a:endParaRPr>
              </a:p>
              <a:p>
                <a:pPr>
                  <a:spcAft>
                    <a:spcPts val="1000"/>
                  </a:spcAft>
                </a:pPr>
                <a:r>
                  <a:rPr lang="en-GB" sz="2000" dirty="0">
                    <a:latin typeface="Microsoft Sans Serif" panose="020B0604020202020204" pitchFamily="34" charset="0"/>
                    <a:cs typeface="Microsoft Sans Serif" panose="020B0604020202020204" pitchFamily="34" charset="0"/>
                  </a:rPr>
                  <a:t>Momentum is conserved</a:t>
                </a:r>
                <a:endParaRPr lang="en-GB" sz="2000" dirty="0">
                  <a:effectLst/>
                  <a:latin typeface="Microsoft Sans Serif" panose="020B0604020202020204" pitchFamily="34" charset="0"/>
                  <a:cs typeface="Microsoft Sans Serif" panose="020B0604020202020204" pitchFamily="34" charset="0"/>
                </a:endParaRPr>
              </a:p>
              <a:p>
                <a:pPr>
                  <a:spcAft>
                    <a:spcPts val="1000"/>
                  </a:spcAft>
                </a:pPr>
                <a:r>
                  <a:rPr lang="en-GB" sz="2000" dirty="0">
                    <a:effectLst/>
                    <a:latin typeface="Microsoft Sans Serif" panose="020B0604020202020204" pitchFamily="34" charset="0"/>
                    <a:cs typeface="Microsoft Sans Serif" panose="020B0604020202020204" pitchFamily="34" charset="0"/>
                  </a:rPr>
                  <a:t>Experimentally, only the total impulse could be measure</a:t>
                </a:r>
                <a:r>
                  <a:rPr lang="en-GB" sz="2000" dirty="0">
                    <a:latin typeface="Microsoft Sans Serif" panose="020B0604020202020204" pitchFamily="34" charset="0"/>
                    <a:cs typeface="Microsoft Sans Serif" panose="020B0604020202020204" pitchFamily="34" charset="0"/>
                  </a:rPr>
                  <a:t>d</a:t>
                </a: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199" y="1598783"/>
                <a:ext cx="5475515" cy="4906691"/>
              </a:xfrm>
              <a:blipFill>
                <a:blip r:embed="rId3"/>
                <a:stretch>
                  <a:fillRect l="-92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CCF3FE2-DFF9-6531-9143-E4BB6864F992}"/>
              </a:ext>
            </a:extLst>
          </p:cNvPr>
          <p:cNvSpPr txBox="1"/>
          <p:nvPr/>
        </p:nvSpPr>
        <p:spPr>
          <a:xfrm>
            <a:off x="6363409" y="5754723"/>
            <a:ext cx="5589106" cy="830997"/>
          </a:xfrm>
          <a:prstGeom prst="rect">
            <a:avLst/>
          </a:prstGeom>
          <a:noFill/>
        </p:spPr>
        <p:txBody>
          <a:bodyPr wrap="square">
            <a:spAutoFit/>
          </a:bodyPr>
          <a:lstStyle/>
          <a:p>
            <a:pPr algn="just">
              <a:spcAft>
                <a:spcPts val="600"/>
              </a:spcAft>
            </a:pPr>
            <a:r>
              <a:rPr lang="en-GB" sz="1600" dirty="0">
                <a:latin typeface="Quicksand"/>
              </a:rPr>
              <a:t>Fig. 16: Accumulated z-impulses as a function of time in the different system sections. The bands mark times of major boundary interactions.</a:t>
            </a:r>
          </a:p>
        </p:txBody>
      </p:sp>
      <p:grpSp>
        <p:nvGrpSpPr>
          <p:cNvPr id="12" name="Group 11">
            <a:extLst>
              <a:ext uri="{FF2B5EF4-FFF2-40B4-BE49-F238E27FC236}">
                <a16:creationId xmlns:a16="http://schemas.microsoft.com/office/drawing/2014/main" id="{490DD9EE-C537-5B12-3838-025A3F9B7397}"/>
              </a:ext>
            </a:extLst>
          </p:cNvPr>
          <p:cNvGrpSpPr/>
          <p:nvPr/>
        </p:nvGrpSpPr>
        <p:grpSpPr>
          <a:xfrm>
            <a:off x="-1" y="5806572"/>
            <a:ext cx="1102141" cy="1052444"/>
            <a:chOff x="-1" y="5806572"/>
            <a:chExt cx="1102141" cy="1052444"/>
          </a:xfrm>
        </p:grpSpPr>
        <p:pic>
          <p:nvPicPr>
            <p:cNvPr id="13" name="Picture 12">
              <a:extLst>
                <a:ext uri="{FF2B5EF4-FFF2-40B4-BE49-F238E27FC236}">
                  <a16:creationId xmlns:a16="http://schemas.microsoft.com/office/drawing/2014/main" id="{D4BD7EF4-A708-A044-FE06-DF43BF8D42A1}"/>
                </a:ext>
              </a:extLst>
            </p:cNvPr>
            <p:cNvPicPr>
              <a:picLocks noChangeAspect="1"/>
            </p:cNvPicPr>
            <p:nvPr/>
          </p:nvPicPr>
          <p:blipFill rotWithShape="1">
            <a:blip r:embed="rId4"/>
            <a:srcRect l="49545" b="51820"/>
            <a:stretch/>
          </p:blipFill>
          <p:spPr>
            <a:xfrm>
              <a:off x="-1" y="5806572"/>
              <a:ext cx="1102141" cy="1052444"/>
            </a:xfrm>
            <a:prstGeom prst="rect">
              <a:avLst/>
            </a:prstGeom>
          </p:spPr>
        </p:pic>
        <p:sp>
          <p:nvSpPr>
            <p:cNvPr id="14" name="Title 1">
              <a:extLst>
                <a:ext uri="{FF2B5EF4-FFF2-40B4-BE49-F238E27FC236}">
                  <a16:creationId xmlns:a16="http://schemas.microsoft.com/office/drawing/2014/main" id="{86B9F699-CD91-47D6-0D94-8117FEF74BF1}"/>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24</a:t>
              </a:r>
            </a:p>
          </p:txBody>
        </p:sp>
      </p:grpSp>
      <p:pic>
        <p:nvPicPr>
          <p:cNvPr id="8" name="Picture 7" descr="A graph of a diagram&#10;&#10;Description automatically generated with medium confidence">
            <a:extLst>
              <a:ext uri="{FF2B5EF4-FFF2-40B4-BE49-F238E27FC236}">
                <a16:creationId xmlns:a16="http://schemas.microsoft.com/office/drawing/2014/main" id="{2963A2B6-4852-86C1-2A64-4E245895EC03}"/>
              </a:ext>
            </a:extLst>
          </p:cNvPr>
          <p:cNvPicPr>
            <a:picLocks noChangeAspect="1"/>
          </p:cNvPicPr>
          <p:nvPr/>
        </p:nvPicPr>
        <p:blipFill rotWithShape="1">
          <a:blip r:embed="rId5"/>
          <a:srcRect l="4920" t="8889" r="7619" b="6349"/>
          <a:stretch/>
        </p:blipFill>
        <p:spPr>
          <a:xfrm>
            <a:off x="6313715" y="166033"/>
            <a:ext cx="5638799" cy="5464824"/>
          </a:xfrm>
          <a:prstGeom prst="rect">
            <a:avLst/>
          </a:prstGeom>
        </p:spPr>
      </p:pic>
    </p:spTree>
    <p:extLst>
      <p:ext uri="{BB962C8B-B14F-4D97-AF65-F5344CB8AC3E}">
        <p14:creationId xmlns:p14="http://schemas.microsoft.com/office/powerpoint/2010/main" val="3045349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lang="en-US" dirty="0">
                <a:latin typeface="DIN Alternate" panose="020B0500000000000000" pitchFamily="34" charset="77"/>
              </a:rPr>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200" y="1351051"/>
                <a:ext cx="10776858" cy="4985802"/>
              </a:xfrm>
            </p:spPr>
            <p:txBody>
              <a:bodyPr anchor="ctr">
                <a:normAutofit/>
              </a:bodyPr>
              <a:lstStyle/>
              <a:p>
                <a:pPr>
                  <a:spcAft>
                    <a:spcPts val="1200"/>
                  </a:spcAft>
                </a:pPr>
                <a:r>
                  <a:rPr lang="en-GB" sz="2000" dirty="0">
                    <a:latin typeface="Microsoft Sans Serif" panose="020B0604020202020204" pitchFamily="34" charset="0"/>
                    <a:cs typeface="Microsoft Sans Serif" panose="020B0604020202020204" pitchFamily="34" charset="0"/>
                  </a:rPr>
                  <a:t>We developed computational tools to visualise the field momentum of light waves in dielectric media</a:t>
                </a:r>
              </a:p>
              <a:p>
                <a:pPr>
                  <a:spcAft>
                    <a:spcPts val="1200"/>
                  </a:spcAft>
                </a:pPr>
                <a:r>
                  <a:rPr lang="en-GB" sz="2000" dirty="0">
                    <a:latin typeface="Microsoft Sans Serif" panose="020B0604020202020204" pitchFamily="34" charset="0"/>
                    <a:cs typeface="Microsoft Sans Serif" panose="020B0604020202020204" pitchFamily="34" charset="0"/>
                  </a:rPr>
                  <a:t>We simulated optical media as 1D photonic crystals and employed the TMM to find the</a:t>
                </a:r>
                <a:br>
                  <a:rPr lang="en-GB" sz="2000" dirty="0">
                    <a:latin typeface="Microsoft Sans Serif" panose="020B0604020202020204" pitchFamily="34" charset="0"/>
                    <a:cs typeface="Microsoft Sans Serif" panose="020B0604020202020204" pitchFamily="34" charset="0"/>
                  </a:rPr>
                </a:br>
                <a:r>
                  <a:rPr lang="en-GB" sz="2000" dirty="0">
                    <a:latin typeface="Microsoft Sans Serif" panose="020B0604020202020204" pitchFamily="34" charset="0"/>
                    <a:cs typeface="Microsoft Sans Serif" panose="020B0604020202020204" pitchFamily="34" charset="0"/>
                  </a:rPr>
                  <a:t>fields of a pulse at the different elements of the system</a:t>
                </a:r>
              </a:p>
              <a:p>
                <a:pPr>
                  <a:spcAft>
                    <a:spcPts val="1200"/>
                  </a:spcAft>
                </a:pPr>
                <a:r>
                  <a:rPr lang="en-GB" sz="2000" dirty="0">
                    <a:latin typeface="Microsoft Sans Serif" panose="020B0604020202020204" pitchFamily="34" charset="0"/>
                    <a:cs typeface="Microsoft Sans Serif" panose="020B0604020202020204" pitchFamily="34" charset="0"/>
                  </a:rPr>
                  <a:t>Results:</a:t>
                </a:r>
              </a:p>
              <a:p>
                <a:pPr lvl="1">
                  <a:spcAft>
                    <a:spcPts val="1200"/>
                  </a:spcAft>
                  <a:buFont typeface="Wingdings" pitchFamily="2" charset="2"/>
                  <a:buChar char="§"/>
                </a:pPr>
                <a:r>
                  <a:rPr lang="en-GB" sz="1500" dirty="0">
                    <a:latin typeface="Microsoft Sans Serif" panose="020B0604020202020204" pitchFamily="34" charset="0"/>
                    <a:cs typeface="Microsoft Sans Serif" panose="020B0604020202020204" pitchFamily="34" charset="0"/>
                  </a:rPr>
                  <a:t>The intensities are reduced with </a:t>
                </a:r>
                <a14:m>
                  <m:oMath xmlns:m="http://schemas.openxmlformats.org/officeDocument/2006/math">
                    <m:sSub>
                      <m:sSubPr>
                        <m:ctrlPr>
                          <a:rPr lang="en-US" sz="1500" b="0" i="1" smtClean="0">
                            <a:latin typeface="Cambria Math" panose="02040503050406030204" pitchFamily="18" charset="0"/>
                            <a:cs typeface="Microsoft Sans Serif" panose="020B0604020202020204" pitchFamily="34" charset="0"/>
                          </a:rPr>
                        </m:ctrlPr>
                      </m:sSubPr>
                      <m:e>
                        <m:r>
                          <a:rPr lang="en-US" sz="1500" b="0" i="1" smtClean="0">
                            <a:latin typeface="Cambria Math" panose="02040503050406030204" pitchFamily="18" charset="0"/>
                            <a:cs typeface="Microsoft Sans Serif" panose="020B0604020202020204" pitchFamily="34" charset="0"/>
                          </a:rPr>
                          <m:t>𝑛</m:t>
                        </m:r>
                      </m:e>
                      <m:sub>
                        <m:r>
                          <a:rPr lang="en-US" sz="1500" b="0" i="1" smtClean="0">
                            <a:latin typeface="Cambria Math" panose="02040503050406030204" pitchFamily="18" charset="0"/>
                            <a:cs typeface="Microsoft Sans Serif" panose="020B0604020202020204" pitchFamily="34" charset="0"/>
                          </a:rPr>
                          <m:t>𝑒𝑓𝑓</m:t>
                        </m:r>
                      </m:sub>
                    </m:sSub>
                  </m:oMath>
                </a14:m>
                <a:endParaRPr lang="en-GB" sz="1500" dirty="0">
                  <a:latin typeface="Microsoft Sans Serif" panose="020B0604020202020204" pitchFamily="34" charset="0"/>
                  <a:cs typeface="Microsoft Sans Serif" panose="020B0604020202020204" pitchFamily="34" charset="0"/>
                </a:endParaRPr>
              </a:p>
              <a:p>
                <a:pPr lvl="1">
                  <a:spcAft>
                    <a:spcPts val="1200"/>
                  </a:spcAft>
                  <a:buFont typeface="Wingdings" pitchFamily="2" charset="2"/>
                  <a:buChar char="§"/>
                </a:pPr>
                <a:r>
                  <a:rPr lang="en-GB" sz="1500" dirty="0">
                    <a:latin typeface="Microsoft Sans Serif" panose="020B0604020202020204" pitchFamily="34" charset="0"/>
                    <a:cs typeface="Microsoft Sans Serif" panose="020B0604020202020204" pitchFamily="34" charset="0"/>
                  </a:rPr>
                  <a:t>The momentum fluxes and force surface densities were enhanced with </a:t>
                </a:r>
                <a14:m>
                  <m:oMath xmlns:m="http://schemas.openxmlformats.org/officeDocument/2006/math">
                    <m:sSub>
                      <m:sSubPr>
                        <m:ctrlPr>
                          <a:rPr lang="en-US" sz="1500" b="0" i="1" smtClean="0">
                            <a:latin typeface="Cambria Math" panose="02040503050406030204" pitchFamily="18" charset="0"/>
                            <a:cs typeface="Microsoft Sans Serif" panose="020B0604020202020204" pitchFamily="34" charset="0"/>
                          </a:rPr>
                        </m:ctrlPr>
                      </m:sSubPr>
                      <m:e>
                        <m:r>
                          <a:rPr lang="en-US" sz="1500" b="0" i="1" smtClean="0">
                            <a:latin typeface="Cambria Math" panose="02040503050406030204" pitchFamily="18" charset="0"/>
                            <a:cs typeface="Microsoft Sans Serif" panose="020B0604020202020204" pitchFamily="34" charset="0"/>
                          </a:rPr>
                          <m:t>𝑛</m:t>
                        </m:r>
                      </m:e>
                      <m:sub>
                        <m:r>
                          <a:rPr lang="en-US" sz="1500" b="0" i="1" smtClean="0">
                            <a:latin typeface="Cambria Math" panose="02040503050406030204" pitchFamily="18" charset="0"/>
                            <a:cs typeface="Microsoft Sans Serif" panose="020B0604020202020204" pitchFamily="34" charset="0"/>
                          </a:rPr>
                          <m:t>𝑒𝑓𝑓</m:t>
                        </m:r>
                      </m:sub>
                    </m:sSub>
                  </m:oMath>
                </a14:m>
                <a:endParaRPr lang="en-GB" sz="1500" dirty="0">
                  <a:latin typeface="Microsoft Sans Serif" panose="020B0604020202020204" pitchFamily="34" charset="0"/>
                  <a:cs typeface="Microsoft Sans Serif" panose="020B0604020202020204" pitchFamily="34" charset="0"/>
                </a:endParaRPr>
              </a:p>
              <a:p>
                <a:pPr lvl="1">
                  <a:spcAft>
                    <a:spcPts val="1200"/>
                  </a:spcAft>
                  <a:buFont typeface="Wingdings" pitchFamily="2" charset="2"/>
                  <a:buChar char="§"/>
                </a:pPr>
                <a:r>
                  <a:rPr lang="en-GB" sz="1500" dirty="0">
                    <a:latin typeface="Microsoft Sans Serif" panose="020B0604020202020204" pitchFamily="34" charset="0"/>
                    <a:cs typeface="Microsoft Sans Serif" panose="020B0604020202020204" pitchFamily="34" charset="0"/>
                  </a:rPr>
                  <a:t>Identical accumulated impulse surface densities in the crystals with transient disagreements</a:t>
                </a:r>
              </a:p>
              <a:p>
                <a:pPr>
                  <a:spcAft>
                    <a:spcPts val="1200"/>
                  </a:spcAft>
                </a:pPr>
                <a:r>
                  <a:rPr lang="en-GB" sz="2000" dirty="0">
                    <a:latin typeface="Microsoft Sans Serif" panose="020B0604020202020204" pitchFamily="34" charset="0"/>
                    <a:cs typeface="Microsoft Sans Serif" panose="020B0604020202020204" pitchFamily="34" charset="0"/>
                  </a:rPr>
                  <a:t>Our simulations correctly conserve momentum and allow the creation and testing of a variety of media through the input of a few simple variables</a:t>
                </a:r>
                <a:endParaRPr kumimoji="0" lang="en-US" sz="2000" b="0" i="0" u="none" strike="noStrike" kern="1200" cap="none" spc="0" normalizeH="0" baseline="0" noProof="0" dirty="0">
                  <a:ln>
                    <a:noFill/>
                  </a:ln>
                  <a:effectLst/>
                  <a:uLnTx/>
                  <a:uFillTx/>
                  <a:latin typeface="Aptos" panose="02110004020202020204"/>
                  <a:ea typeface="+mn-ea"/>
                  <a:cs typeface="+mn-cs"/>
                </a:endParaRPr>
              </a:p>
            </p:txBody>
          </p:sp>
        </mc:Choice>
        <mc:Fallback xmlns="">
          <p:sp>
            <p:nvSpPr>
              <p:cNvPr id="3" name="Content Placeholder 2">
                <a:extLst>
                  <a:ext uri="{FF2B5EF4-FFF2-40B4-BE49-F238E27FC236}">
                    <a16:creationId xmlns:a16="http://schemas.microsoft.com/office/drawing/2014/main" id="{D252374C-1D9F-E8E1-7232-63C0EB079A18}"/>
                  </a:ext>
                </a:extLst>
              </p:cNvPr>
              <p:cNvSpPr>
                <a:spLocks noGrp="1" noRot="1" noChangeAspect="1" noMove="1" noResize="1" noEditPoints="1" noAdjustHandles="1" noChangeArrowheads="1" noChangeShapeType="1" noTextEdit="1"/>
              </p:cNvSpPr>
              <p:nvPr>
                <p:ph idx="1"/>
              </p:nvPr>
            </p:nvSpPr>
            <p:spPr>
              <a:xfrm>
                <a:off x="838200" y="1351051"/>
                <a:ext cx="10776858" cy="4985802"/>
              </a:xfrm>
              <a:blipFill>
                <a:blip r:embed="rId3"/>
                <a:stretch>
                  <a:fillRect l="-58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34AF8657-48B5-C070-9FC2-79D7E748B4E1}"/>
              </a:ext>
            </a:extLst>
          </p:cNvPr>
          <p:cNvGrpSpPr/>
          <p:nvPr/>
        </p:nvGrpSpPr>
        <p:grpSpPr>
          <a:xfrm>
            <a:off x="-1" y="5806572"/>
            <a:ext cx="1102141" cy="1052444"/>
            <a:chOff x="-1" y="5806572"/>
            <a:chExt cx="1102141" cy="1052444"/>
          </a:xfrm>
        </p:grpSpPr>
        <p:pic>
          <p:nvPicPr>
            <p:cNvPr id="5" name="Picture 4">
              <a:extLst>
                <a:ext uri="{FF2B5EF4-FFF2-40B4-BE49-F238E27FC236}">
                  <a16:creationId xmlns:a16="http://schemas.microsoft.com/office/drawing/2014/main" id="{9600260B-F39E-DB41-E778-3CAC10360148}"/>
                </a:ext>
              </a:extLst>
            </p:cNvPr>
            <p:cNvPicPr>
              <a:picLocks noChangeAspect="1"/>
            </p:cNvPicPr>
            <p:nvPr/>
          </p:nvPicPr>
          <p:blipFill rotWithShape="1">
            <a:blip r:embed="rId4"/>
            <a:srcRect l="49545" b="51820"/>
            <a:stretch/>
          </p:blipFill>
          <p:spPr>
            <a:xfrm>
              <a:off x="-1" y="5806572"/>
              <a:ext cx="1102141" cy="1052444"/>
            </a:xfrm>
            <a:prstGeom prst="rect">
              <a:avLst/>
            </a:prstGeom>
          </p:spPr>
        </p:pic>
        <p:sp>
          <p:nvSpPr>
            <p:cNvPr id="6" name="Title 1">
              <a:extLst>
                <a:ext uri="{FF2B5EF4-FFF2-40B4-BE49-F238E27FC236}">
                  <a16:creationId xmlns:a16="http://schemas.microsoft.com/office/drawing/2014/main" id="{3F2C4953-2F36-7812-A199-8CEFF865B9EC}"/>
                </a:ext>
              </a:extLst>
            </p:cNvPr>
            <p:cNvSpPr txBox="1">
              <a:spLocks/>
            </p:cNvSpPr>
            <p:nvPr/>
          </p:nvSpPr>
          <p:spPr>
            <a:xfrm>
              <a:off x="0" y="6250871"/>
              <a:ext cx="788505" cy="589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DIN Alternate" panose="020B0500000000000000" pitchFamily="34" charset="77"/>
                </a:rPr>
                <a:t>25</a:t>
              </a:r>
            </a:p>
          </p:txBody>
        </p:sp>
      </p:grpSp>
    </p:spTree>
    <p:extLst>
      <p:ext uri="{BB962C8B-B14F-4D97-AF65-F5344CB8AC3E}">
        <p14:creationId xmlns:p14="http://schemas.microsoft.com/office/powerpoint/2010/main" val="2388342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lang="en-US" dirty="0">
                <a:latin typeface="DIN Alternate" panose="020B0500000000000000" pitchFamily="34" charset="77"/>
              </a:rPr>
              <a:t>References</a:t>
            </a:r>
          </a:p>
        </p:txBody>
      </p:sp>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200" y="1351051"/>
            <a:ext cx="10776858" cy="4985802"/>
          </a:xfrm>
        </p:spPr>
        <p:txBody>
          <a:bodyPr anchor="ctr">
            <a:normAutofit/>
          </a:bodyPr>
          <a:lstStyle/>
          <a:p>
            <a:pPr marL="717550" indent="-708025">
              <a:spcAft>
                <a:spcPts val="1200"/>
              </a:spcAft>
              <a:buNone/>
            </a:pPr>
            <a:r>
              <a:rPr kumimoji="0" lang="en-US" sz="2000" b="0" i="0" u="none" strike="noStrike" kern="1200" cap="none" spc="0" normalizeH="0" baseline="0" noProof="0" dirty="0">
                <a:ln>
                  <a:noFill/>
                </a:ln>
                <a:effectLst/>
                <a:uLnTx/>
                <a:uFillTx/>
                <a:latin typeface="Aptos" panose="02110004020202020204"/>
                <a:ea typeface="+mn-ea"/>
                <a:cs typeface="+mn-cs"/>
              </a:rPr>
              <a:t>[1]        P. W. </a:t>
            </a:r>
            <a:r>
              <a:rPr kumimoji="0" lang="en-US" sz="2000" b="0" i="0" u="none" strike="noStrike" kern="1200" cap="none" spc="0" normalizeH="0" baseline="0" noProof="0" dirty="0" err="1">
                <a:ln>
                  <a:noFill/>
                </a:ln>
                <a:effectLst/>
                <a:uLnTx/>
                <a:uFillTx/>
                <a:latin typeface="Aptos" panose="02110004020202020204"/>
                <a:ea typeface="+mn-ea"/>
                <a:cs typeface="+mn-cs"/>
              </a:rPr>
              <a:t>Milonni</a:t>
            </a:r>
            <a:r>
              <a:rPr kumimoji="0" lang="en-US" sz="2000" b="0" i="0" u="none" strike="noStrike" kern="1200" cap="none" spc="0" normalizeH="0" baseline="0" noProof="0" dirty="0">
                <a:ln>
                  <a:noFill/>
                </a:ln>
                <a:effectLst/>
                <a:uLnTx/>
                <a:uFillTx/>
                <a:latin typeface="Aptos" panose="02110004020202020204"/>
                <a:ea typeface="+mn-ea"/>
                <a:cs typeface="+mn-cs"/>
              </a:rPr>
              <a:t> and R. W. Boyd, “Momentum of light in a dielectric medium,” Adv. Opt.</a:t>
            </a:r>
            <a:br>
              <a:rPr kumimoji="0" lang="en-US" sz="2000" b="0" i="0" u="none" strike="noStrike" kern="1200" cap="none" spc="0" normalizeH="0" baseline="0" noProof="0" dirty="0">
                <a:ln>
                  <a:noFill/>
                </a:ln>
                <a:effectLst/>
                <a:uLnTx/>
                <a:uFillTx/>
                <a:latin typeface="Aptos" panose="02110004020202020204"/>
                <a:ea typeface="+mn-ea"/>
                <a:cs typeface="+mn-cs"/>
              </a:rPr>
            </a:br>
            <a:r>
              <a:rPr kumimoji="0" lang="en-US" sz="2000" b="0" i="0" u="none" strike="noStrike" kern="1200" cap="none" spc="0" normalizeH="0" baseline="0" noProof="0" dirty="0">
                <a:ln>
                  <a:noFill/>
                </a:ln>
                <a:effectLst/>
                <a:uLnTx/>
                <a:uFillTx/>
                <a:latin typeface="Aptos" panose="02110004020202020204"/>
                <a:ea typeface="+mn-ea"/>
                <a:cs typeface="+mn-cs"/>
              </a:rPr>
              <a:t>Photon., vol. 2, pp. 519–553, Dec 2010.</a:t>
            </a:r>
            <a:br>
              <a:rPr kumimoji="0" lang="en-US" sz="2000" b="0" i="0" u="none" strike="noStrike" kern="1200" cap="none" spc="0" normalizeH="0" baseline="0" noProof="0" dirty="0">
                <a:ln>
                  <a:noFill/>
                </a:ln>
                <a:effectLst/>
                <a:uLnTx/>
                <a:uFillTx/>
                <a:latin typeface="Aptos" panose="02110004020202020204"/>
                <a:ea typeface="+mn-ea"/>
                <a:cs typeface="+mn-cs"/>
              </a:rPr>
            </a:br>
            <a:endParaRPr kumimoji="0" lang="en-US" sz="2000" b="0" i="0" u="none" strike="noStrike" kern="1200" cap="none" spc="0" normalizeH="0" baseline="0" noProof="0" dirty="0">
              <a:ln>
                <a:noFill/>
              </a:ln>
              <a:effectLst/>
              <a:uLnTx/>
              <a:uFillTx/>
              <a:latin typeface="Aptos" panose="02110004020202020204"/>
              <a:ea typeface="+mn-ea"/>
              <a:cs typeface="+mn-cs"/>
            </a:endParaRPr>
          </a:p>
          <a:p>
            <a:pPr marL="717550" indent="-708025">
              <a:spcAft>
                <a:spcPts val="1200"/>
              </a:spcAft>
              <a:buNone/>
            </a:pPr>
            <a:r>
              <a:rPr kumimoji="0" lang="en-US" sz="2000" b="0" i="0" u="none" strike="noStrike" kern="1200" cap="none" spc="0" normalizeH="0" baseline="0" noProof="0" dirty="0">
                <a:ln>
                  <a:noFill/>
                </a:ln>
                <a:effectLst/>
                <a:uLnTx/>
                <a:uFillTx/>
                <a:latin typeface="Aptos" panose="02110004020202020204"/>
                <a:ea typeface="+mn-ea"/>
                <a:cs typeface="+mn-cs"/>
              </a:rPr>
              <a:t>[2] 	E. </a:t>
            </a:r>
            <a:r>
              <a:rPr kumimoji="0" lang="en-US" sz="2000" b="0" i="0" u="none" strike="noStrike" kern="1200" cap="none" spc="0" normalizeH="0" baseline="0" noProof="0" dirty="0" err="1">
                <a:ln>
                  <a:noFill/>
                </a:ln>
                <a:effectLst/>
                <a:uLnTx/>
                <a:uFillTx/>
                <a:latin typeface="Aptos" panose="02110004020202020204"/>
                <a:ea typeface="+mn-ea"/>
                <a:cs typeface="+mn-cs"/>
              </a:rPr>
              <a:t>Yablonovitch</a:t>
            </a:r>
            <a:r>
              <a:rPr kumimoji="0" lang="en-US" sz="2000" b="0" i="0" u="none" strike="noStrike" kern="1200" cap="none" spc="0" normalizeH="0" baseline="0" noProof="0" dirty="0">
                <a:ln>
                  <a:noFill/>
                </a:ln>
                <a:effectLst/>
                <a:uLnTx/>
                <a:uFillTx/>
                <a:latin typeface="Aptos" panose="02110004020202020204"/>
                <a:ea typeface="+mn-ea"/>
                <a:cs typeface="+mn-cs"/>
              </a:rPr>
              <a:t>, “Photonic crystals,” Journal of Modern Optics, vol. 41, pp. 173–194, Dec</a:t>
            </a:r>
            <a:br>
              <a:rPr kumimoji="0" lang="en-US" sz="2000" b="0" i="0" u="none" strike="noStrike" kern="1200" cap="none" spc="0" normalizeH="0" baseline="0" noProof="0" dirty="0">
                <a:ln>
                  <a:noFill/>
                </a:ln>
                <a:effectLst/>
                <a:uLnTx/>
                <a:uFillTx/>
                <a:latin typeface="Aptos" panose="02110004020202020204"/>
                <a:ea typeface="+mn-ea"/>
                <a:cs typeface="+mn-cs"/>
              </a:rPr>
            </a:br>
            <a:r>
              <a:rPr kumimoji="0" lang="en-US" sz="2000" b="0" i="0" u="none" strike="noStrike" kern="1200" cap="none" spc="0" normalizeH="0" baseline="0" noProof="0" dirty="0">
                <a:ln>
                  <a:noFill/>
                </a:ln>
                <a:effectLst/>
                <a:uLnTx/>
                <a:uFillTx/>
                <a:latin typeface="Aptos" panose="02110004020202020204"/>
                <a:ea typeface="+mn-ea"/>
                <a:cs typeface="+mn-cs"/>
              </a:rPr>
              <a:t>1994.</a:t>
            </a:r>
            <a:br>
              <a:rPr kumimoji="0" lang="en-US" sz="2000" b="0" i="0" u="none" strike="noStrike" kern="1200" cap="none" spc="0" normalizeH="0" baseline="0" noProof="0" dirty="0">
                <a:ln>
                  <a:noFill/>
                </a:ln>
                <a:effectLst/>
                <a:uLnTx/>
                <a:uFillTx/>
                <a:latin typeface="Aptos" panose="02110004020202020204"/>
                <a:ea typeface="+mn-ea"/>
                <a:cs typeface="+mn-cs"/>
              </a:rPr>
            </a:br>
            <a:endParaRPr kumimoji="0" lang="en-US" sz="2000" b="0" i="0" u="none" strike="noStrike" kern="1200" cap="none" spc="0" normalizeH="0" baseline="0" noProof="0" dirty="0">
              <a:ln>
                <a:noFill/>
              </a:ln>
              <a:effectLst/>
              <a:uLnTx/>
              <a:uFillTx/>
              <a:latin typeface="Aptos" panose="02110004020202020204"/>
              <a:ea typeface="+mn-ea"/>
              <a:cs typeface="+mn-cs"/>
            </a:endParaRPr>
          </a:p>
          <a:p>
            <a:pPr marL="717550" indent="-708025">
              <a:spcAft>
                <a:spcPts val="1200"/>
              </a:spcAft>
              <a:buNone/>
            </a:pPr>
            <a:r>
              <a:rPr kumimoji="0" lang="en-US" sz="2000" b="0" i="0" u="none" strike="noStrike" kern="1200" cap="none" spc="0" normalizeH="0" baseline="0" noProof="0" dirty="0">
                <a:ln>
                  <a:noFill/>
                </a:ln>
                <a:effectLst/>
                <a:uLnTx/>
                <a:uFillTx/>
                <a:latin typeface="Aptos" panose="02110004020202020204"/>
                <a:ea typeface="+mn-ea"/>
                <a:cs typeface="+mn-cs"/>
              </a:rPr>
              <a:t>[</a:t>
            </a:r>
            <a:r>
              <a:rPr lang="en-US" sz="2000" dirty="0">
                <a:latin typeface="Aptos" panose="02110004020202020204"/>
              </a:rPr>
              <a:t>3] 	</a:t>
            </a:r>
            <a:r>
              <a:rPr lang="en-GB" sz="2000" dirty="0">
                <a:latin typeface="Aptos" panose="02110004020202020204"/>
              </a:rPr>
              <a:t>T. G. Mackay and A. </a:t>
            </a:r>
            <a:r>
              <a:rPr lang="en-GB" sz="2000" dirty="0" err="1">
                <a:latin typeface="Aptos" panose="02110004020202020204"/>
              </a:rPr>
              <a:t>Lakhtakia</a:t>
            </a:r>
            <a:r>
              <a:rPr lang="en-GB" sz="2000" dirty="0">
                <a:latin typeface="Aptos" panose="02110004020202020204"/>
              </a:rPr>
              <a:t>, The Transfer-Matrix Method in Electromagnetics and</a:t>
            </a:r>
            <a:br>
              <a:rPr lang="en-GB" sz="2000" dirty="0">
                <a:latin typeface="Aptos" panose="02110004020202020204"/>
              </a:rPr>
            </a:br>
            <a:r>
              <a:rPr lang="en-GB" sz="2000" dirty="0">
                <a:latin typeface="Aptos" panose="02110004020202020204"/>
              </a:rPr>
              <a:t>Optics. </a:t>
            </a:r>
            <a:r>
              <a:rPr lang="en-GB" sz="2000" dirty="0" err="1">
                <a:latin typeface="Aptos" panose="02110004020202020204"/>
              </a:rPr>
              <a:t>MorganClaypool</a:t>
            </a:r>
            <a:r>
              <a:rPr lang="en-GB" sz="2000" dirty="0">
                <a:latin typeface="Aptos" panose="02110004020202020204"/>
              </a:rPr>
              <a:t>, 2020. </a:t>
            </a:r>
            <a:endParaRPr lang="en-US" sz="2000" dirty="0">
              <a:latin typeface="Aptos" panose="02110004020202020204"/>
            </a:endParaRPr>
          </a:p>
        </p:txBody>
      </p:sp>
    </p:spTree>
    <p:extLst>
      <p:ext uri="{BB962C8B-B14F-4D97-AF65-F5344CB8AC3E}">
        <p14:creationId xmlns:p14="http://schemas.microsoft.com/office/powerpoint/2010/main" val="12486766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99D3-66BB-C834-4B73-D4D589E16CE5}"/>
              </a:ext>
            </a:extLst>
          </p:cNvPr>
          <p:cNvSpPr>
            <a:spLocks noGrp="1"/>
          </p:cNvSpPr>
          <p:nvPr>
            <p:ph type="title"/>
          </p:nvPr>
        </p:nvSpPr>
        <p:spPr>
          <a:xfrm>
            <a:off x="838200" y="25488"/>
            <a:ext cx="10515600" cy="1325563"/>
          </a:xfrm>
        </p:spPr>
        <p:txBody>
          <a:bodyPr/>
          <a:lstStyle/>
          <a:p>
            <a:r>
              <a:rPr lang="en-US" dirty="0">
                <a:latin typeface="DIN Alternate" panose="020B0500000000000000" pitchFamily="34" charset="77"/>
              </a:rPr>
              <a:t>Image references</a:t>
            </a:r>
          </a:p>
        </p:txBody>
      </p:sp>
      <p:sp>
        <p:nvSpPr>
          <p:cNvPr id="3" name="Content Placeholder 2">
            <a:extLst>
              <a:ext uri="{FF2B5EF4-FFF2-40B4-BE49-F238E27FC236}">
                <a16:creationId xmlns:a16="http://schemas.microsoft.com/office/drawing/2014/main" id="{D252374C-1D9F-E8E1-7232-63C0EB079A18}"/>
              </a:ext>
            </a:extLst>
          </p:cNvPr>
          <p:cNvSpPr>
            <a:spLocks noGrp="1"/>
          </p:cNvSpPr>
          <p:nvPr>
            <p:ph idx="1"/>
          </p:nvPr>
        </p:nvSpPr>
        <p:spPr>
          <a:xfrm>
            <a:off x="838200" y="1351051"/>
            <a:ext cx="10776858" cy="4985802"/>
          </a:xfrm>
        </p:spPr>
        <p:txBody>
          <a:bodyPr anchor="ctr">
            <a:normAutofit/>
          </a:bodyPr>
          <a:lstStyle/>
          <a:p>
            <a:pPr marL="688975" indent="-457200">
              <a:spcAft>
                <a:spcPts val="1200"/>
              </a:spcAft>
              <a:buFont typeface="+mj-lt"/>
              <a:buAutoNum type="arabicPeriod"/>
            </a:pPr>
            <a:r>
              <a:rPr kumimoji="0" lang="en-US" sz="2000" b="0" i="0" u="none" strike="noStrike" kern="1200" cap="none" spc="0" normalizeH="0" baseline="0" noProof="0" dirty="0">
                <a:ln>
                  <a:noFill/>
                </a:ln>
                <a:effectLst/>
                <a:uLnTx/>
                <a:uFillTx/>
                <a:latin typeface="Aptos" panose="02110004020202020204"/>
                <a:ea typeface="+mn-ea"/>
                <a:cs typeface="+mn-cs"/>
              </a:rPr>
              <a:t>Bert Willemsen. (2020). Solar Sail. </a:t>
            </a:r>
            <a:r>
              <a:rPr kumimoji="0" lang="en-US" sz="2000" b="0" i="0" u="none" strike="noStrike" kern="1200" cap="none" spc="0" normalizeH="0" baseline="0" noProof="0" dirty="0">
                <a:ln>
                  <a:noFill/>
                </a:ln>
                <a:effectLst/>
                <a:uLnTx/>
                <a:uFillTx/>
                <a:latin typeface="Aptos" panose="02110004020202020204"/>
                <a:ea typeface="+mn-ea"/>
                <a:cs typeface="+mn-cs"/>
                <a:hlinkClick r:id="rId3"/>
              </a:rPr>
              <a:t>immeasurably.art</a:t>
            </a:r>
            <a:r>
              <a:rPr lang="en-US" sz="2000" dirty="0">
                <a:latin typeface="Aptos" panose="02110004020202020204"/>
              </a:rPr>
              <a:t>. </a:t>
            </a:r>
            <a:r>
              <a:rPr kumimoji="0" lang="en-US" sz="2000" b="0" i="0" u="none" strike="noStrike" kern="1200" cap="none" spc="0" normalizeH="0" baseline="0" noProof="0" dirty="0">
                <a:ln>
                  <a:noFill/>
                </a:ln>
                <a:effectLst/>
                <a:uLnTx/>
                <a:uFillTx/>
                <a:latin typeface="Aptos" panose="02110004020202020204"/>
                <a:ea typeface="+mn-ea"/>
                <a:cs typeface="+mn-cs"/>
              </a:rPr>
              <a:t>Accessed 17/04/2024 at </a:t>
            </a:r>
            <a:r>
              <a:rPr kumimoji="0" lang="en-US" sz="2000" b="0" i="0" u="none" strike="noStrike" kern="1200" cap="none" spc="0" normalizeH="0" baseline="0" noProof="0" dirty="0">
                <a:ln>
                  <a:noFill/>
                </a:ln>
                <a:effectLst/>
                <a:uLnTx/>
                <a:uFillTx/>
                <a:latin typeface="Aptos" panose="02110004020202020204"/>
                <a:ea typeface="+mn-ea"/>
                <a:cs typeface="+mn-cs"/>
                <a:hlinkClick r:id="rId4"/>
              </a:rPr>
              <a:t>https://immeasurably.art/projects/k4qQNz</a:t>
            </a:r>
            <a:r>
              <a:rPr kumimoji="0" lang="en-US" sz="2000" b="0" i="0" u="none" strike="noStrike" kern="1200" cap="none" spc="0" normalizeH="0" baseline="0" noProof="0" dirty="0">
                <a:ln>
                  <a:noFill/>
                </a:ln>
                <a:effectLst/>
                <a:uLnTx/>
                <a:uFillTx/>
                <a:latin typeface="Aptos" panose="02110004020202020204"/>
                <a:ea typeface="+mn-ea"/>
                <a:cs typeface="+mn-cs"/>
              </a:rPr>
              <a:t> </a:t>
            </a:r>
          </a:p>
          <a:p>
            <a:pPr marL="688975" indent="-457200">
              <a:spcAft>
                <a:spcPts val="1200"/>
              </a:spcAft>
              <a:buFont typeface="+mj-lt"/>
              <a:buAutoNum type="arabicPeriod"/>
            </a:pPr>
            <a:r>
              <a:rPr kumimoji="0" lang="en-US" sz="2000" b="0" i="0" u="none" strike="noStrike" kern="1200" cap="none" spc="0" normalizeH="0" baseline="0" noProof="0" dirty="0">
                <a:ln>
                  <a:noFill/>
                </a:ln>
                <a:effectLst/>
                <a:uLnTx/>
                <a:uFillTx/>
                <a:latin typeface="Aptos" panose="02110004020202020204"/>
                <a:ea typeface="+mn-ea"/>
                <a:cs typeface="+mn-cs"/>
              </a:rPr>
              <a:t>S. Robinson and R. </a:t>
            </a:r>
            <a:r>
              <a:rPr kumimoji="0" lang="en-US" sz="2000" b="0" i="0" u="none" strike="noStrike" kern="1200" cap="none" spc="0" normalizeH="0" baseline="0" noProof="0" dirty="0" err="1">
                <a:ln>
                  <a:noFill/>
                </a:ln>
                <a:effectLst/>
                <a:uLnTx/>
                <a:uFillTx/>
                <a:latin typeface="Aptos" panose="02110004020202020204"/>
                <a:ea typeface="+mn-ea"/>
                <a:cs typeface="+mn-cs"/>
              </a:rPr>
              <a:t>Nakkeeran</a:t>
            </a:r>
            <a:r>
              <a:rPr kumimoji="0" lang="en-US" sz="2000" b="0" i="0" u="none" strike="noStrike" kern="1200" cap="none" spc="0" normalizeH="0" baseline="0" noProof="0" dirty="0">
                <a:ln>
                  <a:noFill/>
                </a:ln>
                <a:effectLst/>
                <a:uLnTx/>
                <a:uFillTx/>
                <a:latin typeface="Aptos" panose="02110004020202020204"/>
                <a:ea typeface="+mn-ea"/>
                <a:cs typeface="+mn-cs"/>
              </a:rPr>
              <a:t>, “Photonic crystal ring resonator based optical filters,” in</a:t>
            </a:r>
            <a:br>
              <a:rPr kumimoji="0" lang="en-US" sz="2000" b="0" i="0" u="none" strike="noStrike" kern="1200" cap="none" spc="0" normalizeH="0" baseline="0" noProof="0" dirty="0">
                <a:ln>
                  <a:noFill/>
                </a:ln>
                <a:effectLst/>
                <a:uLnTx/>
                <a:uFillTx/>
                <a:latin typeface="Aptos" panose="02110004020202020204"/>
                <a:ea typeface="+mn-ea"/>
                <a:cs typeface="+mn-cs"/>
              </a:rPr>
            </a:br>
            <a:r>
              <a:rPr kumimoji="0" lang="en-US" sz="2000" b="0" i="0" u="none" strike="noStrike" kern="1200" cap="none" spc="0" normalizeH="0" baseline="0" noProof="0" dirty="0">
                <a:ln>
                  <a:noFill/>
                </a:ln>
                <a:effectLst/>
                <a:uLnTx/>
                <a:uFillTx/>
                <a:latin typeface="Aptos" panose="02110004020202020204"/>
                <a:ea typeface="+mn-ea"/>
                <a:cs typeface="+mn-cs"/>
              </a:rPr>
              <a:t>Advances in Photonic Crystals (V. M. </a:t>
            </a:r>
            <a:r>
              <a:rPr kumimoji="0" lang="en-US" sz="2000" b="0" i="0" u="none" strike="noStrike" kern="1200" cap="none" spc="0" normalizeH="0" baseline="0" noProof="0" dirty="0" err="1">
                <a:ln>
                  <a:noFill/>
                </a:ln>
                <a:effectLst/>
                <a:uLnTx/>
                <a:uFillTx/>
                <a:latin typeface="Aptos" panose="02110004020202020204"/>
                <a:ea typeface="+mn-ea"/>
                <a:cs typeface="+mn-cs"/>
              </a:rPr>
              <a:t>Passaro</a:t>
            </a:r>
            <a:r>
              <a:rPr kumimoji="0" lang="en-US" sz="2000" b="0" i="0" u="none" strike="noStrike" kern="1200" cap="none" spc="0" normalizeH="0" baseline="0" noProof="0" dirty="0">
                <a:ln>
                  <a:noFill/>
                </a:ln>
                <a:effectLst/>
                <a:uLnTx/>
                <a:uFillTx/>
                <a:latin typeface="Aptos" panose="02110004020202020204"/>
                <a:ea typeface="+mn-ea"/>
                <a:cs typeface="+mn-cs"/>
              </a:rPr>
              <a:t>, ed.), </a:t>
            </a:r>
            <a:r>
              <a:rPr kumimoji="0" lang="en-US" sz="2000" b="0" i="0" u="none" strike="noStrike" kern="1200" cap="none" spc="0" normalizeH="0" baseline="0" noProof="0" dirty="0" err="1">
                <a:ln>
                  <a:noFill/>
                </a:ln>
                <a:effectLst/>
                <a:uLnTx/>
                <a:uFillTx/>
                <a:latin typeface="Aptos" panose="02110004020202020204"/>
                <a:ea typeface="+mn-ea"/>
                <a:cs typeface="+mn-cs"/>
              </a:rPr>
              <a:t>ch.</a:t>
            </a:r>
            <a:r>
              <a:rPr kumimoji="0" lang="en-US" sz="2000" b="0" i="0" u="none" strike="noStrike" kern="1200" cap="none" spc="0" normalizeH="0" baseline="0" noProof="0" dirty="0">
                <a:ln>
                  <a:noFill/>
                </a:ln>
                <a:effectLst/>
                <a:uLnTx/>
                <a:uFillTx/>
                <a:latin typeface="Aptos" panose="02110004020202020204"/>
                <a:ea typeface="+mn-ea"/>
                <a:cs typeface="+mn-cs"/>
              </a:rPr>
              <a:t> 1, Rijeka: </a:t>
            </a:r>
            <a:r>
              <a:rPr kumimoji="0" lang="en-US" sz="2000" b="0" i="0" u="none" strike="noStrike" kern="1200" cap="none" spc="0" normalizeH="0" baseline="0" noProof="0" dirty="0" err="1">
                <a:ln>
                  <a:noFill/>
                </a:ln>
                <a:effectLst/>
                <a:uLnTx/>
                <a:uFillTx/>
                <a:latin typeface="Aptos" panose="02110004020202020204"/>
                <a:ea typeface="+mn-ea"/>
                <a:cs typeface="+mn-cs"/>
              </a:rPr>
              <a:t>IntechOpen</a:t>
            </a:r>
            <a:r>
              <a:rPr kumimoji="0" lang="en-US" sz="2000" b="0" i="0" u="none" strike="noStrike" kern="1200" cap="none" spc="0" normalizeH="0" baseline="0" noProof="0" dirty="0">
                <a:ln>
                  <a:noFill/>
                </a:ln>
                <a:effectLst/>
                <a:uLnTx/>
                <a:uFillTx/>
                <a:latin typeface="Aptos" panose="02110004020202020204"/>
                <a:ea typeface="+mn-ea"/>
                <a:cs typeface="+mn-cs"/>
              </a:rPr>
              <a:t>, 2013. </a:t>
            </a:r>
          </a:p>
          <a:p>
            <a:pPr marL="688975" indent="-457200">
              <a:spcAft>
                <a:spcPts val="1200"/>
              </a:spcAft>
              <a:buFont typeface="+mj-lt"/>
              <a:buAutoNum type="arabicPeriod"/>
            </a:pPr>
            <a:r>
              <a:rPr kumimoji="0" lang="en-US" sz="2000" b="0" i="0" u="none" strike="noStrike" kern="1200" cap="none" spc="0" normalizeH="0" baseline="0" noProof="0" dirty="0" err="1">
                <a:ln>
                  <a:noFill/>
                </a:ln>
                <a:effectLst/>
                <a:uLnTx/>
                <a:uFillTx/>
                <a:latin typeface="Aptos" panose="02110004020202020204"/>
                <a:ea typeface="+mn-ea"/>
                <a:cs typeface="+mn-cs"/>
              </a:rPr>
              <a:t>FlexCompute</a:t>
            </a:r>
            <a:r>
              <a:rPr kumimoji="0" lang="en-US" sz="2000" b="0" i="0" u="none" strike="noStrike" kern="1200" cap="none" spc="0" normalizeH="0" baseline="0" noProof="0" dirty="0">
                <a:ln>
                  <a:noFill/>
                </a:ln>
                <a:effectLst/>
                <a:uLnTx/>
                <a:uFillTx/>
                <a:latin typeface="Aptos" panose="02110004020202020204"/>
                <a:ea typeface="+mn-ea"/>
                <a:cs typeface="+mn-cs"/>
              </a:rPr>
              <a:t>. (2024). Distributed Bragg reflector and cavity. </a:t>
            </a:r>
            <a:r>
              <a:rPr kumimoji="0" lang="en-US" sz="2000" b="0" i="0" u="none" strike="noStrike" kern="1200" cap="none" spc="0" normalizeH="0" baseline="0" noProof="0" dirty="0" err="1">
                <a:ln>
                  <a:noFill/>
                </a:ln>
                <a:effectLst/>
                <a:uLnTx/>
                <a:uFillTx/>
                <a:latin typeface="Aptos" panose="02110004020202020204"/>
                <a:ea typeface="+mn-ea"/>
                <a:cs typeface="+mn-cs"/>
              </a:rPr>
              <a:t>Flexcompute</a:t>
            </a:r>
            <a:r>
              <a:rPr kumimoji="0" lang="en-US" sz="2000" b="0" i="0" u="none" strike="noStrike" kern="1200" cap="none" spc="0" normalizeH="0" baseline="0" noProof="0" dirty="0">
                <a:ln>
                  <a:noFill/>
                </a:ln>
                <a:effectLst/>
                <a:uLnTx/>
                <a:uFillTx/>
                <a:latin typeface="Aptos" panose="02110004020202020204"/>
                <a:ea typeface="+mn-ea"/>
                <a:cs typeface="+mn-cs"/>
              </a:rPr>
              <a:t>, Inc. Accessed 17/04/2024 at </a:t>
            </a:r>
            <a:r>
              <a:rPr kumimoji="0" lang="en-US" sz="2000" b="0" i="0" u="none" strike="noStrike" kern="1200" cap="none" spc="0" normalizeH="0" baseline="0" noProof="0" dirty="0">
                <a:ln>
                  <a:noFill/>
                </a:ln>
                <a:effectLst/>
                <a:uLnTx/>
                <a:uFillTx/>
                <a:latin typeface="Aptos" panose="02110004020202020204"/>
                <a:ea typeface="+mn-ea"/>
                <a:cs typeface="+mn-cs"/>
                <a:hlinkClick r:id="rId5"/>
              </a:rPr>
              <a:t>https://www.flexcompute.com/tidy3d/examples/notebooks/DistributedBraggReflectorCavity/</a:t>
            </a:r>
            <a:r>
              <a:rPr kumimoji="0" lang="en-US" sz="2000" b="0" i="0" u="none" strike="noStrike" kern="1200" cap="none" spc="0" normalizeH="0" baseline="0" noProof="0" dirty="0">
                <a:ln>
                  <a:noFill/>
                </a:ln>
                <a:effectLst/>
                <a:uLnTx/>
                <a:uFillTx/>
                <a:latin typeface="Aptos" panose="02110004020202020204"/>
                <a:ea typeface="+mn-ea"/>
                <a:cs typeface="+mn-cs"/>
              </a:rPr>
              <a:t> </a:t>
            </a:r>
          </a:p>
        </p:txBody>
      </p:sp>
    </p:spTree>
    <p:extLst>
      <p:ext uri="{BB962C8B-B14F-4D97-AF65-F5344CB8AC3E}">
        <p14:creationId xmlns:p14="http://schemas.microsoft.com/office/powerpoint/2010/main" val="24157332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5669</TotalTime>
  <Words>3851</Words>
  <Application>Microsoft Macintosh PowerPoint</Application>
  <PresentationFormat>Widescreen</PresentationFormat>
  <Paragraphs>292</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Aptos</vt:lpstr>
      <vt:lpstr>Aptos Display</vt:lpstr>
      <vt:lpstr>Archivo</vt:lpstr>
      <vt:lpstr>Arial</vt:lpstr>
      <vt:lpstr>Cambria Math</vt:lpstr>
      <vt:lpstr>DIN Alternate</vt:lpstr>
      <vt:lpstr>Microsoft Sans Serif</vt:lpstr>
      <vt:lpstr>Quicksand</vt:lpstr>
      <vt:lpstr>Wingdings</vt:lpstr>
      <vt:lpstr>Office Theme</vt:lpstr>
      <vt:lpstr>Visualising the Abraham-Minkowski Light Field Momentum</vt:lpstr>
      <vt:lpstr>Introduction</vt:lpstr>
      <vt:lpstr>Project Outline</vt:lpstr>
      <vt:lpstr>Background</vt:lpstr>
      <vt:lpstr>Photonic Crystals</vt:lpstr>
      <vt:lpstr>The Transfer Matrix Method (TMM) [3]</vt:lpstr>
      <vt:lpstr>The Simulation</vt:lpstr>
      <vt:lpstr>Wavenumber Dependence</vt:lpstr>
      <vt:lpstr>Optical Elements</vt:lpstr>
      <vt:lpstr>The Distributed Bragg Reflector (DBR)</vt:lpstr>
      <vt:lpstr>Pulse Propagation</vt:lpstr>
      <vt:lpstr>The Systems</vt:lpstr>
      <vt:lpstr>The Systems</vt:lpstr>
      <vt:lpstr>Measurements</vt:lpstr>
      <vt:lpstr>Intensities</vt:lpstr>
      <vt:lpstr>The Maxwell Stress Tensor (MST)</vt:lpstr>
      <vt:lpstr>The Maxwell Stress Tensor (MST)</vt:lpstr>
      <vt:lpstr>The Maxwell Stress Tensor (MST)</vt:lpstr>
      <vt:lpstr>The Lorentz (Bulk) Force</vt:lpstr>
      <vt:lpstr>The Lorentz (Bulk) Force</vt:lpstr>
      <vt:lpstr>Impulse</vt:lpstr>
      <vt:lpstr>Impulse</vt:lpstr>
      <vt:lpstr>Impulse</vt:lpstr>
      <vt:lpstr>Impulse</vt:lpstr>
      <vt:lpstr>Conclusion</vt:lpstr>
      <vt:lpstr>References</vt:lpstr>
      <vt:lpstr>Image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Visualising the Abraham-Minkowski Light Field Momentum</dc:title>
  <dc:creator>Mateo Guzmán Subiría</dc:creator>
  <cp:lastModifiedBy>Mateo Guzmán Subiría</cp:lastModifiedBy>
  <cp:revision>35</cp:revision>
  <dcterms:created xsi:type="dcterms:W3CDTF">2024-04-16T17:31:57Z</dcterms:created>
  <dcterms:modified xsi:type="dcterms:W3CDTF">2024-04-22T09:36:25Z</dcterms:modified>
</cp:coreProperties>
</file>